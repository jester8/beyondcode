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c28669680dc4562" /><Relationship Type="http://schemas.openxmlformats.org/officeDocument/2006/relationships/extended-properties" Target="/docProps/app.xml" Id="R7e31c53020b6444a" /><Relationship Type="http://schemas.openxmlformats.org/officeDocument/2006/relationships/officeDocument" Target="/ppt/presentation.xml" Id="Rb9f9466419584516" /></Relationships>
</file>

<file path=ppt/presentation.xml><?xml version="1.0" encoding="utf-8"?>
<p:presentation xmlns:p="http://schemas.openxmlformats.org/presentationml/2006/main">
  <p:sldMasterIdLst>
    <p:sldMasterId xmlns:r="http://schemas.openxmlformats.org/officeDocument/2006/relationships" id="2147483648" r:id="Ref7d3bba8caa4dbc"/>
  </p:sldMasterIdLst>
  <p:notesMasterIdLst>
    <p:notesMasterId xmlns:r="http://schemas.openxmlformats.org/officeDocument/2006/relationships" r:id="R0b2a0a10561d4a8c"/>
  </p:notesMasterIdLst>
  <p:sldIdLst>
    <p:sldId xmlns:r="http://schemas.openxmlformats.org/officeDocument/2006/relationships" id="256" r:id="R1f764a15853f41ab"/>
    <p:sldId xmlns:r="http://schemas.openxmlformats.org/officeDocument/2006/relationships" id="257" r:id="Rb9382aecc0504d57"/>
    <p:sldId xmlns:r="http://schemas.openxmlformats.org/officeDocument/2006/relationships" id="258" r:id="R32f5bbb0fc864dee"/>
    <p:sldId xmlns:r="http://schemas.openxmlformats.org/officeDocument/2006/relationships" id="259" r:id="R395c0b35a0da4f91"/>
    <p:sldId xmlns:r="http://schemas.openxmlformats.org/officeDocument/2006/relationships" id="260" r:id="R7af0277063b041d9"/>
    <p:sldId xmlns:r="http://schemas.openxmlformats.org/officeDocument/2006/relationships" id="261" r:id="Rc26c91fd84f841f1"/>
    <p:sldId xmlns:r="http://schemas.openxmlformats.org/officeDocument/2006/relationships" id="262" r:id="R04fd5494d1584f87"/>
    <p:sldId xmlns:r="http://schemas.openxmlformats.org/officeDocument/2006/relationships" id="263" r:id="R6a5886d0e5a349bf"/>
    <p:sldId xmlns:r="http://schemas.openxmlformats.org/officeDocument/2006/relationships" id="264" r:id="R2e115344d24846e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e90b9702fd642de" /><Relationship Type="http://schemas.openxmlformats.org/officeDocument/2006/relationships/slideMaster" Target="/ppt/slideMasters/slideMaster1.xml" Id="Ref7d3bba8caa4dbc" /><Relationship Type="http://schemas.openxmlformats.org/officeDocument/2006/relationships/notesMaster" Target="/ppt/notesMasters/notesMaster1.xml" Id="R0b2a0a10561d4a8c" /><Relationship Type="http://schemas.openxmlformats.org/officeDocument/2006/relationships/presProps" Target="/ppt/presProps.xml" Id="Ra7cbb3bf9c3e40db" /><Relationship Type="http://schemas.openxmlformats.org/officeDocument/2006/relationships/tableStyles" Target="/ppt/tableStyles.xml" Id="Rba1aac0b86c1440f" /><Relationship Type="http://schemas.openxmlformats.org/officeDocument/2006/relationships/slide" Target="/ppt/slides/slide1.xml" Id="R1f764a15853f41ab" /><Relationship Type="http://schemas.openxmlformats.org/officeDocument/2006/relationships/slide" Target="/ppt/slides/slide2.xml" Id="Rb9382aecc0504d57" /><Relationship Type="http://schemas.openxmlformats.org/officeDocument/2006/relationships/slide" Target="/ppt/slides/slide3.xml" Id="R32f5bbb0fc864dee" /><Relationship Type="http://schemas.openxmlformats.org/officeDocument/2006/relationships/slide" Target="/ppt/slides/slide4.xml" Id="R395c0b35a0da4f91" /><Relationship Type="http://schemas.openxmlformats.org/officeDocument/2006/relationships/slide" Target="/ppt/slides/slide5.xml" Id="R7af0277063b041d9" /><Relationship Type="http://schemas.openxmlformats.org/officeDocument/2006/relationships/slide" Target="/ppt/slides/slide6.xml" Id="Rc26c91fd84f841f1" /><Relationship Type="http://schemas.openxmlformats.org/officeDocument/2006/relationships/slide" Target="/ppt/slides/slide7.xml" Id="R04fd5494d1584f87" /><Relationship Type="http://schemas.openxmlformats.org/officeDocument/2006/relationships/slide" Target="/ppt/slides/slide8.xml" Id="R6a5886d0e5a349bf" /><Relationship Type="http://schemas.openxmlformats.org/officeDocument/2006/relationships/slide" Target="/ppt/slides/slide9.xml" Id="R2e115344d24846e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f4b231da8214c8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0d5c3bc8b4643e2" /><Relationship Type="http://schemas.openxmlformats.org/officeDocument/2006/relationships/notesMaster" Target="/ppt/notesMasters/notesMaster1.xml" Id="R7a7d8bf158f74efc" /></Relationships>
</file>

<file path=ppt/notesSlides/_rels/notesSlide2.xml.rels>&#65279;<?xml version="1.0" encoding="utf-8"?><Relationships xmlns="http://schemas.openxmlformats.org/package/2006/relationships"><Relationship Type="http://schemas.openxmlformats.org/officeDocument/2006/relationships/slide" Target="/ppt/slides/slide2.xml" Id="R8d117388532d4300" /><Relationship Type="http://schemas.openxmlformats.org/officeDocument/2006/relationships/notesMaster" Target="/ppt/notesMasters/notesMaster1.xml" Id="R1338bd8fc5654518" /></Relationships>
</file>

<file path=ppt/notesSlides/_rels/notesSlide3.xml.rels>&#65279;<?xml version="1.0" encoding="utf-8"?><Relationships xmlns="http://schemas.openxmlformats.org/package/2006/relationships"><Relationship Type="http://schemas.openxmlformats.org/officeDocument/2006/relationships/slide" Target="/ppt/slides/slide3.xml" Id="R84399f4e5066402f" /><Relationship Type="http://schemas.openxmlformats.org/officeDocument/2006/relationships/notesMaster" Target="/ppt/notesMasters/notesMaster1.xml" Id="R39df1696501e4cdb" /></Relationships>
</file>

<file path=ppt/notesSlides/_rels/notesSlide4.xml.rels>&#65279;<?xml version="1.0" encoding="utf-8"?><Relationships xmlns="http://schemas.openxmlformats.org/package/2006/relationships"><Relationship Type="http://schemas.openxmlformats.org/officeDocument/2006/relationships/slide" Target="/ppt/slides/slide4.xml" Id="R8c862a4bce994547" /><Relationship Type="http://schemas.openxmlformats.org/officeDocument/2006/relationships/notesMaster" Target="/ppt/notesMasters/notesMaster1.xml" Id="R2f5eec9cd52d4c2a" /></Relationships>
</file>

<file path=ppt/notesSlides/_rels/notesSlide5.xml.rels>&#65279;<?xml version="1.0" encoding="utf-8"?><Relationships xmlns="http://schemas.openxmlformats.org/package/2006/relationships"><Relationship Type="http://schemas.openxmlformats.org/officeDocument/2006/relationships/slide" Target="/ppt/slides/slide5.xml" Id="R829c7bc8d3794722" /><Relationship Type="http://schemas.openxmlformats.org/officeDocument/2006/relationships/notesMaster" Target="/ppt/notesMasters/notesMaster1.xml" Id="R2ee1515e00c74867" /></Relationships>
</file>

<file path=ppt/notesSlides/_rels/notesSlide6.xml.rels>&#65279;<?xml version="1.0" encoding="utf-8"?><Relationships xmlns="http://schemas.openxmlformats.org/package/2006/relationships"><Relationship Type="http://schemas.openxmlformats.org/officeDocument/2006/relationships/slide" Target="/ppt/slides/slide6.xml" Id="Rbee3f62fec614bd7" /><Relationship Type="http://schemas.openxmlformats.org/officeDocument/2006/relationships/notesMaster" Target="/ppt/notesMasters/notesMaster1.xml" Id="R25aa686ffe294238" /></Relationships>
</file>

<file path=ppt/notesSlides/_rels/notesSlide7.xml.rels>&#65279;<?xml version="1.0" encoding="utf-8"?><Relationships xmlns="http://schemas.openxmlformats.org/package/2006/relationships"><Relationship Type="http://schemas.openxmlformats.org/officeDocument/2006/relationships/slide" Target="/ppt/slides/slide7.xml" Id="R94b3048072eb4b4a" /><Relationship Type="http://schemas.openxmlformats.org/officeDocument/2006/relationships/notesMaster" Target="/ppt/notesMasters/notesMaster1.xml" Id="R70429c2840154784" /></Relationships>
</file>

<file path=ppt/notesSlides/_rels/notesSlide8.xml.rels>&#65279;<?xml version="1.0" encoding="utf-8"?><Relationships xmlns="http://schemas.openxmlformats.org/package/2006/relationships"><Relationship Type="http://schemas.openxmlformats.org/officeDocument/2006/relationships/slide" Target="/ppt/slides/slide8.xml" Id="R10acbb8b4b984dab" /><Relationship Type="http://schemas.openxmlformats.org/officeDocument/2006/relationships/notesMaster" Target="/ppt/notesMasters/notesMaster1.xml" Id="Re30f723cc83546ac" /></Relationships>
</file>

<file path=ppt/notesSlides/_rels/notesSlide9.xml.rels>&#65279;<?xml version="1.0" encoding="utf-8"?><Relationships xmlns="http://schemas.openxmlformats.org/package/2006/relationships"><Relationship Type="http://schemas.openxmlformats.org/officeDocument/2006/relationships/slide" Target="/ppt/slides/slide9.xml" Id="Rd2460dc80e1a452f" /><Relationship Type="http://schemas.openxmlformats.org/officeDocument/2006/relationships/notesMaster" Target="/ppt/notesMasters/notesMaster1.xml" Id="Rd5262a39c5364fa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introduce Beyond Code 2027 as a practical gathering about the business, trust, communication and delivery that surround technology.</a:t>
            </a:r>
          </a:p>
          <a:p xmlns:a="http://schemas.openxmlformats.org/drawingml/2006/main">
            <a:r>
              <a:t>Source: Beyond-Code-2027-Speaker-Proposal.pdf, page 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Frame the event around the work that makes technology useful and sustainable: trust, clear communication, reach, pricing, marketing and delivery.</a:t>
            </a:r>
          </a:p>
          <a:p xmlns:a="http://schemas.openxmlformats.org/drawingml/2006/main">
            <a:r>
              <a:t>Source: Beyond-Code-2027-Speaker-Proposal.pdf, pages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proposal sets the event for Saturday 27 March 2027 in Ibadan, Oyo State, with the venue still to be confirmed. It lists 100 tech professionals, three guest speakers, three sessions, and an 8:30am–6:00pm programme.</a:t>
            </a:r>
          </a:p>
          <a:p xmlns:a="http://schemas.openxmlformats.org/drawingml/2006/main">
            <a:r>
              <a:t>Source: Beyond-Code-2027-Speaker-Proposal.pdf, pages 1 and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Session 1 is intended for a brand, marketing or growth strategist and includes positioning, naira pricing, brand signals, social proof, distribution and an audit of three attendee products, pages or profiles. Session 2 is for a senior software engineer and includes a room-selected live build, AI tools, review/testing/shipping, plus local conditions such as patchy networks and local payments. Session 3 is for a founder, senior operator or consultant and covers client communication, proposals, pricing/timelines, data/money handling and fair relationships, with live rewrites and open questions.</a:t>
            </a:r>
          </a:p>
          <a:p xmlns:a="http://schemas.openxmlformats.org/drawingml/2006/main">
            <a:r>
              <a:t>Source: Beyond-Code-2027-Speaker-Proposal.pdf, pages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proposal includes networking during breaks and an open hour; Ship It Sprint, Tech Trivia, The Naira Test and Cracked Bingo; a question board; demo corner; and a laptop raffle. Raffle details: tickets are ₦2,000, sold at check-in and through the day, numbered and linked to each buyer, with partner prizes awarded before the live draw.</a:t>
            </a:r>
          </a:p>
          <a:p xmlns:a="http://schemas.openxmlformats.org/drawingml/2006/main">
            <a:r>
              <a:t>Source: Beyond-Code-2027-Speaker-Proposal.pdf, pages 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proposal describes an audience of 100 tech professionals and emphasizes short talks/live work/Q&amp;A, professional photos and video clips, a social feature and speaker spotlight, and meeting engineers, designers, founders, marketers and potential collaborators, clients or hires.</a:t>
            </a:r>
          </a:p>
          <a:p xmlns:a="http://schemas.openxmlformats.org/drawingml/2006/main">
            <a:r>
              <a:t>Source: Beyond-Code-2027-Speaker-Proposal.pdf, page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requested style is grounded: examples, numbers, stories and mistakes; maximum 10 slides; teach rather than pitch; stay for Q&amp;A and networking. The organizers offer transport support or an individually agreed honorarium, lodging for speakers outside Ibadan, reserved seating, meals/refreshments, photos/video, a speaker spotlight, a clear brief and a 30-minute prep call.</a:t>
            </a:r>
          </a:p>
          <a:p xmlns:a="http://schemas.openxmlformats.org/drawingml/2006/main">
            <a:r>
              <a:t>Source: Beyond-Code-2027-Speaker-Proposal.pdf, pages 5–6.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Timeline from the proposal: invitations in November–December 2026; confirmations by Friday 15 January 2027; announcements in January–February; prep call in early March; final slides/materials by Saturday 20 March; event on Saturday 27 March; session clips released in April.</a:t>
            </a:r>
          </a:p>
          <a:p xmlns:a="http://schemas.openxmlformats.org/drawingml/2006/main">
            <a:r>
              <a:t>Source: Beyond-Code-2027-Speaker-Proposal.pdf, page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Invite the prospective speaker to reply with: an approximately 80-word bio, a high-resolution headshot, their session angle, and availability for a 30-minute prep call in early March. The source proposal uses [Email] and [Phone or WhatsApp] placeholders; these details must be filled in before the deck is sent.</a:t>
            </a:r>
          </a:p>
          <a:p xmlns:a="http://schemas.openxmlformats.org/drawingml/2006/main">
            <a:r>
              <a:t>Source: Beyond-Code-2027-Speaker-Proposal.pdf, page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81c1c2453154fe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75e122a2a8d4f0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9bc0d2499d9466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68d3ee2ed05484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064f1ee8f84947e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710903795e8424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D42E53-78B6-48EB-9F5C-316EE89D52E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031ECC28-E369-4E7A-9FB1-7B1273F918E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E64CE5F-D0E2-47CA-9242-EF75225122A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48D7B21-7B43-400D-90DA-7A427578E7E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7C22C77B-CCFC-4FA2-9DCA-2EA06B6E15A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A26D6F7-BEA0-4EDB-AE88-BE31BC96ED1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E3AB19D-DF2C-47B8-9BF9-8AFEAE12E88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B4DF90E4-96F1-4BCD-AFED-03D8DA5708F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B0B9791-5434-47EC-A582-7026D511C3D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C828614-A94D-4E24-89E8-55BDF2E8668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97d8f4980e54b4b" /><Relationship Type="http://schemas.openxmlformats.org/officeDocument/2006/relationships/slideLayout" Target="/ppt/slideLayouts/slideLayout1.xml" Id="R4ead021b197c40c7" /><Relationship Type="http://schemas.openxmlformats.org/officeDocument/2006/relationships/slideLayout" Target="/ppt/slideLayouts/slideLayout2.xml" Id="Rf7ef889f924546e7" /><Relationship Type="http://schemas.openxmlformats.org/officeDocument/2006/relationships/slideLayout" Target="/ppt/slideLayouts/slideLayout3.xml" Id="Rce157cba7a234e1a" /><Relationship Type="http://schemas.openxmlformats.org/officeDocument/2006/relationships/slideLayout" Target="/ppt/slideLayouts/slideLayout4.xml" Id="Rcdb045ac1e864ee1" /><Relationship Type="http://schemas.openxmlformats.org/officeDocument/2006/relationships/slideLayout" Target="/ppt/slideLayouts/slideLayout5.xml" Id="R822fabe3100446a5" /><Relationship Type="http://schemas.openxmlformats.org/officeDocument/2006/relationships/slideLayout" Target="/ppt/slideLayouts/slideLayout6.xml" Id="Rd31222f2676f437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ead021b197c40c7"/>
    <p:sldLayoutId xmlns:r="http://schemas.openxmlformats.org/officeDocument/2006/relationships" id="2147483650" r:id="Rf7ef889f924546e7"/>
    <p:sldLayoutId xmlns:r="http://schemas.openxmlformats.org/officeDocument/2006/relationships" id="2147483651" r:id="Rce157cba7a234e1a"/>
    <p:sldLayoutId xmlns:r="http://schemas.openxmlformats.org/officeDocument/2006/relationships" id="2147483652" r:id="Rcdb045ac1e864ee1"/>
    <p:sldLayoutId xmlns:r="http://schemas.openxmlformats.org/officeDocument/2006/relationships" id="2147483653" r:id="R822fabe3100446a5"/>
    <p:sldLayoutId xmlns:r="http://schemas.openxmlformats.org/officeDocument/2006/relationships" id="2147483654" r:id="Rd31222f2676f437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3f3c33a35f64c03" /><Relationship Type="http://schemas.openxmlformats.org/officeDocument/2006/relationships/image" Target="/ppt/media/image.png" Id="Rfe0f40f2dc694629" /><Relationship Type="http://schemas.openxmlformats.org/officeDocument/2006/relationships/notesSlide" Target="/ppt/notesSlides/notesSlide1.xml" Id="R545e522a8916491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c38ac21bd8f45b5" /><Relationship Type="http://schemas.openxmlformats.org/officeDocument/2006/relationships/notesSlide" Target="/ppt/notesSlides/notesSlide2.xml" Id="R960aa4fe9c1c479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a7e39a0825e494c" /><Relationship Type="http://schemas.openxmlformats.org/officeDocument/2006/relationships/notesSlide" Target="/ppt/notesSlides/notesSlide3.xml" Id="R2335e79d35f94c2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13abf47e6164a70" /><Relationship Type="http://schemas.openxmlformats.org/officeDocument/2006/relationships/notesSlide" Target="/ppt/notesSlides/notesSlide4.xml" Id="R85546a1a00e44b8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3cd64df8bcc3409e" /><Relationship Type="http://schemas.openxmlformats.org/officeDocument/2006/relationships/notesSlide" Target="/ppt/notesSlides/notesSlide5.xml" Id="R731dbd440f9e49ce"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71c7354a3b84cd7" /><Relationship Type="http://schemas.openxmlformats.org/officeDocument/2006/relationships/notesSlide" Target="/ppt/notesSlides/notesSlide6.xml" Id="Rc60355040b7a4be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0947f68c8ab4370" /><Relationship Type="http://schemas.openxmlformats.org/officeDocument/2006/relationships/notesSlide" Target="/ppt/notesSlides/notesSlide7.xml" Id="R5065748378d6494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393a23ead9a945e6" /><Relationship Type="http://schemas.openxmlformats.org/officeDocument/2006/relationships/notesSlide" Target="/ppt/notesSlides/notesSlide8.xml" Id="R2143eede03cc4b65"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f02410f2efcd4205" /><Relationship Type="http://schemas.openxmlformats.org/officeDocument/2006/relationships/notesSlide" Target="/ppt/notesSlides/notesSlide9.xml" Id="R9b3558e654654c00" /></Relationships>
</file>

<file path=ppt/slides/slide1.xml><?xml version="1.0" encoding="utf-8"?>
<p:sld xmlns:p="http://schemas.openxmlformats.org/presentationml/2006/main">
  <p:cSld>
    <p:bg>
      <p:bgPr>
        <a:solidFill xmlns:a="http://schemas.openxmlformats.org/drawingml/2006/main">
          <a:srgbClr val="1E1126"/>
        </a:solidFill>
      </p:bgPr>
    </p:bg>
    <p:spTree>
      <p:nvGrpSpPr>
        <p:cNvPr id="1" name=""/>
        <p:cNvGrpSpPr/>
        <p:nvPr/>
      </p:nvGrpSpPr>
      <p:grpSpPr>
        <a:xfrm xmlns:a="http://schemas.openxmlformats.org/drawingml/2006/main"/>
      </p:grpSpPr>
      <p:pic>
        <p:nvPicPr>
          <p:cNvPr id="13" name="">
            <a:extLst xmlns:a="http://schemas.openxmlformats.org/drawingml/2006/main">
              <a:ext uri="{FF2B5EF4-FFF2-40B4-BE49-F238E27FC236}">
                <a16:creationId xmlns:a16="http://schemas.microsoft.com/office/drawing/2014/main" id="{33CEB3D0-B429-4E2D-AF5E-0D631DE2FB54}"/>
              </a:ext>
            </a:extLst>
          </p:cNvPr>
          <p:cNvPicPr>
            <a:picLocks xmlns:a="http://schemas.openxmlformats.org/drawingml/2006/main" noChangeAspect="1"/>
          </p:cNvPicPr>
          <p:nvPr/>
        </p:nvPicPr>
        <p:blipFill>
          <a:blip xmlns:r="http://schemas.openxmlformats.org/officeDocument/2006/relationships" xmlns:a="http://schemas.openxmlformats.org/drawingml/2006/main" r:embed="Rfe0f40f2dc694629"/>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2" name="cover-dark-wash">
            <a:extLst xmlns:a="http://schemas.openxmlformats.org/drawingml/2006/main">
              <a:ext uri="{FF2B5EF4-FFF2-40B4-BE49-F238E27FC236}">
                <a16:creationId xmlns:a16="http://schemas.microsoft.com/office/drawing/2014/main" id="{D01FB94A-9F73-4DAD-A6D3-491D37B801F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gradFill xmlns:a="http://schemas.openxmlformats.org/drawingml/2006/main">
            <a:gsLst>
              <a:gs pos="0">
                <a:srgbClr val="1E1126">
                  <a:alpha val="92000"/>
                </a:srgbClr>
              </a:gs>
              <a:gs pos="58000">
                <a:srgbClr val="1E1126">
                  <a:alpha val="58000"/>
                </a:srgbClr>
              </a:gs>
              <a:gs pos="100000">
                <a:srgbClr val="1E1126">
                  <a:alpha val="12000"/>
                </a:srgbClr>
              </a:gs>
            </a:gsLst>
            <a:lin ang="0"/>
          </a:gradFill>
          <a:ln xmlns:a="http://schemas.openxmlformats.org/drawingml/2006/main" w="0">
            <a:noFill/>
            <a:prstDash val="solid"/>
          </a:ln>
        </p:spPr>
      </p:sp>
      <p:sp>
        <p:nvSpPr>
          <p:cNvPr id="3" name="cover-brand-mark">
            <a:extLst xmlns:a="http://schemas.openxmlformats.org/drawingml/2006/main">
              <a:ext uri="{FF2B5EF4-FFF2-40B4-BE49-F238E27FC236}">
                <a16:creationId xmlns:a16="http://schemas.microsoft.com/office/drawing/2014/main" id="{819CA65A-F131-4ED1-8E25-EA3195744DDC}"/>
              </a:ext>
            </a:extLst>
          </p:cNvPr>
          <p:cNvSpPr>
            <a:spLocks xmlns:a="http://schemas.openxmlformats.org/drawingml/2006/main" noGrp="1"/>
          </p:cNvSpPr>
          <p:nvPr/>
        </p:nvSpPr>
        <p:spPr>
          <a:xfrm xmlns:a="http://schemas.openxmlformats.org/drawingml/2006/main">
            <a:off x="609600" y="609600"/>
            <a:ext cx="400050" cy="47625"/>
          </a:xfrm>
          <a:prstGeom xmlns:a="http://schemas.openxmlformats.org/drawingml/2006/main" prst="roundRect">
            <a:avLst>
              <a:gd name="adj" fmla="val 50000"/>
            </a:avLst>
          </a:prstGeom>
          <a:solidFill xmlns:a="http://schemas.openxmlformats.org/drawingml/2006/main">
            <a:srgbClr val="AEE8CE"/>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D48A3CA6-51C3-4F48-A8F1-DC001C936E80}"/>
              </a:ext>
            </a:extLst>
          </p:cNvPr>
          <p:cNvSpPr>
            <a:spLocks xmlns:a="http://schemas.openxmlformats.org/drawingml/2006/main" noGrp="1"/>
          </p:cNvSpPr>
          <p:nvPr/>
        </p:nvSpPr>
        <p:spPr>
          <a:xfrm xmlns:a="http://schemas.openxmlformats.org/drawingml/2006/main">
            <a:off x="609600" y="8382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FFFFFF"/>
                </a:solidFill>
                <a:latin typeface="Avenir Next"/>
                <a:ea typeface="Avenir Next"/>
                <a:cs typeface="Avenir Next"/>
              </a:defRPr>
            </a:defPPr>
          </a:lstStyle>
          <a:p xmlns:a="http://schemas.openxmlformats.org/drawingml/2006/main">
            <a:pPr algn="l">
              <a:defRPr sz="1350" b="1">
                <a:solidFill>
                  <a:srgbClr val="FFFFFF"/>
                </a:solidFill>
                <a:latin typeface="Avenir Next"/>
                <a:ea typeface="Avenir Next"/>
                <a:cs typeface="Avenir Next"/>
              </a:defRPr>
            </a:pPr>
            <a:r>
              <a:rPr sz="1350" b="1">
                <a:solidFill>
                  <a:srgbClr val="FFFFFF"/>
                </a:solidFill>
                <a:latin typeface="Avenir Next"/>
                <a:ea typeface="Avenir Next"/>
                <a:cs typeface="Avenir Next"/>
              </a:rPr>
              <a:t>BEYOND CODE</a:t>
            </a:r>
          </a:p>
        </p:txBody>
      </p:sp>
      <p:sp>
        <p:nvSpPr>
          <p:cNvPr id="5" name="pill-speaker-invitation">
            <a:extLst xmlns:a="http://schemas.openxmlformats.org/drawingml/2006/main">
              <a:ext uri="{FF2B5EF4-FFF2-40B4-BE49-F238E27FC236}">
                <a16:creationId xmlns:a16="http://schemas.microsoft.com/office/drawing/2014/main" id="{C12799C7-9098-41BA-9152-D5B61B9A4EF9}"/>
              </a:ext>
            </a:extLst>
          </p:cNvPr>
          <p:cNvSpPr>
            <a:spLocks xmlns:a="http://schemas.openxmlformats.org/drawingml/2006/main" noGrp="1"/>
          </p:cNvSpPr>
          <p:nvPr/>
        </p:nvSpPr>
        <p:spPr>
          <a:xfrm xmlns:a="http://schemas.openxmlformats.org/drawingml/2006/main">
            <a:off x="609600" y="1695450"/>
            <a:ext cx="2000250" cy="285750"/>
          </a:xfrm>
          <a:prstGeom xmlns:a="http://schemas.openxmlformats.org/drawingml/2006/main" prst="roundRect">
            <a:avLst>
              <a:gd name="adj" fmla="val 50000"/>
            </a:avLst>
          </a:prstGeom>
          <a:solidFill xmlns:a="http://schemas.openxmlformats.org/drawingml/2006/main">
            <a:srgbClr val="FFFFFF">
              <a:alpha val="14000"/>
            </a:srgbClr>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7EF1547-D75D-43C5-851A-0268CDBFB3B0}"/>
              </a:ext>
            </a:extLst>
          </p:cNvPr>
          <p:cNvSpPr>
            <a:spLocks xmlns:a="http://schemas.openxmlformats.org/drawingml/2006/main" noGrp="1"/>
          </p:cNvSpPr>
          <p:nvPr/>
        </p:nvSpPr>
        <p:spPr>
          <a:xfrm xmlns:a="http://schemas.openxmlformats.org/drawingml/2006/main">
            <a:off x="723900" y="1762125"/>
            <a:ext cx="1771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AEE8CE"/>
                </a:solidFill>
                <a:latin typeface="Avenir Next"/>
                <a:ea typeface="Avenir Next"/>
                <a:cs typeface="Avenir Next"/>
              </a:defRPr>
            </a:defPPr>
          </a:lstStyle>
          <a:p xmlns:a="http://schemas.openxmlformats.org/drawingml/2006/main">
            <a:pPr algn="l">
              <a:defRPr sz="900" b="1">
                <a:solidFill>
                  <a:srgbClr val="AEE8CE"/>
                </a:solidFill>
                <a:latin typeface="Avenir Next"/>
                <a:ea typeface="Avenir Next"/>
                <a:cs typeface="Avenir Next"/>
              </a:defRPr>
            </a:pPr>
            <a:r>
              <a:rPr sz="900" b="1">
                <a:solidFill>
                  <a:srgbClr val="AEE8CE"/>
                </a:solidFill>
                <a:latin typeface="Avenir Next"/>
                <a:ea typeface="Avenir Next"/>
                <a:cs typeface="Avenir Next"/>
              </a:rPr>
              <a:t>SPEAKER INVITATION</a:t>
            </a:r>
          </a:p>
        </p:txBody>
      </p:sp>
      <p:sp>
        <p:nvSpPr>
          <p:cNvPr id="7" name="">
            <a:extLst xmlns:a="http://schemas.openxmlformats.org/drawingml/2006/main">
              <a:ext uri="{FF2B5EF4-FFF2-40B4-BE49-F238E27FC236}">
                <a16:creationId xmlns:a16="http://schemas.microsoft.com/office/drawing/2014/main" id="{5295A1AA-85E9-451A-A499-16CAB970B776}"/>
              </a:ext>
            </a:extLst>
          </p:cNvPr>
          <p:cNvSpPr>
            <a:spLocks xmlns:a="http://schemas.openxmlformats.org/drawingml/2006/main" noGrp="1"/>
          </p:cNvSpPr>
          <p:nvPr/>
        </p:nvSpPr>
        <p:spPr>
          <a:xfrm xmlns:a="http://schemas.openxmlformats.org/drawingml/2006/main">
            <a:off x="609600" y="2266950"/>
            <a:ext cx="68580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5250" b="1">
                <a:solidFill>
                  <a:srgbClr val="FFFFFF"/>
                </a:solidFill>
                <a:latin typeface="Avenir Next"/>
                <a:ea typeface="Avenir Next"/>
                <a:cs typeface="Avenir Next"/>
              </a:defRPr>
            </a:defPPr>
          </a:lstStyle>
          <a:p xmlns:a="http://schemas.openxmlformats.org/drawingml/2006/main">
            <a:pPr algn="l">
              <a:defRPr sz="5250" b="1">
                <a:solidFill>
                  <a:srgbClr val="FFFFFF"/>
                </a:solidFill>
                <a:latin typeface="Avenir Next"/>
                <a:ea typeface="Avenir Next"/>
                <a:cs typeface="Avenir Next"/>
              </a:defRPr>
            </a:pPr>
            <a:r>
              <a:rPr sz="5250" b="1">
                <a:solidFill>
                  <a:srgbClr val="FFFFFF"/>
                </a:solidFill>
                <a:latin typeface="Avenir Next"/>
                <a:ea typeface="Avenir Next"/>
                <a:cs typeface="Avenir Next"/>
              </a:rPr>
              <a:t>The Business</a:t>
            </a:r>
          </a:p>
          <a:p xmlns:a="http://schemas.openxmlformats.org/drawingml/2006/main">
            <a:pPr algn="l">
              <a:defRPr sz="5250" b="1">
                <a:solidFill>
                  <a:srgbClr val="FFFFFF"/>
                </a:solidFill>
                <a:latin typeface="Avenir Next"/>
                <a:ea typeface="Avenir Next"/>
                <a:cs typeface="Avenir Next"/>
              </a:defRPr>
            </a:pPr>
            <a:r>
              <a:rPr sz="5250" b="1">
                <a:solidFill>
                  <a:srgbClr val="FFFFFF"/>
                </a:solidFill>
                <a:latin typeface="Avenir Next"/>
                <a:ea typeface="Avenir Next"/>
                <a:cs typeface="Avenir Next"/>
              </a:rPr>
              <a:t>of Tech</a:t>
            </a:r>
          </a:p>
        </p:txBody>
      </p:sp>
      <p:sp>
        <p:nvSpPr>
          <p:cNvPr id="8" name="">
            <a:extLst xmlns:a="http://schemas.openxmlformats.org/drawingml/2006/main">
              <a:ext uri="{FF2B5EF4-FFF2-40B4-BE49-F238E27FC236}">
                <a16:creationId xmlns:a16="http://schemas.microsoft.com/office/drawing/2014/main" id="{F03478D2-B5C2-495F-9FEC-EC0D2198C4DB}"/>
              </a:ext>
            </a:extLst>
          </p:cNvPr>
          <p:cNvSpPr>
            <a:spLocks xmlns:a="http://schemas.openxmlformats.org/drawingml/2006/main" noGrp="1"/>
          </p:cNvSpPr>
          <p:nvPr/>
        </p:nvSpPr>
        <p:spPr>
          <a:xfrm xmlns:a="http://schemas.openxmlformats.org/drawingml/2006/main">
            <a:off x="638175" y="4305300"/>
            <a:ext cx="609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75" b="0">
                <a:solidFill>
                  <a:srgbClr val="FFFFFF">
                    <a:alpha val="88000"/>
                  </a:srgbClr>
                </a:solidFill>
                <a:latin typeface="Avenir Next"/>
                <a:ea typeface="Avenir Next"/>
                <a:cs typeface="Avenir Next"/>
              </a:defRPr>
            </a:defPPr>
          </a:lstStyle>
          <a:p xmlns:a="http://schemas.openxmlformats.org/drawingml/2006/main">
            <a:pPr algn="l">
              <a:defRPr sz="1875" b="0">
                <a:solidFill>
                  <a:srgbClr val="FFFFFF">
                    <a:alpha val="88000"/>
                  </a:srgbClr>
                </a:solidFill>
                <a:latin typeface="Avenir Next"/>
                <a:ea typeface="Avenir Next"/>
                <a:cs typeface="Avenir Next"/>
              </a:defRPr>
            </a:pPr>
            <a:r>
              <a:rPr sz="1875" b="0">
                <a:solidFill>
                  <a:srgbClr val="FFFFFF">
                    <a:alpha val="88000"/>
                  </a:srgbClr>
                </a:solidFill>
                <a:latin typeface="Avenir Next"/>
                <a:ea typeface="Avenir Next"/>
                <a:cs typeface="Avenir Next"/>
              </a:rPr>
              <a:t>Everything that happens after the code.</a:t>
            </a:r>
          </a:p>
        </p:txBody>
      </p:sp>
      <p:sp>
        <p:nvSpPr>
          <p:cNvPr id="9" name="cover-short-rule">
            <a:extLst xmlns:a="http://schemas.openxmlformats.org/drawingml/2006/main">
              <a:ext uri="{FF2B5EF4-FFF2-40B4-BE49-F238E27FC236}">
                <a16:creationId xmlns:a16="http://schemas.microsoft.com/office/drawing/2014/main" id="{C2854BB6-9626-4C5C-B47B-EFF2F322BB2E}"/>
              </a:ext>
            </a:extLst>
          </p:cNvPr>
          <p:cNvSpPr>
            <a:spLocks xmlns:a="http://schemas.openxmlformats.org/drawingml/2006/main" noGrp="1"/>
          </p:cNvSpPr>
          <p:nvPr/>
        </p:nvSpPr>
        <p:spPr>
          <a:xfrm xmlns:a="http://schemas.openxmlformats.org/drawingml/2006/main">
            <a:off x="628650" y="5105400"/>
            <a:ext cx="457200" cy="19050"/>
          </a:xfrm>
          <a:prstGeom xmlns:a="http://schemas.openxmlformats.org/drawingml/2006/main" prst="rect">
            <a:avLst/>
          </a:prstGeom>
          <a:solidFill xmlns:a="http://schemas.openxmlformats.org/drawingml/2006/main">
            <a:srgbClr val="AEE8C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8252DF82-9084-4222-A6BD-C5ADCF19907E}"/>
              </a:ext>
            </a:extLst>
          </p:cNvPr>
          <p:cNvSpPr>
            <a:spLocks xmlns:a="http://schemas.openxmlformats.org/drawingml/2006/main" noGrp="1"/>
          </p:cNvSpPr>
          <p:nvPr/>
        </p:nvSpPr>
        <p:spPr>
          <a:xfrm xmlns:a="http://schemas.openxmlformats.org/drawingml/2006/main">
            <a:off x="628650" y="5295900"/>
            <a:ext cx="43815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FFFFFF"/>
                </a:solidFill>
                <a:latin typeface="Avenir Next"/>
                <a:ea typeface="Avenir Next"/>
                <a:cs typeface="Avenir Next"/>
              </a:defRPr>
            </a:defPPr>
          </a:lstStyle>
          <a:p xmlns:a="http://schemas.openxmlformats.org/drawingml/2006/main">
            <a:pPr algn="l">
              <a:defRPr sz="1275" b="1">
                <a:solidFill>
                  <a:srgbClr val="FFFFFF"/>
                </a:solidFill>
                <a:latin typeface="Avenir Next"/>
                <a:ea typeface="Avenir Next"/>
                <a:cs typeface="Avenir Next"/>
              </a:defRPr>
            </a:pPr>
            <a:r>
              <a:rPr sz="1275" b="1">
                <a:solidFill>
                  <a:srgbClr val="FFFFFF"/>
                </a:solidFill>
                <a:latin typeface="Avenir Next"/>
                <a:ea typeface="Avenir Next"/>
                <a:cs typeface="Avenir Next"/>
              </a:rPr>
              <a:t>SATURDAY 27 MARCH 2027</a:t>
            </a:r>
          </a:p>
        </p:txBody>
      </p:sp>
      <p:sp>
        <p:nvSpPr>
          <p:cNvPr id="11" name="">
            <a:extLst xmlns:a="http://schemas.openxmlformats.org/drawingml/2006/main">
              <a:ext uri="{FF2B5EF4-FFF2-40B4-BE49-F238E27FC236}">
                <a16:creationId xmlns:a16="http://schemas.microsoft.com/office/drawing/2014/main" id="{BABF1D2A-FB33-4A70-BF3E-C41EF06966EC}"/>
              </a:ext>
            </a:extLst>
          </p:cNvPr>
          <p:cNvSpPr>
            <a:spLocks xmlns:a="http://schemas.openxmlformats.org/drawingml/2006/main" noGrp="1"/>
          </p:cNvSpPr>
          <p:nvPr/>
        </p:nvSpPr>
        <p:spPr>
          <a:xfrm xmlns:a="http://schemas.openxmlformats.org/drawingml/2006/main">
            <a:off x="628650" y="5619750"/>
            <a:ext cx="438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1">
                <a:solidFill>
                  <a:srgbClr val="FFFFFF">
                    <a:alpha val="76000"/>
                  </a:srgbClr>
                </a:solidFill>
                <a:latin typeface="Avenir Next"/>
                <a:ea typeface="Avenir Next"/>
                <a:cs typeface="Avenir Next"/>
              </a:defRPr>
            </a:defPPr>
          </a:lstStyle>
          <a:p xmlns:a="http://schemas.openxmlformats.org/drawingml/2006/main">
            <a:pPr algn="l">
              <a:defRPr sz="1125" b="1">
                <a:solidFill>
                  <a:srgbClr val="FFFFFF">
                    <a:alpha val="76000"/>
                  </a:srgbClr>
                </a:solidFill>
                <a:latin typeface="Avenir Next"/>
                <a:ea typeface="Avenir Next"/>
                <a:cs typeface="Avenir Next"/>
              </a:defRPr>
            </a:pPr>
            <a:r>
              <a:rPr sz="1125" b="1">
                <a:solidFill>
                  <a:srgbClr val="FFFFFF">
                    <a:alpha val="76000"/>
                  </a:srgbClr>
                </a:solidFill>
                <a:latin typeface="Avenir Next"/>
                <a:ea typeface="Avenir Next"/>
                <a:cs typeface="Avenir Next"/>
              </a:rPr>
              <a:t>IBADAN  ·  OYO STATE</a:t>
            </a:r>
          </a:p>
        </p:txBody>
      </p:sp>
      <p:sp>
        <p:nvSpPr>
          <p:cNvPr id="12" name="">
            <a:extLst xmlns:a="http://schemas.openxmlformats.org/drawingml/2006/main">
              <a:ext uri="{FF2B5EF4-FFF2-40B4-BE49-F238E27FC236}">
                <a16:creationId xmlns:a16="http://schemas.microsoft.com/office/drawing/2014/main" id="{07C82D73-8E92-44E7-A1CF-A53598A3EB9C}"/>
              </a:ext>
            </a:extLst>
          </p:cNvPr>
          <p:cNvSpPr>
            <a:spLocks xmlns:a="http://schemas.openxmlformats.org/drawingml/2006/main" noGrp="1"/>
          </p:cNvSpPr>
          <p:nvPr/>
        </p:nvSpPr>
        <p:spPr>
          <a:xfrm xmlns:a="http://schemas.openxmlformats.org/drawingml/2006/main">
            <a:off x="628650" y="6115050"/>
            <a:ext cx="762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0">
                <a:solidFill>
                  <a:srgbClr val="FFFFFF">
                    <a:alpha val="68000"/>
                  </a:srgbClr>
                </a:solidFill>
                <a:latin typeface="Avenir Next"/>
                <a:ea typeface="Avenir Next"/>
                <a:cs typeface="Avenir Next"/>
              </a:defRPr>
            </a:defPPr>
          </a:lstStyle>
          <a:p xmlns:a="http://schemas.openxmlformats.org/drawingml/2006/main">
            <a:pPr algn="l">
              <a:defRPr sz="1050" b="0">
                <a:solidFill>
                  <a:srgbClr val="FFFFFF">
                    <a:alpha val="68000"/>
                  </a:srgbClr>
                </a:solidFill>
                <a:latin typeface="Avenir Next"/>
                <a:ea typeface="Avenir Next"/>
                <a:cs typeface="Avenir Next"/>
              </a:defRPr>
            </a:pPr>
            <a:r>
              <a:rPr sz="1050" b="0">
                <a:solidFill>
                  <a:srgbClr val="FFFFFF">
                    <a:alpha val="68000"/>
                  </a:srgbClr>
                </a:solidFill>
                <a:latin typeface="Avenir Next"/>
                <a:ea typeface="Avenir Next"/>
                <a:cs typeface="Avenir Next"/>
              </a:rPr>
              <a:t>A practical gathering for the people building what comes next.</a:t>
            </a:r>
          </a:p>
        </p:txBody>
      </p:sp>
    </p:spTree>
    <p:extLst>
      <p:ext uri="{BB962C8B-B14F-4D97-AF65-F5344CB8AC3E}">
        <p14:creationId xmlns:p14="http://schemas.microsoft.com/office/powerpoint/2010/main" val="751882711"/>
      </p:ext>
    </p:extLst>
  </p:cSld>
</p:sld>
</file>

<file path=ppt/slides/slide2.xml><?xml version="1.0" encoding="utf-8"?>
<p:sld xmlns:p="http://schemas.openxmlformats.org/presentationml/2006/main">
  <p:cSld>
    <p:bg>
      <p:bgPr>
        <a:solidFill xmlns:a="http://schemas.openxmlformats.org/drawingml/2006/main">
          <a:srgbClr val="FAF8FC"/>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E018B587-CAF0-4FC9-9D2B-FBC989E6207F}"/>
              </a:ext>
            </a:extLst>
          </p:cNvPr>
          <p:cNvSpPr>
            <a:spLocks xmlns:a="http://schemas.openxmlformats.org/drawingml/2006/main" noGrp="1"/>
          </p:cNvSpPr>
          <p:nvPr/>
        </p:nvSpPr>
        <p:spPr>
          <a:xfrm xmlns:a="http://schemas.openxmlformats.org/drawingml/2006/main">
            <a:off x="609600" y="4572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7354A4"/>
                </a:solidFill>
                <a:latin typeface="Avenir Next"/>
                <a:ea typeface="Avenir Next"/>
                <a:cs typeface="Avenir Next"/>
              </a:defRPr>
            </a:defPPr>
          </a:lstStyle>
          <a:p xmlns:a="http://schemas.openxmlformats.org/drawingml/2006/main">
            <a:pPr algn="l">
              <a:defRPr sz="900" b="1">
                <a:solidFill>
                  <a:srgbClr val="7354A4"/>
                </a:solidFill>
                <a:latin typeface="Avenir Next"/>
                <a:ea typeface="Avenir Next"/>
                <a:cs typeface="Avenir Next"/>
              </a:defRPr>
            </a:pPr>
            <a:r>
              <a:rPr sz="900" b="1">
                <a:solidFill>
                  <a:srgbClr val="7354A4"/>
                </a:solidFill>
                <a:latin typeface="Avenir Next"/>
                <a:ea typeface="Avenir Next"/>
                <a:cs typeface="Avenir Next"/>
              </a:rPr>
              <a:t>WHY THIS ROOM MATTERS</a:t>
            </a:r>
          </a:p>
        </p:txBody>
      </p:sp>
      <p:sp>
        <p:nvSpPr>
          <p:cNvPr id="2" name="">
            <a:extLst xmlns:a="http://schemas.openxmlformats.org/drawingml/2006/main">
              <a:ext uri="{FF2B5EF4-FFF2-40B4-BE49-F238E27FC236}">
                <a16:creationId xmlns:a16="http://schemas.microsoft.com/office/drawing/2014/main" id="{33BC1513-1097-42CF-B71B-56FC5CE355B5}"/>
              </a:ext>
            </a:extLst>
          </p:cNvPr>
          <p:cNvSpPr>
            <a:spLocks xmlns:a="http://schemas.openxmlformats.org/drawingml/2006/main" noGrp="1"/>
          </p:cNvSpPr>
          <p:nvPr/>
        </p:nvSpPr>
        <p:spPr>
          <a:xfrm xmlns:a="http://schemas.openxmlformats.org/drawingml/2006/main">
            <a:off x="609600" y="809625"/>
            <a:ext cx="10858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150" b="1">
                <a:solidFill>
                  <a:srgbClr val="261A2C"/>
                </a:solidFill>
                <a:latin typeface="Avenir Next"/>
                <a:ea typeface="Avenir Next"/>
                <a:cs typeface="Avenir Next"/>
              </a:defRPr>
            </a:defPPr>
          </a:lstStyle>
          <a:p xmlns:a="http://schemas.openxmlformats.org/drawingml/2006/main">
            <a:pPr algn="l">
              <a:defRPr sz="3150" b="1">
                <a:solidFill>
                  <a:srgbClr val="261A2C"/>
                </a:solidFill>
                <a:latin typeface="Avenir Next"/>
                <a:ea typeface="Avenir Next"/>
                <a:cs typeface="Avenir Next"/>
              </a:defRPr>
            </a:pPr>
            <a:r>
              <a:rPr sz="3150" b="1">
                <a:solidFill>
                  <a:srgbClr val="261A2C"/>
                </a:solidFill>
                <a:latin typeface="Avenir Next"/>
                <a:ea typeface="Avenir Next"/>
                <a:cs typeface="Avenir Next"/>
              </a:rPr>
              <a:t>The work begins after the code.</a:t>
            </a:r>
          </a:p>
        </p:txBody>
      </p:sp>
      <p:sp>
        <p:nvSpPr>
          <p:cNvPr id="3" name="">
            <a:extLst xmlns:a="http://schemas.openxmlformats.org/drawingml/2006/main">
              <a:ext uri="{FF2B5EF4-FFF2-40B4-BE49-F238E27FC236}">
                <a16:creationId xmlns:a16="http://schemas.microsoft.com/office/drawing/2014/main" id="{CC6E8C1B-71A2-4232-8800-FE330314A513}"/>
              </a:ext>
            </a:extLst>
          </p:cNvPr>
          <p:cNvSpPr>
            <a:spLocks xmlns:a="http://schemas.openxmlformats.org/drawingml/2006/main" noGrp="1"/>
          </p:cNvSpPr>
          <p:nvPr/>
        </p:nvSpPr>
        <p:spPr>
          <a:xfrm xmlns:a="http://schemas.openxmlformats.org/drawingml/2006/main">
            <a:off x="628650" y="152400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25" b="0">
                <a:solidFill>
                  <a:srgbClr val="746B79"/>
                </a:solidFill>
                <a:latin typeface="Avenir Next"/>
                <a:ea typeface="Avenir Next"/>
                <a:cs typeface="Avenir Next"/>
              </a:defRPr>
            </a:defPPr>
          </a:lstStyle>
          <a:p xmlns:a="http://schemas.openxmlformats.org/drawingml/2006/main">
            <a:pPr algn="l">
              <a:defRPr sz="1425" b="0">
                <a:solidFill>
                  <a:srgbClr val="746B79"/>
                </a:solidFill>
                <a:latin typeface="Avenir Next"/>
                <a:ea typeface="Avenir Next"/>
                <a:cs typeface="Avenir Next"/>
              </a:defRPr>
            </a:pPr>
            <a:r>
              <a:rPr sz="1425" b="0">
                <a:solidFill>
                  <a:srgbClr val="746B79"/>
                </a:solidFill>
                <a:latin typeface="Avenir Next"/>
                <a:ea typeface="Avenir Next"/>
                <a:cs typeface="Avenir Next"/>
              </a:rPr>
              <a:t>A useful product still has to earn trust, reach people and make sense in the real world.</a:t>
            </a:r>
          </a:p>
        </p:txBody>
      </p:sp>
      <p:sp>
        <p:nvSpPr>
          <p:cNvPr id="4" name="footer-rule-2">
            <a:extLst xmlns:a="http://schemas.openxmlformats.org/drawingml/2006/main">
              <a:ext uri="{FF2B5EF4-FFF2-40B4-BE49-F238E27FC236}">
                <a16:creationId xmlns:a16="http://schemas.microsoft.com/office/drawing/2014/main" id="{473776B4-914A-4D91-99B3-3B350868AD4F}"/>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E7E0E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F58725F-E1EA-4DD5-93DD-F6F22E243C60}"/>
              </a:ext>
            </a:extLst>
          </p:cNvPr>
          <p:cNvSpPr>
            <a:spLocks xmlns:a="http://schemas.openxmlformats.org/drawingml/2006/main" noGrp="1"/>
          </p:cNvSpPr>
          <p:nvPr/>
        </p:nvSpPr>
        <p:spPr>
          <a:xfrm xmlns:a="http://schemas.openxmlformats.org/drawingml/2006/main">
            <a:off x="609600" y="6553200"/>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1">
                <a:solidFill>
                  <a:srgbClr val="746B79"/>
                </a:solidFill>
                <a:latin typeface="Avenir Next"/>
                <a:ea typeface="Avenir Next"/>
                <a:cs typeface="Avenir Next"/>
              </a:defRPr>
            </a:defPPr>
          </a:lstStyle>
          <a:p xmlns:a="http://schemas.openxmlformats.org/drawingml/2006/main">
            <a:pPr algn="l">
              <a:defRPr sz="825" b="1">
                <a:solidFill>
                  <a:srgbClr val="746B79"/>
                </a:solidFill>
                <a:latin typeface="Avenir Next"/>
                <a:ea typeface="Avenir Next"/>
                <a:cs typeface="Avenir Next"/>
              </a:defRPr>
            </a:pPr>
            <a:r>
              <a:rPr sz="825" b="1">
                <a:solidFill>
                  <a:srgbClr val="746B79"/>
                </a:solidFill>
                <a:latin typeface="Avenir Next"/>
                <a:ea typeface="Avenir Next"/>
                <a:cs typeface="Avenir Next"/>
              </a:rPr>
              <a:t>BEYOND CODE 2027  /  SPEAKER INVITATION</a:t>
            </a:r>
          </a:p>
        </p:txBody>
      </p:sp>
      <p:sp>
        <p:nvSpPr>
          <p:cNvPr id="6" name="">
            <a:extLst xmlns:a="http://schemas.openxmlformats.org/drawingml/2006/main">
              <a:ext uri="{FF2B5EF4-FFF2-40B4-BE49-F238E27FC236}">
                <a16:creationId xmlns:a16="http://schemas.microsoft.com/office/drawing/2014/main" id="{034045A6-7FF6-4882-AC5F-E72FCA7A939B}"/>
              </a:ext>
            </a:extLst>
          </p:cNvPr>
          <p:cNvSpPr>
            <a:spLocks xmlns:a="http://schemas.openxmlformats.org/drawingml/2006/main" noGrp="1"/>
          </p:cNvSpPr>
          <p:nvPr/>
        </p:nvSpPr>
        <p:spPr>
          <a:xfrm xmlns:a="http://schemas.openxmlformats.org/drawingml/2006/main">
            <a:off x="10572750" y="6543675"/>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1">
                <a:solidFill>
                  <a:srgbClr val="746B79"/>
                </a:solidFill>
                <a:latin typeface="Avenir Next"/>
                <a:ea typeface="Avenir Next"/>
                <a:cs typeface="Avenir Next"/>
              </a:defRPr>
            </a:defPPr>
          </a:lstStyle>
          <a:p xmlns:a="http://schemas.openxmlformats.org/drawingml/2006/main">
            <a:pPr algn="r">
              <a:defRPr sz="900" b="1">
                <a:solidFill>
                  <a:srgbClr val="746B79"/>
                </a:solidFill>
                <a:latin typeface="Avenir Next"/>
                <a:ea typeface="Avenir Next"/>
                <a:cs typeface="Avenir Next"/>
              </a:defRPr>
            </a:pPr>
            <a:r>
              <a:rPr sz="900" b="1">
                <a:solidFill>
                  <a:srgbClr val="746B79"/>
                </a:solidFill>
                <a:latin typeface="Avenir Next"/>
                <a:ea typeface="Avenir Next"/>
                <a:cs typeface="Avenir Next"/>
              </a:rPr>
              <a:t>02  /  09</a:t>
            </a:r>
          </a:p>
        </p:txBody>
      </p:sp>
      <p:sp>
        <p:nvSpPr>
          <p:cNvPr id="7" name="opportunity-card-1">
            <a:extLst xmlns:a="http://schemas.openxmlformats.org/drawingml/2006/main">
              <a:ext uri="{FF2B5EF4-FFF2-40B4-BE49-F238E27FC236}">
                <a16:creationId xmlns:a16="http://schemas.microsoft.com/office/drawing/2014/main" id="{B6FACA50-9CDD-4CC5-892A-92B1C6E86CDC}"/>
              </a:ext>
            </a:extLst>
          </p:cNvPr>
          <p:cNvSpPr>
            <a:spLocks xmlns:a="http://schemas.openxmlformats.org/drawingml/2006/main" noGrp="1"/>
          </p:cNvSpPr>
          <p:nvPr/>
        </p:nvSpPr>
        <p:spPr>
          <a:xfrm xmlns:a="http://schemas.openxmlformats.org/drawingml/2006/main">
            <a:off x="609600" y="2457450"/>
            <a:ext cx="3505200" cy="2667000"/>
          </a:xfrm>
          <a:prstGeom xmlns:a="http://schemas.openxmlformats.org/drawingml/2006/main" prst="roundRect">
            <a:avLst>
              <a:gd name="adj" fmla="val 7857"/>
            </a:avLst>
          </a:prstGeom>
          <a:solidFill xmlns:a="http://schemas.openxmlformats.org/drawingml/2006/main">
            <a:srgbClr val="FFFFFF"/>
          </a:solidFill>
          <a:ln xmlns:a="http://schemas.openxmlformats.org/drawingml/2006/main" w="0">
            <a:noFill/>
            <a:prstDash val="solid"/>
          </a:ln>
        </p:spPr>
      </p:sp>
      <p:sp>
        <p:nvSpPr>
          <p:cNvPr id="8" name="opportunity-rule-1">
            <a:extLst xmlns:a="http://schemas.openxmlformats.org/drawingml/2006/main">
              <a:ext uri="{FF2B5EF4-FFF2-40B4-BE49-F238E27FC236}">
                <a16:creationId xmlns:a16="http://schemas.microsoft.com/office/drawing/2014/main" id="{54511E2C-37AC-43A8-A1BE-5EED288B72E5}"/>
              </a:ext>
            </a:extLst>
          </p:cNvPr>
          <p:cNvSpPr>
            <a:spLocks xmlns:a="http://schemas.openxmlformats.org/drawingml/2006/main" noGrp="1"/>
          </p:cNvSpPr>
          <p:nvPr/>
        </p:nvSpPr>
        <p:spPr>
          <a:xfrm xmlns:a="http://schemas.openxmlformats.org/drawingml/2006/main">
            <a:off x="857250" y="2705100"/>
            <a:ext cx="400050" cy="38100"/>
          </a:xfrm>
          <a:prstGeom xmlns:a="http://schemas.openxmlformats.org/drawingml/2006/main" prst="roundRect">
            <a:avLst>
              <a:gd name="adj" fmla="val 50000"/>
            </a:avLst>
          </a:prstGeom>
          <a:solidFill xmlns:a="http://schemas.openxmlformats.org/drawingml/2006/main">
            <a:srgbClr val="9B7AC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2CAA524-B2B2-4E3C-A370-ED5B9E3C97F8}"/>
              </a:ext>
            </a:extLst>
          </p:cNvPr>
          <p:cNvSpPr>
            <a:spLocks xmlns:a="http://schemas.openxmlformats.org/drawingml/2006/main" noGrp="1"/>
          </p:cNvSpPr>
          <p:nvPr/>
        </p:nvSpPr>
        <p:spPr>
          <a:xfrm xmlns:a="http://schemas.openxmlformats.org/drawingml/2006/main">
            <a:off x="857250" y="2914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1">
                <a:solidFill>
                  <a:srgbClr val="7354A4"/>
                </a:solidFill>
                <a:latin typeface="Avenir Next"/>
                <a:ea typeface="Avenir Next"/>
                <a:cs typeface="Avenir Next"/>
              </a:defRPr>
            </a:defPPr>
          </a:lstStyle>
          <a:p xmlns:a="http://schemas.openxmlformats.org/drawingml/2006/main">
            <a:pPr algn="l">
              <a:defRPr sz="975" b="1">
                <a:solidFill>
                  <a:srgbClr val="7354A4"/>
                </a:solidFill>
                <a:latin typeface="Avenir Next"/>
                <a:ea typeface="Avenir Next"/>
                <a:cs typeface="Avenir Next"/>
              </a:defRPr>
            </a:pPr>
            <a:r>
              <a:rPr sz="975" b="1">
                <a:solidFill>
                  <a:srgbClr val="7354A4"/>
                </a:solidFill>
                <a:latin typeface="Avenir Next"/>
                <a:ea typeface="Avenir Next"/>
                <a:cs typeface="Avenir Next"/>
              </a:rPr>
              <a:t>01</a:t>
            </a:r>
          </a:p>
        </p:txBody>
      </p:sp>
      <p:sp>
        <p:nvSpPr>
          <p:cNvPr id="10" name="">
            <a:extLst xmlns:a="http://schemas.openxmlformats.org/drawingml/2006/main">
              <a:ext uri="{FF2B5EF4-FFF2-40B4-BE49-F238E27FC236}">
                <a16:creationId xmlns:a16="http://schemas.microsoft.com/office/drawing/2014/main" id="{2138C569-75BE-4A8D-B933-974C28784D75}"/>
              </a:ext>
            </a:extLst>
          </p:cNvPr>
          <p:cNvSpPr>
            <a:spLocks xmlns:a="http://schemas.openxmlformats.org/drawingml/2006/main" noGrp="1"/>
          </p:cNvSpPr>
          <p:nvPr/>
        </p:nvSpPr>
        <p:spPr>
          <a:xfrm xmlns:a="http://schemas.openxmlformats.org/drawingml/2006/main">
            <a:off x="857250" y="337185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550" b="1">
                <a:solidFill>
                  <a:srgbClr val="261A2C"/>
                </a:solidFill>
                <a:latin typeface="Avenir Next"/>
                <a:ea typeface="Avenir Next"/>
                <a:cs typeface="Avenir Next"/>
              </a:defRPr>
            </a:defPPr>
          </a:lstStyle>
          <a:p xmlns:a="http://schemas.openxmlformats.org/drawingml/2006/main">
            <a:pPr algn="l">
              <a:defRPr sz="2550" b="1">
                <a:solidFill>
                  <a:srgbClr val="261A2C"/>
                </a:solidFill>
                <a:latin typeface="Avenir Next"/>
                <a:ea typeface="Avenir Next"/>
                <a:cs typeface="Avenir Next"/>
              </a:defRPr>
            </a:pPr>
            <a:r>
              <a:rPr sz="2550" b="1">
                <a:solidFill>
                  <a:srgbClr val="261A2C"/>
                </a:solidFill>
                <a:latin typeface="Avenir Next"/>
                <a:ea typeface="Avenir Next"/>
                <a:cs typeface="Avenir Next"/>
              </a:rPr>
              <a:t>Trust</a:t>
            </a:r>
          </a:p>
        </p:txBody>
      </p:sp>
      <p:sp>
        <p:nvSpPr>
          <p:cNvPr id="11" name="">
            <a:extLst xmlns:a="http://schemas.openxmlformats.org/drawingml/2006/main">
              <a:ext uri="{FF2B5EF4-FFF2-40B4-BE49-F238E27FC236}">
                <a16:creationId xmlns:a16="http://schemas.microsoft.com/office/drawing/2014/main" id="{789E93E5-284D-4611-95A8-D634D15081E7}"/>
              </a:ext>
            </a:extLst>
          </p:cNvPr>
          <p:cNvSpPr>
            <a:spLocks xmlns:a="http://schemas.openxmlformats.org/drawingml/2006/main" noGrp="1"/>
          </p:cNvSpPr>
          <p:nvPr/>
        </p:nvSpPr>
        <p:spPr>
          <a:xfrm xmlns:a="http://schemas.openxmlformats.org/drawingml/2006/main">
            <a:off x="857250" y="4010025"/>
            <a:ext cx="29908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0">
                <a:solidFill>
                  <a:srgbClr val="746B79"/>
                </a:solidFill>
                <a:latin typeface="Avenir Next"/>
                <a:ea typeface="Avenir Next"/>
                <a:cs typeface="Avenir Next"/>
              </a:defRPr>
            </a:defPPr>
          </a:lstStyle>
          <a:p xmlns:a="http://schemas.openxmlformats.org/drawingml/2006/main">
            <a:pPr algn="l">
              <a:defRPr sz="1500" b="0">
                <a:solidFill>
                  <a:srgbClr val="746B79"/>
                </a:solidFill>
                <a:latin typeface="Avenir Next"/>
                <a:ea typeface="Avenir Next"/>
                <a:cs typeface="Avenir Next"/>
              </a:defRPr>
            </a:pPr>
            <a:r>
              <a:rPr sz="1500" b="0">
                <a:solidFill>
                  <a:srgbClr val="746B79"/>
                </a:solidFill>
                <a:latin typeface="Avenir Next"/>
                <a:ea typeface="Avenir Next"/>
                <a:cs typeface="Avenir Next"/>
              </a:rPr>
              <a:t>What makes people believe</a:t>
            </a:r>
          </a:p>
          <a:p xmlns:a="http://schemas.openxmlformats.org/drawingml/2006/main">
            <a:pPr algn="l">
              <a:defRPr sz="1500" b="0">
                <a:solidFill>
                  <a:srgbClr val="746B79"/>
                </a:solidFill>
                <a:latin typeface="Avenir Next"/>
                <a:ea typeface="Avenir Next"/>
                <a:cs typeface="Avenir Next"/>
              </a:defRPr>
            </a:pPr>
            <a:r>
              <a:rPr sz="1500" b="0">
                <a:solidFill>
                  <a:srgbClr val="746B79"/>
                </a:solidFill>
                <a:latin typeface="Avenir Next"/>
                <a:ea typeface="Avenir Next"/>
                <a:cs typeface="Avenir Next"/>
              </a:rPr>
              <a:t>a product will deliver?</a:t>
            </a:r>
          </a:p>
        </p:txBody>
      </p:sp>
      <p:sp>
        <p:nvSpPr>
          <p:cNvPr id="12" name="opportunity-card-2">
            <a:extLst xmlns:a="http://schemas.openxmlformats.org/drawingml/2006/main">
              <a:ext uri="{FF2B5EF4-FFF2-40B4-BE49-F238E27FC236}">
                <a16:creationId xmlns:a16="http://schemas.microsoft.com/office/drawing/2014/main" id="{895BD246-A2EF-4CA1-A98B-F3E8A471B7D5}"/>
              </a:ext>
            </a:extLst>
          </p:cNvPr>
          <p:cNvSpPr>
            <a:spLocks xmlns:a="http://schemas.openxmlformats.org/drawingml/2006/main" noGrp="1"/>
          </p:cNvSpPr>
          <p:nvPr/>
        </p:nvSpPr>
        <p:spPr>
          <a:xfrm xmlns:a="http://schemas.openxmlformats.org/drawingml/2006/main">
            <a:off x="4343400" y="2457450"/>
            <a:ext cx="3505200" cy="2667000"/>
          </a:xfrm>
          <a:prstGeom xmlns:a="http://schemas.openxmlformats.org/drawingml/2006/main" prst="roundRect">
            <a:avLst>
              <a:gd name="adj" fmla="val 7857"/>
            </a:avLst>
          </a:prstGeom>
          <a:solidFill xmlns:a="http://schemas.openxmlformats.org/drawingml/2006/main">
            <a:srgbClr val="FFFFFF"/>
          </a:solidFill>
          <a:ln xmlns:a="http://schemas.openxmlformats.org/drawingml/2006/main" w="0">
            <a:noFill/>
            <a:prstDash val="solid"/>
          </a:ln>
        </p:spPr>
      </p:sp>
      <p:sp>
        <p:nvSpPr>
          <p:cNvPr id="13" name="opportunity-rule-2">
            <a:extLst xmlns:a="http://schemas.openxmlformats.org/drawingml/2006/main">
              <a:ext uri="{FF2B5EF4-FFF2-40B4-BE49-F238E27FC236}">
                <a16:creationId xmlns:a16="http://schemas.microsoft.com/office/drawing/2014/main" id="{F542255E-0F51-4BA9-9A4E-CC4B36326F4A}"/>
              </a:ext>
            </a:extLst>
          </p:cNvPr>
          <p:cNvSpPr>
            <a:spLocks xmlns:a="http://schemas.openxmlformats.org/drawingml/2006/main" noGrp="1"/>
          </p:cNvSpPr>
          <p:nvPr/>
        </p:nvSpPr>
        <p:spPr>
          <a:xfrm xmlns:a="http://schemas.openxmlformats.org/drawingml/2006/main">
            <a:off x="4591050" y="2705100"/>
            <a:ext cx="400050" cy="38100"/>
          </a:xfrm>
          <a:prstGeom xmlns:a="http://schemas.openxmlformats.org/drawingml/2006/main" prst="roundRect">
            <a:avLst>
              <a:gd name="adj" fmla="val 50000"/>
            </a:avLst>
          </a:prstGeom>
          <a:solidFill xmlns:a="http://schemas.openxmlformats.org/drawingml/2006/main">
            <a:srgbClr val="AEE8C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9215B4C-D6D5-44DF-B4BC-7178D2766D09}"/>
              </a:ext>
            </a:extLst>
          </p:cNvPr>
          <p:cNvSpPr>
            <a:spLocks xmlns:a="http://schemas.openxmlformats.org/drawingml/2006/main" noGrp="1"/>
          </p:cNvSpPr>
          <p:nvPr/>
        </p:nvSpPr>
        <p:spPr>
          <a:xfrm xmlns:a="http://schemas.openxmlformats.org/drawingml/2006/main">
            <a:off x="4591050" y="2914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1">
                <a:solidFill>
                  <a:srgbClr val="7354A4"/>
                </a:solidFill>
                <a:latin typeface="Avenir Next"/>
                <a:ea typeface="Avenir Next"/>
                <a:cs typeface="Avenir Next"/>
              </a:defRPr>
            </a:defPPr>
          </a:lstStyle>
          <a:p xmlns:a="http://schemas.openxmlformats.org/drawingml/2006/main">
            <a:pPr algn="l">
              <a:defRPr sz="975" b="1">
                <a:solidFill>
                  <a:srgbClr val="7354A4"/>
                </a:solidFill>
                <a:latin typeface="Avenir Next"/>
                <a:ea typeface="Avenir Next"/>
                <a:cs typeface="Avenir Next"/>
              </a:defRPr>
            </a:pPr>
            <a:r>
              <a:rPr sz="975" b="1">
                <a:solidFill>
                  <a:srgbClr val="7354A4"/>
                </a:solidFill>
                <a:latin typeface="Avenir Next"/>
                <a:ea typeface="Avenir Next"/>
                <a:cs typeface="Avenir Next"/>
              </a:rPr>
              <a:t>02</a:t>
            </a:r>
          </a:p>
        </p:txBody>
      </p:sp>
      <p:sp>
        <p:nvSpPr>
          <p:cNvPr id="15" name="">
            <a:extLst xmlns:a="http://schemas.openxmlformats.org/drawingml/2006/main">
              <a:ext uri="{FF2B5EF4-FFF2-40B4-BE49-F238E27FC236}">
                <a16:creationId xmlns:a16="http://schemas.microsoft.com/office/drawing/2014/main" id="{D3ACBB64-D3D8-484C-9123-FB5BB6100AA9}"/>
              </a:ext>
            </a:extLst>
          </p:cNvPr>
          <p:cNvSpPr>
            <a:spLocks xmlns:a="http://schemas.openxmlformats.org/drawingml/2006/main" noGrp="1"/>
          </p:cNvSpPr>
          <p:nvPr/>
        </p:nvSpPr>
        <p:spPr>
          <a:xfrm xmlns:a="http://schemas.openxmlformats.org/drawingml/2006/main">
            <a:off x="4591050" y="337185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550" b="1">
                <a:solidFill>
                  <a:srgbClr val="261A2C"/>
                </a:solidFill>
                <a:latin typeface="Avenir Next"/>
                <a:ea typeface="Avenir Next"/>
                <a:cs typeface="Avenir Next"/>
              </a:defRPr>
            </a:defPPr>
          </a:lstStyle>
          <a:p xmlns:a="http://schemas.openxmlformats.org/drawingml/2006/main">
            <a:pPr algn="l">
              <a:defRPr sz="2550" b="1">
                <a:solidFill>
                  <a:srgbClr val="261A2C"/>
                </a:solidFill>
                <a:latin typeface="Avenir Next"/>
                <a:ea typeface="Avenir Next"/>
                <a:cs typeface="Avenir Next"/>
              </a:defRPr>
            </a:pPr>
            <a:r>
              <a:rPr sz="2550" b="1">
                <a:solidFill>
                  <a:srgbClr val="261A2C"/>
                </a:solidFill>
                <a:latin typeface="Avenir Next"/>
                <a:ea typeface="Avenir Next"/>
                <a:cs typeface="Avenir Next"/>
              </a:rPr>
              <a:t>Reach</a:t>
            </a:r>
          </a:p>
        </p:txBody>
      </p:sp>
      <p:sp>
        <p:nvSpPr>
          <p:cNvPr id="16" name="">
            <a:extLst xmlns:a="http://schemas.openxmlformats.org/drawingml/2006/main">
              <a:ext uri="{FF2B5EF4-FFF2-40B4-BE49-F238E27FC236}">
                <a16:creationId xmlns:a16="http://schemas.microsoft.com/office/drawing/2014/main" id="{7968C718-4070-4884-AAB6-51F714702161}"/>
              </a:ext>
            </a:extLst>
          </p:cNvPr>
          <p:cNvSpPr>
            <a:spLocks xmlns:a="http://schemas.openxmlformats.org/drawingml/2006/main" noGrp="1"/>
          </p:cNvSpPr>
          <p:nvPr/>
        </p:nvSpPr>
        <p:spPr>
          <a:xfrm xmlns:a="http://schemas.openxmlformats.org/drawingml/2006/main">
            <a:off x="4591050" y="4010025"/>
            <a:ext cx="29908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0">
                <a:solidFill>
                  <a:srgbClr val="746B79"/>
                </a:solidFill>
                <a:latin typeface="Avenir Next"/>
                <a:ea typeface="Avenir Next"/>
                <a:cs typeface="Avenir Next"/>
              </a:defRPr>
            </a:defPPr>
          </a:lstStyle>
          <a:p xmlns:a="http://schemas.openxmlformats.org/drawingml/2006/main">
            <a:pPr algn="l">
              <a:defRPr sz="1500" b="0">
                <a:solidFill>
                  <a:srgbClr val="746B79"/>
                </a:solidFill>
                <a:latin typeface="Avenir Next"/>
                <a:ea typeface="Avenir Next"/>
                <a:cs typeface="Avenir Next"/>
              </a:defRPr>
            </a:pPr>
            <a:r>
              <a:rPr sz="1500" b="0">
                <a:solidFill>
                  <a:srgbClr val="746B79"/>
                </a:solidFill>
                <a:latin typeface="Avenir Next"/>
                <a:ea typeface="Avenir Next"/>
                <a:cs typeface="Avenir Next"/>
              </a:rPr>
              <a:t>How does good work find</a:t>
            </a:r>
          </a:p>
          <a:p xmlns:a="http://schemas.openxmlformats.org/drawingml/2006/main">
            <a:pPr algn="l">
              <a:defRPr sz="1500" b="0">
                <a:solidFill>
                  <a:srgbClr val="746B79"/>
                </a:solidFill>
                <a:latin typeface="Avenir Next"/>
                <a:ea typeface="Avenir Next"/>
                <a:cs typeface="Avenir Next"/>
              </a:defRPr>
            </a:pPr>
            <a:r>
              <a:rPr sz="1500" b="0">
                <a:solidFill>
                  <a:srgbClr val="746B79"/>
                </a:solidFill>
                <a:latin typeface="Avenir Next"/>
                <a:ea typeface="Avenir Next"/>
                <a:cs typeface="Avenir Next"/>
              </a:rPr>
              <a:t>the people who need it?</a:t>
            </a:r>
          </a:p>
        </p:txBody>
      </p:sp>
      <p:sp>
        <p:nvSpPr>
          <p:cNvPr id="17" name="opportunity-card-3">
            <a:extLst xmlns:a="http://schemas.openxmlformats.org/drawingml/2006/main">
              <a:ext uri="{FF2B5EF4-FFF2-40B4-BE49-F238E27FC236}">
                <a16:creationId xmlns:a16="http://schemas.microsoft.com/office/drawing/2014/main" id="{2EF8B03F-9173-45D0-93F5-27EE46106B8E}"/>
              </a:ext>
            </a:extLst>
          </p:cNvPr>
          <p:cNvSpPr>
            <a:spLocks xmlns:a="http://schemas.openxmlformats.org/drawingml/2006/main" noGrp="1"/>
          </p:cNvSpPr>
          <p:nvPr/>
        </p:nvSpPr>
        <p:spPr>
          <a:xfrm xmlns:a="http://schemas.openxmlformats.org/drawingml/2006/main">
            <a:off x="8077200" y="2457450"/>
            <a:ext cx="3505200" cy="2667000"/>
          </a:xfrm>
          <a:prstGeom xmlns:a="http://schemas.openxmlformats.org/drawingml/2006/main" prst="roundRect">
            <a:avLst>
              <a:gd name="adj" fmla="val 7857"/>
            </a:avLst>
          </a:prstGeom>
          <a:solidFill xmlns:a="http://schemas.openxmlformats.org/drawingml/2006/main">
            <a:srgbClr val="FFFFFF"/>
          </a:solidFill>
          <a:ln xmlns:a="http://schemas.openxmlformats.org/drawingml/2006/main" w="0">
            <a:noFill/>
            <a:prstDash val="solid"/>
          </a:ln>
        </p:spPr>
      </p:sp>
      <p:sp>
        <p:nvSpPr>
          <p:cNvPr id="18" name="opportunity-rule-3">
            <a:extLst xmlns:a="http://schemas.openxmlformats.org/drawingml/2006/main">
              <a:ext uri="{FF2B5EF4-FFF2-40B4-BE49-F238E27FC236}">
                <a16:creationId xmlns:a16="http://schemas.microsoft.com/office/drawing/2014/main" id="{1257BB4E-622C-4095-9FBF-987F85FB3D73}"/>
              </a:ext>
            </a:extLst>
          </p:cNvPr>
          <p:cNvSpPr>
            <a:spLocks xmlns:a="http://schemas.openxmlformats.org/drawingml/2006/main" noGrp="1"/>
          </p:cNvSpPr>
          <p:nvPr/>
        </p:nvSpPr>
        <p:spPr>
          <a:xfrm xmlns:a="http://schemas.openxmlformats.org/drawingml/2006/main">
            <a:off x="8324850" y="2705100"/>
            <a:ext cx="400050" cy="38100"/>
          </a:xfrm>
          <a:prstGeom xmlns:a="http://schemas.openxmlformats.org/drawingml/2006/main" prst="roundRect">
            <a:avLst>
              <a:gd name="adj" fmla="val 50000"/>
            </a:avLst>
          </a:prstGeom>
          <a:solidFill xmlns:a="http://schemas.openxmlformats.org/drawingml/2006/main">
            <a:srgbClr val="9B7AC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A7AC68B-A0E1-4220-BC1A-203FC94A369A}"/>
              </a:ext>
            </a:extLst>
          </p:cNvPr>
          <p:cNvSpPr>
            <a:spLocks xmlns:a="http://schemas.openxmlformats.org/drawingml/2006/main" noGrp="1"/>
          </p:cNvSpPr>
          <p:nvPr/>
        </p:nvSpPr>
        <p:spPr>
          <a:xfrm xmlns:a="http://schemas.openxmlformats.org/drawingml/2006/main">
            <a:off x="8324850" y="2914650"/>
            <a:ext cx="533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1">
                <a:solidFill>
                  <a:srgbClr val="7354A4"/>
                </a:solidFill>
                <a:latin typeface="Avenir Next"/>
                <a:ea typeface="Avenir Next"/>
                <a:cs typeface="Avenir Next"/>
              </a:defRPr>
            </a:defPPr>
          </a:lstStyle>
          <a:p xmlns:a="http://schemas.openxmlformats.org/drawingml/2006/main">
            <a:pPr algn="l">
              <a:defRPr sz="975" b="1">
                <a:solidFill>
                  <a:srgbClr val="7354A4"/>
                </a:solidFill>
                <a:latin typeface="Avenir Next"/>
                <a:ea typeface="Avenir Next"/>
                <a:cs typeface="Avenir Next"/>
              </a:defRPr>
            </a:pPr>
            <a:r>
              <a:rPr sz="975" b="1">
                <a:solidFill>
                  <a:srgbClr val="7354A4"/>
                </a:solidFill>
                <a:latin typeface="Avenir Next"/>
                <a:ea typeface="Avenir Next"/>
                <a:cs typeface="Avenir Next"/>
              </a:rPr>
              <a:t>03</a:t>
            </a:r>
          </a:p>
        </p:txBody>
      </p:sp>
      <p:sp>
        <p:nvSpPr>
          <p:cNvPr id="20" name="">
            <a:extLst xmlns:a="http://schemas.openxmlformats.org/drawingml/2006/main">
              <a:ext uri="{FF2B5EF4-FFF2-40B4-BE49-F238E27FC236}">
                <a16:creationId xmlns:a16="http://schemas.microsoft.com/office/drawing/2014/main" id="{EA64CC6A-7DF4-40A3-867E-E973CBBAACF6}"/>
              </a:ext>
            </a:extLst>
          </p:cNvPr>
          <p:cNvSpPr>
            <a:spLocks xmlns:a="http://schemas.openxmlformats.org/drawingml/2006/main" noGrp="1"/>
          </p:cNvSpPr>
          <p:nvPr/>
        </p:nvSpPr>
        <p:spPr>
          <a:xfrm xmlns:a="http://schemas.openxmlformats.org/drawingml/2006/main">
            <a:off x="8324850" y="3371850"/>
            <a:ext cx="2952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550" b="1">
                <a:solidFill>
                  <a:srgbClr val="261A2C"/>
                </a:solidFill>
                <a:latin typeface="Avenir Next"/>
                <a:ea typeface="Avenir Next"/>
                <a:cs typeface="Avenir Next"/>
              </a:defRPr>
            </a:defPPr>
          </a:lstStyle>
          <a:p xmlns:a="http://schemas.openxmlformats.org/drawingml/2006/main">
            <a:pPr algn="l">
              <a:defRPr sz="2550" b="1">
                <a:solidFill>
                  <a:srgbClr val="261A2C"/>
                </a:solidFill>
                <a:latin typeface="Avenir Next"/>
                <a:ea typeface="Avenir Next"/>
                <a:cs typeface="Avenir Next"/>
              </a:defRPr>
            </a:pPr>
            <a:r>
              <a:rPr sz="2550" b="1">
                <a:solidFill>
                  <a:srgbClr val="261A2C"/>
                </a:solidFill>
                <a:latin typeface="Avenir Next"/>
                <a:ea typeface="Avenir Next"/>
                <a:cs typeface="Avenir Next"/>
              </a:rPr>
              <a:t>Business</a:t>
            </a:r>
          </a:p>
        </p:txBody>
      </p:sp>
      <p:sp>
        <p:nvSpPr>
          <p:cNvPr id="21" name="">
            <a:extLst xmlns:a="http://schemas.openxmlformats.org/drawingml/2006/main">
              <a:ext uri="{FF2B5EF4-FFF2-40B4-BE49-F238E27FC236}">
                <a16:creationId xmlns:a16="http://schemas.microsoft.com/office/drawing/2014/main" id="{816F066D-5D85-4E89-843C-4BEDE090C5EB}"/>
              </a:ext>
            </a:extLst>
          </p:cNvPr>
          <p:cNvSpPr>
            <a:spLocks xmlns:a="http://schemas.openxmlformats.org/drawingml/2006/main" noGrp="1"/>
          </p:cNvSpPr>
          <p:nvPr/>
        </p:nvSpPr>
        <p:spPr>
          <a:xfrm xmlns:a="http://schemas.openxmlformats.org/drawingml/2006/main">
            <a:off x="8324850" y="4010025"/>
            <a:ext cx="29908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0">
                <a:solidFill>
                  <a:srgbClr val="746B79"/>
                </a:solidFill>
                <a:latin typeface="Avenir Next"/>
                <a:ea typeface="Avenir Next"/>
                <a:cs typeface="Avenir Next"/>
              </a:defRPr>
            </a:defPPr>
          </a:lstStyle>
          <a:p xmlns:a="http://schemas.openxmlformats.org/drawingml/2006/main">
            <a:pPr algn="l">
              <a:defRPr sz="1500" b="0">
                <a:solidFill>
                  <a:srgbClr val="746B79"/>
                </a:solidFill>
                <a:latin typeface="Avenir Next"/>
                <a:ea typeface="Avenir Next"/>
                <a:cs typeface="Avenir Next"/>
              </a:defRPr>
            </a:pPr>
            <a:r>
              <a:rPr sz="1500" b="0">
                <a:solidFill>
                  <a:srgbClr val="746B79"/>
                </a:solidFill>
                <a:latin typeface="Avenir Next"/>
                <a:ea typeface="Avenir Next"/>
                <a:cs typeface="Avenir Next"/>
              </a:rPr>
              <a:t>How do teams explain value,</a:t>
            </a:r>
          </a:p>
          <a:p xmlns:a="http://schemas.openxmlformats.org/drawingml/2006/main">
            <a:pPr algn="l">
              <a:defRPr sz="1500" b="0">
                <a:solidFill>
                  <a:srgbClr val="746B79"/>
                </a:solidFill>
                <a:latin typeface="Avenir Next"/>
                <a:ea typeface="Avenir Next"/>
                <a:cs typeface="Avenir Next"/>
              </a:defRPr>
            </a:pPr>
            <a:r>
              <a:rPr sz="1500" b="0">
                <a:solidFill>
                  <a:srgbClr val="746B79"/>
                </a:solidFill>
                <a:latin typeface="Avenir Next"/>
                <a:ea typeface="Avenir Next"/>
                <a:cs typeface="Avenir Next"/>
              </a:rPr>
              <a:t>price fairly and keep moving?</a:t>
            </a:r>
          </a:p>
        </p:txBody>
      </p:sp>
      <p:sp>
        <p:nvSpPr>
          <p:cNvPr id="22" name="">
            <a:extLst xmlns:a="http://schemas.openxmlformats.org/drawingml/2006/main">
              <a:ext uri="{FF2B5EF4-FFF2-40B4-BE49-F238E27FC236}">
                <a16:creationId xmlns:a16="http://schemas.microsoft.com/office/drawing/2014/main" id="{AC95C4CD-AD24-422E-8685-CF658D7985C9}"/>
              </a:ext>
            </a:extLst>
          </p:cNvPr>
          <p:cNvSpPr>
            <a:spLocks xmlns:a="http://schemas.openxmlformats.org/drawingml/2006/main" noGrp="1"/>
          </p:cNvSpPr>
          <p:nvPr/>
        </p:nvSpPr>
        <p:spPr>
          <a:xfrm xmlns:a="http://schemas.openxmlformats.org/drawingml/2006/main">
            <a:off x="628650" y="5467350"/>
            <a:ext cx="876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725" b="1">
                <a:solidFill>
                  <a:srgbClr val="7354A4"/>
                </a:solidFill>
                <a:latin typeface="Avenir Next"/>
                <a:ea typeface="Avenir Next"/>
                <a:cs typeface="Avenir Next"/>
              </a:defRPr>
            </a:defPPr>
          </a:lstStyle>
          <a:p xmlns:a="http://schemas.openxmlformats.org/drawingml/2006/main">
            <a:pPr algn="l">
              <a:defRPr sz="1725" b="1">
                <a:solidFill>
                  <a:srgbClr val="7354A4"/>
                </a:solidFill>
                <a:latin typeface="Avenir Next"/>
                <a:ea typeface="Avenir Next"/>
                <a:cs typeface="Avenir Next"/>
              </a:defRPr>
            </a:pPr>
            <a:r>
              <a:rPr sz="1725" b="1">
                <a:solidFill>
                  <a:srgbClr val="7354A4"/>
                </a:solidFill>
                <a:latin typeface="Avenir Next"/>
                <a:ea typeface="Avenir Next"/>
                <a:cs typeface="Avenir Next"/>
              </a:rPr>
              <a:t>Everything that happens after the code.</a:t>
            </a:r>
          </a:p>
        </p:txBody>
      </p:sp>
    </p:spTree>
    <p:extLst>
      <p:ext uri="{BB962C8B-B14F-4D97-AF65-F5344CB8AC3E}">
        <p14:creationId xmlns:p14="http://schemas.microsoft.com/office/powerpoint/2010/main" val="641764476"/>
      </p:ext>
    </p:extLst>
  </p:cSld>
</p:sld>
</file>

<file path=ppt/slides/slide3.xml><?xml version="1.0" encoding="utf-8"?>
<p:sld xmlns:p="http://schemas.openxmlformats.org/presentationml/2006/main">
  <p:cSld>
    <p:bg>
      <p:bgPr>
        <a:solidFill xmlns:a="http://schemas.openxmlformats.org/drawingml/2006/main">
          <a:srgbClr val="FAF8FC"/>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98A29F91-02FD-453D-8F2B-3822CFC6045D}"/>
              </a:ext>
            </a:extLst>
          </p:cNvPr>
          <p:cNvSpPr>
            <a:spLocks xmlns:a="http://schemas.openxmlformats.org/drawingml/2006/main" noGrp="1"/>
          </p:cNvSpPr>
          <p:nvPr/>
        </p:nvSpPr>
        <p:spPr>
          <a:xfrm xmlns:a="http://schemas.openxmlformats.org/drawingml/2006/main">
            <a:off x="609600" y="4572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7354A4"/>
                </a:solidFill>
                <a:latin typeface="Avenir Next"/>
                <a:ea typeface="Avenir Next"/>
                <a:cs typeface="Avenir Next"/>
              </a:defRPr>
            </a:defPPr>
          </a:lstStyle>
          <a:p xmlns:a="http://schemas.openxmlformats.org/drawingml/2006/main">
            <a:pPr algn="l">
              <a:defRPr sz="900" b="1">
                <a:solidFill>
                  <a:srgbClr val="7354A4"/>
                </a:solidFill>
                <a:latin typeface="Avenir Next"/>
                <a:ea typeface="Avenir Next"/>
                <a:cs typeface="Avenir Next"/>
              </a:defRPr>
            </a:pPr>
            <a:r>
              <a:rPr sz="900" b="1">
                <a:solidFill>
                  <a:srgbClr val="7354A4"/>
                </a:solidFill>
                <a:latin typeface="Avenir Next"/>
                <a:ea typeface="Avenir Next"/>
                <a:cs typeface="Avenir Next"/>
              </a:rPr>
              <a:t>THE GATHERING</a:t>
            </a:r>
          </a:p>
        </p:txBody>
      </p:sp>
      <p:sp>
        <p:nvSpPr>
          <p:cNvPr id="2" name="">
            <a:extLst xmlns:a="http://schemas.openxmlformats.org/drawingml/2006/main">
              <a:ext uri="{FF2B5EF4-FFF2-40B4-BE49-F238E27FC236}">
                <a16:creationId xmlns:a16="http://schemas.microsoft.com/office/drawing/2014/main" id="{F9B0550A-95A9-4F72-B5F5-50DABEC5D36D}"/>
              </a:ext>
            </a:extLst>
          </p:cNvPr>
          <p:cNvSpPr>
            <a:spLocks xmlns:a="http://schemas.openxmlformats.org/drawingml/2006/main" noGrp="1"/>
          </p:cNvSpPr>
          <p:nvPr/>
        </p:nvSpPr>
        <p:spPr>
          <a:xfrm xmlns:a="http://schemas.openxmlformats.org/drawingml/2006/main">
            <a:off x="609600" y="809625"/>
            <a:ext cx="10858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150" b="1">
                <a:solidFill>
                  <a:srgbClr val="261A2C"/>
                </a:solidFill>
                <a:latin typeface="Avenir Next"/>
                <a:ea typeface="Avenir Next"/>
                <a:cs typeface="Avenir Next"/>
              </a:defRPr>
            </a:defPPr>
          </a:lstStyle>
          <a:p xmlns:a="http://schemas.openxmlformats.org/drawingml/2006/main">
            <a:pPr algn="l">
              <a:defRPr sz="3150" b="1">
                <a:solidFill>
                  <a:srgbClr val="261A2C"/>
                </a:solidFill>
                <a:latin typeface="Avenir Next"/>
                <a:ea typeface="Avenir Next"/>
                <a:cs typeface="Avenir Next"/>
              </a:defRPr>
            </a:pPr>
            <a:r>
              <a:rPr sz="3150" b="1">
                <a:solidFill>
                  <a:srgbClr val="261A2C"/>
                </a:solidFill>
                <a:latin typeface="Avenir Next"/>
                <a:ea typeface="Avenir Next"/>
                <a:cs typeface="Avenir Next"/>
              </a:rPr>
              <a:t>One room. One focused day.</a:t>
            </a:r>
          </a:p>
        </p:txBody>
      </p:sp>
      <p:sp>
        <p:nvSpPr>
          <p:cNvPr id="3" name="">
            <a:extLst xmlns:a="http://schemas.openxmlformats.org/drawingml/2006/main">
              <a:ext uri="{FF2B5EF4-FFF2-40B4-BE49-F238E27FC236}">
                <a16:creationId xmlns:a16="http://schemas.microsoft.com/office/drawing/2014/main" id="{C27EA9C7-341B-48C7-86ED-F04A6B5E9556}"/>
              </a:ext>
            </a:extLst>
          </p:cNvPr>
          <p:cNvSpPr>
            <a:spLocks xmlns:a="http://schemas.openxmlformats.org/drawingml/2006/main" noGrp="1"/>
          </p:cNvSpPr>
          <p:nvPr/>
        </p:nvSpPr>
        <p:spPr>
          <a:xfrm xmlns:a="http://schemas.openxmlformats.org/drawingml/2006/main">
            <a:off x="628650" y="152400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25" b="0">
                <a:solidFill>
                  <a:srgbClr val="746B79"/>
                </a:solidFill>
                <a:latin typeface="Avenir Next"/>
                <a:ea typeface="Avenir Next"/>
                <a:cs typeface="Avenir Next"/>
              </a:defRPr>
            </a:defPPr>
          </a:lstStyle>
          <a:p xmlns:a="http://schemas.openxmlformats.org/drawingml/2006/main">
            <a:pPr algn="l">
              <a:defRPr sz="1425" b="0">
                <a:solidFill>
                  <a:srgbClr val="746B79"/>
                </a:solidFill>
                <a:latin typeface="Avenir Next"/>
                <a:ea typeface="Avenir Next"/>
                <a:cs typeface="Avenir Next"/>
              </a:defRPr>
            </a:pPr>
            <a:r>
              <a:rPr sz="1425" b="0">
                <a:solidFill>
                  <a:srgbClr val="746B79"/>
                </a:solidFill>
                <a:latin typeface="Avenir Next"/>
                <a:ea typeface="Avenir Next"/>
                <a:cs typeface="Avenir Next"/>
              </a:rPr>
              <a:t>A small, high-participation event for people doing the work across tech.</a:t>
            </a:r>
          </a:p>
        </p:txBody>
      </p:sp>
      <p:sp>
        <p:nvSpPr>
          <p:cNvPr id="4" name="footer-rule-3">
            <a:extLst xmlns:a="http://schemas.openxmlformats.org/drawingml/2006/main">
              <a:ext uri="{FF2B5EF4-FFF2-40B4-BE49-F238E27FC236}">
                <a16:creationId xmlns:a16="http://schemas.microsoft.com/office/drawing/2014/main" id="{63B7D451-E3E8-47B6-A416-F02151A1038A}"/>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E7E0E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D8E2A4D-E6B3-4AB0-B072-5354C8BF19D3}"/>
              </a:ext>
            </a:extLst>
          </p:cNvPr>
          <p:cNvSpPr>
            <a:spLocks xmlns:a="http://schemas.openxmlformats.org/drawingml/2006/main" noGrp="1"/>
          </p:cNvSpPr>
          <p:nvPr/>
        </p:nvSpPr>
        <p:spPr>
          <a:xfrm xmlns:a="http://schemas.openxmlformats.org/drawingml/2006/main">
            <a:off x="609600" y="6553200"/>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1">
                <a:solidFill>
                  <a:srgbClr val="746B79"/>
                </a:solidFill>
                <a:latin typeface="Avenir Next"/>
                <a:ea typeface="Avenir Next"/>
                <a:cs typeface="Avenir Next"/>
              </a:defRPr>
            </a:defPPr>
          </a:lstStyle>
          <a:p xmlns:a="http://schemas.openxmlformats.org/drawingml/2006/main">
            <a:pPr algn="l">
              <a:defRPr sz="825" b="1">
                <a:solidFill>
                  <a:srgbClr val="746B79"/>
                </a:solidFill>
                <a:latin typeface="Avenir Next"/>
                <a:ea typeface="Avenir Next"/>
                <a:cs typeface="Avenir Next"/>
              </a:defRPr>
            </a:pPr>
            <a:r>
              <a:rPr sz="825" b="1">
                <a:solidFill>
                  <a:srgbClr val="746B79"/>
                </a:solidFill>
                <a:latin typeface="Avenir Next"/>
                <a:ea typeface="Avenir Next"/>
                <a:cs typeface="Avenir Next"/>
              </a:rPr>
              <a:t>BEYOND CODE 2027  /  SPEAKER INVITATION</a:t>
            </a:r>
          </a:p>
        </p:txBody>
      </p:sp>
      <p:sp>
        <p:nvSpPr>
          <p:cNvPr id="6" name="">
            <a:extLst xmlns:a="http://schemas.openxmlformats.org/drawingml/2006/main">
              <a:ext uri="{FF2B5EF4-FFF2-40B4-BE49-F238E27FC236}">
                <a16:creationId xmlns:a16="http://schemas.microsoft.com/office/drawing/2014/main" id="{646246AC-6F5B-4F12-B104-A9E047FEB37B}"/>
              </a:ext>
            </a:extLst>
          </p:cNvPr>
          <p:cNvSpPr>
            <a:spLocks xmlns:a="http://schemas.openxmlformats.org/drawingml/2006/main" noGrp="1"/>
          </p:cNvSpPr>
          <p:nvPr/>
        </p:nvSpPr>
        <p:spPr>
          <a:xfrm xmlns:a="http://schemas.openxmlformats.org/drawingml/2006/main">
            <a:off x="10572750" y="6543675"/>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1">
                <a:solidFill>
                  <a:srgbClr val="746B79"/>
                </a:solidFill>
                <a:latin typeface="Avenir Next"/>
                <a:ea typeface="Avenir Next"/>
                <a:cs typeface="Avenir Next"/>
              </a:defRPr>
            </a:defPPr>
          </a:lstStyle>
          <a:p xmlns:a="http://schemas.openxmlformats.org/drawingml/2006/main">
            <a:pPr algn="r">
              <a:defRPr sz="900" b="1">
                <a:solidFill>
                  <a:srgbClr val="746B79"/>
                </a:solidFill>
                <a:latin typeface="Avenir Next"/>
                <a:ea typeface="Avenir Next"/>
                <a:cs typeface="Avenir Next"/>
              </a:defRPr>
            </a:pPr>
            <a:r>
              <a:rPr sz="900" b="1">
                <a:solidFill>
                  <a:srgbClr val="746B79"/>
                </a:solidFill>
                <a:latin typeface="Avenir Next"/>
                <a:ea typeface="Avenir Next"/>
                <a:cs typeface="Avenir Next"/>
              </a:rPr>
              <a:t>03  /  09</a:t>
            </a:r>
          </a:p>
        </p:txBody>
      </p:sp>
      <p:sp>
        <p:nvSpPr>
          <p:cNvPr id="7" name="event-date-panel">
            <a:extLst xmlns:a="http://schemas.openxmlformats.org/drawingml/2006/main">
              <a:ext uri="{FF2B5EF4-FFF2-40B4-BE49-F238E27FC236}">
                <a16:creationId xmlns:a16="http://schemas.microsoft.com/office/drawing/2014/main" id="{E7BEA163-03B9-4743-A66A-597AFE1575BA}"/>
              </a:ext>
            </a:extLst>
          </p:cNvPr>
          <p:cNvSpPr>
            <a:spLocks xmlns:a="http://schemas.openxmlformats.org/drawingml/2006/main" noGrp="1"/>
          </p:cNvSpPr>
          <p:nvPr/>
        </p:nvSpPr>
        <p:spPr>
          <a:xfrm xmlns:a="http://schemas.openxmlformats.org/drawingml/2006/main">
            <a:off x="609600" y="2266950"/>
            <a:ext cx="5143500" cy="3429000"/>
          </a:xfrm>
          <a:prstGeom xmlns:a="http://schemas.openxmlformats.org/drawingml/2006/main" prst="roundRect">
            <a:avLst>
              <a:gd name="adj" fmla="val 6667"/>
            </a:avLst>
          </a:prstGeom>
          <a:solidFill xmlns:a="http://schemas.openxmlformats.org/drawingml/2006/main">
            <a:srgbClr val="28153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BC23E48-12D9-4751-B971-F2908E930941}"/>
              </a:ext>
            </a:extLst>
          </p:cNvPr>
          <p:cNvSpPr>
            <a:spLocks xmlns:a="http://schemas.openxmlformats.org/drawingml/2006/main" noGrp="1"/>
          </p:cNvSpPr>
          <p:nvPr/>
        </p:nvSpPr>
        <p:spPr>
          <a:xfrm xmlns:a="http://schemas.openxmlformats.org/drawingml/2006/main">
            <a:off x="914400" y="262890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1">
                <a:solidFill>
                  <a:srgbClr val="AEE8CE"/>
                </a:solidFill>
                <a:latin typeface="Avenir Next"/>
                <a:ea typeface="Avenir Next"/>
                <a:cs typeface="Avenir Next"/>
              </a:defRPr>
            </a:defPPr>
          </a:lstStyle>
          <a:p xmlns:a="http://schemas.openxmlformats.org/drawingml/2006/main">
            <a:pPr algn="l">
              <a:defRPr sz="1050" b="1">
                <a:solidFill>
                  <a:srgbClr val="AEE8CE"/>
                </a:solidFill>
                <a:latin typeface="Avenir Next"/>
                <a:ea typeface="Avenir Next"/>
                <a:cs typeface="Avenir Next"/>
              </a:defRPr>
            </a:pPr>
            <a:r>
              <a:rPr sz="1050" b="1">
                <a:solidFill>
                  <a:srgbClr val="AEE8CE"/>
                </a:solidFill>
                <a:latin typeface="Avenir Next"/>
                <a:ea typeface="Avenir Next"/>
                <a:cs typeface="Avenir Next"/>
              </a:rPr>
              <a:t>SATURDAY</a:t>
            </a:r>
          </a:p>
        </p:txBody>
      </p:sp>
      <p:sp>
        <p:nvSpPr>
          <p:cNvPr id="9" name="">
            <a:extLst xmlns:a="http://schemas.openxmlformats.org/drawingml/2006/main">
              <a:ext uri="{FF2B5EF4-FFF2-40B4-BE49-F238E27FC236}">
                <a16:creationId xmlns:a16="http://schemas.microsoft.com/office/drawing/2014/main" id="{F34463F4-1B04-479A-A9D1-2B2FB02AC9E4}"/>
              </a:ext>
            </a:extLst>
          </p:cNvPr>
          <p:cNvSpPr>
            <a:spLocks xmlns:a="http://schemas.openxmlformats.org/drawingml/2006/main" noGrp="1"/>
          </p:cNvSpPr>
          <p:nvPr/>
        </p:nvSpPr>
        <p:spPr>
          <a:xfrm xmlns:a="http://schemas.openxmlformats.org/drawingml/2006/main">
            <a:off x="857250" y="2933700"/>
            <a:ext cx="23812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400" b="1">
                <a:solidFill>
                  <a:srgbClr val="FFFFFF"/>
                </a:solidFill>
                <a:latin typeface="Avenir Next"/>
                <a:ea typeface="Avenir Next"/>
                <a:cs typeface="Avenir Next"/>
              </a:defRPr>
            </a:defPPr>
          </a:lstStyle>
          <a:p xmlns:a="http://schemas.openxmlformats.org/drawingml/2006/main">
            <a:pPr algn="l">
              <a:defRPr sz="8400" b="1">
                <a:solidFill>
                  <a:srgbClr val="FFFFFF"/>
                </a:solidFill>
                <a:latin typeface="Avenir Next"/>
                <a:ea typeface="Avenir Next"/>
                <a:cs typeface="Avenir Next"/>
              </a:defRPr>
            </a:pPr>
            <a:r>
              <a:rPr sz="8400" b="1">
                <a:solidFill>
                  <a:srgbClr val="FFFFFF"/>
                </a:solidFill>
                <a:latin typeface="Avenir Next"/>
                <a:ea typeface="Avenir Next"/>
                <a:cs typeface="Avenir Next"/>
              </a:rPr>
              <a:t>27</a:t>
            </a:r>
          </a:p>
        </p:txBody>
      </p:sp>
      <p:sp>
        <p:nvSpPr>
          <p:cNvPr id="10" name="">
            <a:extLst xmlns:a="http://schemas.openxmlformats.org/drawingml/2006/main">
              <a:ext uri="{FF2B5EF4-FFF2-40B4-BE49-F238E27FC236}">
                <a16:creationId xmlns:a16="http://schemas.microsoft.com/office/drawing/2014/main" id="{7449E9FF-EA75-4914-91A1-748736304B65}"/>
              </a:ext>
            </a:extLst>
          </p:cNvPr>
          <p:cNvSpPr>
            <a:spLocks xmlns:a="http://schemas.openxmlformats.org/drawingml/2006/main" noGrp="1"/>
          </p:cNvSpPr>
          <p:nvPr/>
        </p:nvSpPr>
        <p:spPr>
          <a:xfrm xmlns:a="http://schemas.openxmlformats.org/drawingml/2006/main">
            <a:off x="933450" y="4191000"/>
            <a:ext cx="3524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00" b="1">
                <a:solidFill>
                  <a:srgbClr val="FFFFFF"/>
                </a:solidFill>
                <a:latin typeface="Avenir Next"/>
                <a:ea typeface="Avenir Next"/>
                <a:cs typeface="Avenir Next"/>
              </a:defRPr>
            </a:defPPr>
          </a:lstStyle>
          <a:p xmlns:a="http://schemas.openxmlformats.org/drawingml/2006/main">
            <a:pPr algn="l">
              <a:defRPr sz="2100" b="1">
                <a:solidFill>
                  <a:srgbClr val="FFFFFF"/>
                </a:solidFill>
                <a:latin typeface="Avenir Next"/>
                <a:ea typeface="Avenir Next"/>
                <a:cs typeface="Avenir Next"/>
              </a:defRPr>
            </a:pPr>
            <a:r>
              <a:rPr sz="2100" b="1">
                <a:solidFill>
                  <a:srgbClr val="FFFFFF"/>
                </a:solidFill>
                <a:latin typeface="Avenir Next"/>
                <a:ea typeface="Avenir Next"/>
                <a:cs typeface="Avenir Next"/>
              </a:rPr>
              <a:t>MARCH 2027</a:t>
            </a:r>
          </a:p>
        </p:txBody>
      </p:sp>
      <p:sp>
        <p:nvSpPr>
          <p:cNvPr id="11" name="event-panel-rule">
            <a:extLst xmlns:a="http://schemas.openxmlformats.org/drawingml/2006/main">
              <a:ext uri="{FF2B5EF4-FFF2-40B4-BE49-F238E27FC236}">
                <a16:creationId xmlns:a16="http://schemas.microsoft.com/office/drawing/2014/main" id="{D274288F-698A-4AE5-ABC7-E17D5F12891A}"/>
              </a:ext>
            </a:extLst>
          </p:cNvPr>
          <p:cNvSpPr>
            <a:spLocks xmlns:a="http://schemas.openxmlformats.org/drawingml/2006/main" noGrp="1"/>
          </p:cNvSpPr>
          <p:nvPr/>
        </p:nvSpPr>
        <p:spPr>
          <a:xfrm xmlns:a="http://schemas.openxmlformats.org/drawingml/2006/main">
            <a:off x="933450" y="4800600"/>
            <a:ext cx="495300" cy="28575"/>
          </a:xfrm>
          <a:prstGeom xmlns:a="http://schemas.openxmlformats.org/drawingml/2006/main" prst="rect">
            <a:avLst/>
          </a:prstGeom>
          <a:solidFill xmlns:a="http://schemas.openxmlformats.org/drawingml/2006/main">
            <a:srgbClr val="AEE8C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15CD502-F8FD-46BA-9A95-74530938BB21}"/>
              </a:ext>
            </a:extLst>
          </p:cNvPr>
          <p:cNvSpPr>
            <a:spLocks xmlns:a="http://schemas.openxmlformats.org/drawingml/2006/main" noGrp="1"/>
          </p:cNvSpPr>
          <p:nvPr/>
        </p:nvSpPr>
        <p:spPr>
          <a:xfrm xmlns:a="http://schemas.openxmlformats.org/drawingml/2006/main">
            <a:off x="933450" y="5038725"/>
            <a:ext cx="3619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1">
                <a:solidFill>
                  <a:srgbClr val="FFFFFF">
                    <a:alpha val="80000"/>
                  </a:srgbClr>
                </a:solidFill>
                <a:latin typeface="Avenir Next"/>
                <a:ea typeface="Avenir Next"/>
                <a:cs typeface="Avenir Next"/>
              </a:defRPr>
            </a:defPPr>
          </a:lstStyle>
          <a:p xmlns:a="http://schemas.openxmlformats.org/drawingml/2006/main">
            <a:pPr algn="l">
              <a:defRPr sz="1200" b="1">
                <a:solidFill>
                  <a:srgbClr val="FFFFFF">
                    <a:alpha val="80000"/>
                  </a:srgbClr>
                </a:solidFill>
                <a:latin typeface="Avenir Next"/>
                <a:ea typeface="Avenir Next"/>
                <a:cs typeface="Avenir Next"/>
              </a:defRPr>
            </a:pPr>
            <a:r>
              <a:rPr sz="1200" b="1">
                <a:solidFill>
                  <a:srgbClr val="FFFFFF">
                    <a:alpha val="80000"/>
                  </a:srgbClr>
                </a:solidFill>
                <a:latin typeface="Avenir Next"/>
                <a:ea typeface="Avenir Next"/>
                <a:cs typeface="Avenir Next"/>
              </a:rPr>
              <a:t>IBADAN, OYO STATE</a:t>
            </a:r>
          </a:p>
        </p:txBody>
      </p:sp>
      <p:sp>
        <p:nvSpPr>
          <p:cNvPr id="13" name="">
            <a:extLst xmlns:a="http://schemas.openxmlformats.org/drawingml/2006/main">
              <a:ext uri="{FF2B5EF4-FFF2-40B4-BE49-F238E27FC236}">
                <a16:creationId xmlns:a16="http://schemas.microsoft.com/office/drawing/2014/main" id="{C6CC759D-0507-49D7-B87F-BCE48034607A}"/>
              </a:ext>
            </a:extLst>
          </p:cNvPr>
          <p:cNvSpPr>
            <a:spLocks xmlns:a="http://schemas.openxmlformats.org/drawingml/2006/main" noGrp="1"/>
          </p:cNvSpPr>
          <p:nvPr/>
        </p:nvSpPr>
        <p:spPr>
          <a:xfrm xmlns:a="http://schemas.openxmlformats.org/drawingml/2006/main">
            <a:off x="933450" y="5334000"/>
            <a:ext cx="3619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0">
                <a:solidFill>
                  <a:srgbClr val="FFFFFF">
                    <a:alpha val="62000"/>
                  </a:srgbClr>
                </a:solidFill>
                <a:latin typeface="Avenir Next"/>
                <a:ea typeface="Avenir Next"/>
                <a:cs typeface="Avenir Next"/>
              </a:defRPr>
            </a:defPPr>
          </a:lstStyle>
          <a:p xmlns:a="http://schemas.openxmlformats.org/drawingml/2006/main">
            <a:pPr algn="l">
              <a:defRPr sz="1050" b="0">
                <a:solidFill>
                  <a:srgbClr val="FFFFFF">
                    <a:alpha val="62000"/>
                  </a:srgbClr>
                </a:solidFill>
                <a:latin typeface="Avenir Next"/>
                <a:ea typeface="Avenir Next"/>
                <a:cs typeface="Avenir Next"/>
              </a:defRPr>
            </a:pPr>
            <a:r>
              <a:rPr sz="1050" b="0">
                <a:solidFill>
                  <a:srgbClr val="FFFFFF">
                    <a:alpha val="62000"/>
                  </a:srgbClr>
                </a:solidFill>
                <a:latin typeface="Avenir Next"/>
                <a:ea typeface="Avenir Next"/>
                <a:cs typeface="Avenir Next"/>
              </a:rPr>
              <a:t>Venue to be confirmed</a:t>
            </a:r>
          </a:p>
        </p:txBody>
      </p:sp>
      <p:sp>
        <p:nvSpPr>
          <p:cNvPr id="14" name="event-stat-1">
            <a:extLst xmlns:a="http://schemas.openxmlformats.org/drawingml/2006/main">
              <a:ext uri="{FF2B5EF4-FFF2-40B4-BE49-F238E27FC236}">
                <a16:creationId xmlns:a16="http://schemas.microsoft.com/office/drawing/2014/main" id="{74E41365-00BA-4A9C-8832-6C63AA2D0192}"/>
              </a:ext>
            </a:extLst>
          </p:cNvPr>
          <p:cNvSpPr>
            <a:spLocks xmlns:a="http://schemas.openxmlformats.org/drawingml/2006/main" noGrp="1"/>
          </p:cNvSpPr>
          <p:nvPr/>
        </p:nvSpPr>
        <p:spPr>
          <a:xfrm xmlns:a="http://schemas.openxmlformats.org/drawingml/2006/main">
            <a:off x="6191250" y="2266950"/>
            <a:ext cx="2438400" cy="1447800"/>
          </a:xfrm>
          <a:prstGeom xmlns:a="http://schemas.openxmlformats.org/drawingml/2006/main" prst="roundRect">
            <a:avLst>
              <a:gd name="adj" fmla="val 11842"/>
            </a:avLst>
          </a:prstGeom>
          <a:solidFill xmlns:a="http://schemas.openxmlformats.org/drawingml/2006/main">
            <a:srgbClr val="FFFF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29D2BCD3-668F-4D2F-8CF4-A9E57090F4B0}"/>
              </a:ext>
            </a:extLst>
          </p:cNvPr>
          <p:cNvSpPr>
            <a:spLocks xmlns:a="http://schemas.openxmlformats.org/drawingml/2006/main" noGrp="1"/>
          </p:cNvSpPr>
          <p:nvPr/>
        </p:nvSpPr>
        <p:spPr>
          <a:xfrm xmlns:a="http://schemas.openxmlformats.org/drawingml/2006/main">
            <a:off x="6400800" y="2466975"/>
            <a:ext cx="2019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600" b="1">
                <a:solidFill>
                  <a:srgbClr val="7354A4"/>
                </a:solidFill>
                <a:latin typeface="Avenir Next"/>
                <a:ea typeface="Avenir Next"/>
                <a:cs typeface="Avenir Next"/>
              </a:defRPr>
            </a:defPPr>
          </a:lstStyle>
          <a:p xmlns:a="http://schemas.openxmlformats.org/drawingml/2006/main">
            <a:pPr algn="l">
              <a:defRPr sz="3600" b="1">
                <a:solidFill>
                  <a:srgbClr val="7354A4"/>
                </a:solidFill>
                <a:latin typeface="Avenir Next"/>
                <a:ea typeface="Avenir Next"/>
                <a:cs typeface="Avenir Next"/>
              </a:defRPr>
            </a:pPr>
            <a:r>
              <a:rPr sz="3600" b="1">
                <a:solidFill>
                  <a:srgbClr val="7354A4"/>
                </a:solidFill>
                <a:latin typeface="Avenir Next"/>
                <a:ea typeface="Avenir Next"/>
                <a:cs typeface="Avenir Next"/>
              </a:rPr>
              <a:t>100</a:t>
            </a:r>
          </a:p>
        </p:txBody>
      </p:sp>
      <p:sp>
        <p:nvSpPr>
          <p:cNvPr id="16" name="">
            <a:extLst xmlns:a="http://schemas.openxmlformats.org/drawingml/2006/main">
              <a:ext uri="{FF2B5EF4-FFF2-40B4-BE49-F238E27FC236}">
                <a16:creationId xmlns:a16="http://schemas.microsoft.com/office/drawing/2014/main" id="{B33A90D5-884F-4BE5-AC80-0E12BD49C558}"/>
              </a:ext>
            </a:extLst>
          </p:cNvPr>
          <p:cNvSpPr>
            <a:spLocks xmlns:a="http://schemas.openxmlformats.org/drawingml/2006/main" noGrp="1"/>
          </p:cNvSpPr>
          <p:nvPr/>
        </p:nvSpPr>
        <p:spPr>
          <a:xfrm xmlns:a="http://schemas.openxmlformats.org/drawingml/2006/main">
            <a:off x="6400800" y="3162300"/>
            <a:ext cx="2019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1">
                <a:solidFill>
                  <a:srgbClr val="746B79"/>
                </a:solidFill>
                <a:latin typeface="Avenir Next"/>
                <a:ea typeface="Avenir Next"/>
                <a:cs typeface="Avenir Next"/>
              </a:defRPr>
            </a:defPPr>
          </a:lstStyle>
          <a:p xmlns:a="http://schemas.openxmlformats.org/drawingml/2006/main">
            <a:pPr algn="l">
              <a:defRPr sz="1200" b="1">
                <a:solidFill>
                  <a:srgbClr val="746B79"/>
                </a:solidFill>
                <a:latin typeface="Avenir Next"/>
                <a:ea typeface="Avenir Next"/>
                <a:cs typeface="Avenir Next"/>
              </a:defRPr>
            </a:pPr>
            <a:r>
              <a:rPr sz="1200" b="1">
                <a:solidFill>
                  <a:srgbClr val="746B79"/>
                </a:solidFill>
                <a:latin typeface="Avenir Next"/>
                <a:ea typeface="Avenir Next"/>
                <a:cs typeface="Avenir Next"/>
              </a:rPr>
              <a:t>tech professionals</a:t>
            </a:r>
          </a:p>
        </p:txBody>
      </p:sp>
      <p:sp>
        <p:nvSpPr>
          <p:cNvPr id="17" name="event-stat-2">
            <a:extLst xmlns:a="http://schemas.openxmlformats.org/drawingml/2006/main">
              <a:ext uri="{FF2B5EF4-FFF2-40B4-BE49-F238E27FC236}">
                <a16:creationId xmlns:a16="http://schemas.microsoft.com/office/drawing/2014/main" id="{4757B37E-72F5-4D35-9F62-A2A18FF6CD22}"/>
              </a:ext>
            </a:extLst>
          </p:cNvPr>
          <p:cNvSpPr>
            <a:spLocks xmlns:a="http://schemas.openxmlformats.org/drawingml/2006/main" noGrp="1"/>
          </p:cNvSpPr>
          <p:nvPr/>
        </p:nvSpPr>
        <p:spPr>
          <a:xfrm xmlns:a="http://schemas.openxmlformats.org/drawingml/2006/main">
            <a:off x="8877300" y="2266950"/>
            <a:ext cx="2438400" cy="1447800"/>
          </a:xfrm>
          <a:prstGeom xmlns:a="http://schemas.openxmlformats.org/drawingml/2006/main" prst="roundRect">
            <a:avLst>
              <a:gd name="adj" fmla="val 11842"/>
            </a:avLst>
          </a:prstGeom>
          <a:solidFill xmlns:a="http://schemas.openxmlformats.org/drawingml/2006/main">
            <a:srgbClr val="FFFF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8D2342C-F5BE-4811-849D-25E7FE271FD4}"/>
              </a:ext>
            </a:extLst>
          </p:cNvPr>
          <p:cNvSpPr>
            <a:spLocks xmlns:a="http://schemas.openxmlformats.org/drawingml/2006/main" noGrp="1"/>
          </p:cNvSpPr>
          <p:nvPr/>
        </p:nvSpPr>
        <p:spPr>
          <a:xfrm xmlns:a="http://schemas.openxmlformats.org/drawingml/2006/main">
            <a:off x="9086850" y="2466975"/>
            <a:ext cx="2019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600" b="1">
                <a:solidFill>
                  <a:srgbClr val="7354A4"/>
                </a:solidFill>
                <a:latin typeface="Avenir Next"/>
                <a:ea typeface="Avenir Next"/>
                <a:cs typeface="Avenir Next"/>
              </a:defRPr>
            </a:defPPr>
          </a:lstStyle>
          <a:p xmlns:a="http://schemas.openxmlformats.org/drawingml/2006/main">
            <a:pPr algn="l">
              <a:defRPr sz="3600" b="1">
                <a:solidFill>
                  <a:srgbClr val="7354A4"/>
                </a:solidFill>
                <a:latin typeface="Avenir Next"/>
                <a:ea typeface="Avenir Next"/>
                <a:cs typeface="Avenir Next"/>
              </a:defRPr>
            </a:pPr>
            <a:r>
              <a:rPr sz="3600" b="1">
                <a:solidFill>
                  <a:srgbClr val="7354A4"/>
                </a:solidFill>
                <a:latin typeface="Avenir Next"/>
                <a:ea typeface="Avenir Next"/>
                <a:cs typeface="Avenir Next"/>
              </a:rPr>
              <a:t>3</a:t>
            </a:r>
          </a:p>
        </p:txBody>
      </p:sp>
      <p:sp>
        <p:nvSpPr>
          <p:cNvPr id="19" name="">
            <a:extLst xmlns:a="http://schemas.openxmlformats.org/drawingml/2006/main">
              <a:ext uri="{FF2B5EF4-FFF2-40B4-BE49-F238E27FC236}">
                <a16:creationId xmlns:a16="http://schemas.microsoft.com/office/drawing/2014/main" id="{2AAC0F67-4C26-415D-9E54-18FD75164339}"/>
              </a:ext>
            </a:extLst>
          </p:cNvPr>
          <p:cNvSpPr>
            <a:spLocks xmlns:a="http://schemas.openxmlformats.org/drawingml/2006/main" noGrp="1"/>
          </p:cNvSpPr>
          <p:nvPr/>
        </p:nvSpPr>
        <p:spPr>
          <a:xfrm xmlns:a="http://schemas.openxmlformats.org/drawingml/2006/main">
            <a:off x="9086850" y="3162300"/>
            <a:ext cx="2019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1">
                <a:solidFill>
                  <a:srgbClr val="746B79"/>
                </a:solidFill>
                <a:latin typeface="Avenir Next"/>
                <a:ea typeface="Avenir Next"/>
                <a:cs typeface="Avenir Next"/>
              </a:defRPr>
            </a:defPPr>
          </a:lstStyle>
          <a:p xmlns:a="http://schemas.openxmlformats.org/drawingml/2006/main">
            <a:pPr algn="l">
              <a:defRPr sz="1200" b="1">
                <a:solidFill>
                  <a:srgbClr val="746B79"/>
                </a:solidFill>
                <a:latin typeface="Avenir Next"/>
                <a:ea typeface="Avenir Next"/>
                <a:cs typeface="Avenir Next"/>
              </a:defRPr>
            </a:pPr>
            <a:r>
              <a:rPr sz="1200" b="1">
                <a:solidFill>
                  <a:srgbClr val="746B79"/>
                </a:solidFill>
                <a:latin typeface="Avenir Next"/>
                <a:ea typeface="Avenir Next"/>
                <a:cs typeface="Avenir Next"/>
              </a:rPr>
              <a:t>guest speakers</a:t>
            </a:r>
          </a:p>
        </p:txBody>
      </p:sp>
      <p:sp>
        <p:nvSpPr>
          <p:cNvPr id="20" name="event-stat-3">
            <a:extLst xmlns:a="http://schemas.openxmlformats.org/drawingml/2006/main">
              <a:ext uri="{FF2B5EF4-FFF2-40B4-BE49-F238E27FC236}">
                <a16:creationId xmlns:a16="http://schemas.microsoft.com/office/drawing/2014/main" id="{5C65A358-8135-468A-B600-42B657C30DE1}"/>
              </a:ext>
            </a:extLst>
          </p:cNvPr>
          <p:cNvSpPr>
            <a:spLocks xmlns:a="http://schemas.openxmlformats.org/drawingml/2006/main" noGrp="1"/>
          </p:cNvSpPr>
          <p:nvPr/>
        </p:nvSpPr>
        <p:spPr>
          <a:xfrm xmlns:a="http://schemas.openxmlformats.org/drawingml/2006/main">
            <a:off x="6191250" y="4057650"/>
            <a:ext cx="2438400" cy="1447800"/>
          </a:xfrm>
          <a:prstGeom xmlns:a="http://schemas.openxmlformats.org/drawingml/2006/main" prst="roundRect">
            <a:avLst>
              <a:gd name="adj" fmla="val 11842"/>
            </a:avLst>
          </a:prstGeom>
          <a:solidFill xmlns:a="http://schemas.openxmlformats.org/drawingml/2006/main">
            <a:srgbClr val="FFFFFF"/>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F1A56E5-C14E-437D-9819-8B2CA3C1AA78}"/>
              </a:ext>
            </a:extLst>
          </p:cNvPr>
          <p:cNvSpPr>
            <a:spLocks xmlns:a="http://schemas.openxmlformats.org/drawingml/2006/main" noGrp="1"/>
          </p:cNvSpPr>
          <p:nvPr/>
        </p:nvSpPr>
        <p:spPr>
          <a:xfrm xmlns:a="http://schemas.openxmlformats.org/drawingml/2006/main">
            <a:off x="6400800" y="4257675"/>
            <a:ext cx="2019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600" b="1">
                <a:solidFill>
                  <a:srgbClr val="7354A4"/>
                </a:solidFill>
                <a:latin typeface="Avenir Next"/>
                <a:ea typeface="Avenir Next"/>
                <a:cs typeface="Avenir Next"/>
              </a:defRPr>
            </a:defPPr>
          </a:lstStyle>
          <a:p xmlns:a="http://schemas.openxmlformats.org/drawingml/2006/main">
            <a:pPr algn="l">
              <a:defRPr sz="3600" b="1">
                <a:solidFill>
                  <a:srgbClr val="7354A4"/>
                </a:solidFill>
                <a:latin typeface="Avenir Next"/>
                <a:ea typeface="Avenir Next"/>
                <a:cs typeface="Avenir Next"/>
              </a:defRPr>
            </a:pPr>
            <a:r>
              <a:rPr sz="3600" b="1">
                <a:solidFill>
                  <a:srgbClr val="7354A4"/>
                </a:solidFill>
                <a:latin typeface="Avenir Next"/>
                <a:ea typeface="Avenir Next"/>
                <a:cs typeface="Avenir Next"/>
              </a:rPr>
              <a:t>3</a:t>
            </a:r>
          </a:p>
        </p:txBody>
      </p:sp>
      <p:sp>
        <p:nvSpPr>
          <p:cNvPr id="22" name="">
            <a:extLst xmlns:a="http://schemas.openxmlformats.org/drawingml/2006/main">
              <a:ext uri="{FF2B5EF4-FFF2-40B4-BE49-F238E27FC236}">
                <a16:creationId xmlns:a16="http://schemas.microsoft.com/office/drawing/2014/main" id="{5077099F-C056-4104-BCA4-A132A62DCCD3}"/>
              </a:ext>
            </a:extLst>
          </p:cNvPr>
          <p:cNvSpPr>
            <a:spLocks xmlns:a="http://schemas.openxmlformats.org/drawingml/2006/main" noGrp="1"/>
          </p:cNvSpPr>
          <p:nvPr/>
        </p:nvSpPr>
        <p:spPr>
          <a:xfrm xmlns:a="http://schemas.openxmlformats.org/drawingml/2006/main">
            <a:off x="6400800" y="4953000"/>
            <a:ext cx="2019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1">
                <a:solidFill>
                  <a:srgbClr val="746B79"/>
                </a:solidFill>
                <a:latin typeface="Avenir Next"/>
                <a:ea typeface="Avenir Next"/>
                <a:cs typeface="Avenir Next"/>
              </a:defRPr>
            </a:defPPr>
          </a:lstStyle>
          <a:p xmlns:a="http://schemas.openxmlformats.org/drawingml/2006/main">
            <a:pPr algn="l">
              <a:defRPr sz="1200" b="1">
                <a:solidFill>
                  <a:srgbClr val="746B79"/>
                </a:solidFill>
                <a:latin typeface="Avenir Next"/>
                <a:ea typeface="Avenir Next"/>
                <a:cs typeface="Avenir Next"/>
              </a:defRPr>
            </a:pPr>
            <a:r>
              <a:rPr sz="1200" b="1">
                <a:solidFill>
                  <a:srgbClr val="746B79"/>
                </a:solidFill>
                <a:latin typeface="Avenir Next"/>
                <a:ea typeface="Avenir Next"/>
                <a:cs typeface="Avenir Next"/>
              </a:rPr>
              <a:t>practical sessions</a:t>
            </a:r>
          </a:p>
        </p:txBody>
      </p:sp>
      <p:sp>
        <p:nvSpPr>
          <p:cNvPr id="23" name="event-stat-4">
            <a:extLst xmlns:a="http://schemas.openxmlformats.org/drawingml/2006/main">
              <a:ext uri="{FF2B5EF4-FFF2-40B4-BE49-F238E27FC236}">
                <a16:creationId xmlns:a16="http://schemas.microsoft.com/office/drawing/2014/main" id="{849663C6-A457-4146-A827-C33186635520}"/>
              </a:ext>
            </a:extLst>
          </p:cNvPr>
          <p:cNvSpPr>
            <a:spLocks xmlns:a="http://schemas.openxmlformats.org/drawingml/2006/main" noGrp="1"/>
          </p:cNvSpPr>
          <p:nvPr/>
        </p:nvSpPr>
        <p:spPr>
          <a:xfrm xmlns:a="http://schemas.openxmlformats.org/drawingml/2006/main">
            <a:off x="8877300" y="4057650"/>
            <a:ext cx="2438400" cy="1447800"/>
          </a:xfrm>
          <a:prstGeom xmlns:a="http://schemas.openxmlformats.org/drawingml/2006/main" prst="roundRect">
            <a:avLst>
              <a:gd name="adj" fmla="val 11842"/>
            </a:avLst>
          </a:prstGeom>
          <a:solidFill xmlns:a="http://schemas.openxmlformats.org/drawingml/2006/main">
            <a:srgbClr val="F0EAF6"/>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E3D267D-6F27-4C95-A7E9-14E2EE248084}"/>
              </a:ext>
            </a:extLst>
          </p:cNvPr>
          <p:cNvSpPr>
            <a:spLocks xmlns:a="http://schemas.openxmlformats.org/drawingml/2006/main" noGrp="1"/>
          </p:cNvSpPr>
          <p:nvPr/>
        </p:nvSpPr>
        <p:spPr>
          <a:xfrm xmlns:a="http://schemas.openxmlformats.org/drawingml/2006/main">
            <a:off x="9086850" y="4257675"/>
            <a:ext cx="20193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850" b="1">
                <a:solidFill>
                  <a:srgbClr val="7354A4"/>
                </a:solidFill>
                <a:latin typeface="Avenir Next"/>
                <a:ea typeface="Avenir Next"/>
                <a:cs typeface="Avenir Next"/>
              </a:defRPr>
            </a:defPPr>
          </a:lstStyle>
          <a:p xmlns:a="http://schemas.openxmlformats.org/drawingml/2006/main">
            <a:pPr algn="l">
              <a:defRPr sz="2850" b="1">
                <a:solidFill>
                  <a:srgbClr val="7354A4"/>
                </a:solidFill>
                <a:latin typeface="Avenir Next"/>
                <a:ea typeface="Avenir Next"/>
                <a:cs typeface="Avenir Next"/>
              </a:defRPr>
            </a:pPr>
            <a:r>
              <a:rPr sz="2850" b="1">
                <a:solidFill>
                  <a:srgbClr val="7354A4"/>
                </a:solidFill>
                <a:latin typeface="Avenir Next"/>
                <a:ea typeface="Avenir Next"/>
                <a:cs typeface="Avenir Next"/>
              </a:rPr>
              <a:t>8:30–6</a:t>
            </a:r>
          </a:p>
        </p:txBody>
      </p:sp>
      <p:sp>
        <p:nvSpPr>
          <p:cNvPr id="25" name="">
            <a:extLst xmlns:a="http://schemas.openxmlformats.org/drawingml/2006/main">
              <a:ext uri="{FF2B5EF4-FFF2-40B4-BE49-F238E27FC236}">
                <a16:creationId xmlns:a16="http://schemas.microsoft.com/office/drawing/2014/main" id="{591832C3-2F53-4A41-80C8-047F0F41EDC6}"/>
              </a:ext>
            </a:extLst>
          </p:cNvPr>
          <p:cNvSpPr>
            <a:spLocks xmlns:a="http://schemas.openxmlformats.org/drawingml/2006/main" noGrp="1"/>
          </p:cNvSpPr>
          <p:nvPr/>
        </p:nvSpPr>
        <p:spPr>
          <a:xfrm xmlns:a="http://schemas.openxmlformats.org/drawingml/2006/main">
            <a:off x="9086850" y="4953000"/>
            <a:ext cx="20193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1">
                <a:solidFill>
                  <a:srgbClr val="746B79"/>
                </a:solidFill>
                <a:latin typeface="Avenir Next"/>
                <a:ea typeface="Avenir Next"/>
                <a:cs typeface="Avenir Next"/>
              </a:defRPr>
            </a:defPPr>
          </a:lstStyle>
          <a:p xmlns:a="http://schemas.openxmlformats.org/drawingml/2006/main">
            <a:pPr algn="l">
              <a:defRPr sz="1200" b="1">
                <a:solidFill>
                  <a:srgbClr val="746B79"/>
                </a:solidFill>
                <a:latin typeface="Avenir Next"/>
                <a:ea typeface="Avenir Next"/>
                <a:cs typeface="Avenir Next"/>
              </a:defRPr>
            </a:pPr>
            <a:r>
              <a:rPr sz="1200" b="1">
                <a:solidFill>
                  <a:srgbClr val="746B79"/>
                </a:solidFill>
                <a:latin typeface="Avenir Next"/>
                <a:ea typeface="Avenir Next"/>
                <a:cs typeface="Avenir Next"/>
              </a:rPr>
              <a:t>day programme</a:t>
            </a:r>
          </a:p>
        </p:txBody>
      </p:sp>
    </p:spTree>
    <p:extLst>
      <p:ext uri="{BB962C8B-B14F-4D97-AF65-F5344CB8AC3E}">
        <p14:creationId xmlns:p14="http://schemas.microsoft.com/office/powerpoint/2010/main" val="922291832"/>
      </p:ext>
    </p:extLst>
  </p:cSld>
</p:sld>
</file>

<file path=ppt/slides/slide4.xml><?xml version="1.0" encoding="utf-8"?>
<p:sld xmlns:p="http://schemas.openxmlformats.org/presentationml/2006/main">
  <p:cSld>
    <p:bg>
      <p:bgPr>
        <a:solidFill xmlns:a="http://schemas.openxmlformats.org/drawingml/2006/main">
          <a:srgbClr val="FAF8FC"/>
        </a:solidFill>
      </p:bgPr>
    </p:bg>
    <p:spTree>
      <p:nvGrpSpPr>
        <p:cNvPr id="1" name=""/>
        <p:cNvGrpSpPr/>
        <p:nvPr/>
      </p:nvGrpSpPr>
      <p:grpSpPr>
        <a:xfrm xmlns:a="http://schemas.openxmlformats.org/drawingml/2006/main"/>
      </p:grpSpPr>
      <p:sp>
        <p:nvSpPr>
          <p:cNvPr id="46" name="">
            <a:extLst xmlns:a="http://schemas.openxmlformats.org/drawingml/2006/main">
              <a:ext uri="{FF2B5EF4-FFF2-40B4-BE49-F238E27FC236}">
                <a16:creationId xmlns:a16="http://schemas.microsoft.com/office/drawing/2014/main" id="{E6CCA4B0-0955-44FE-A6DD-CDE9BE090D46}"/>
              </a:ext>
            </a:extLst>
          </p:cNvPr>
          <p:cNvSpPr>
            <a:spLocks xmlns:a="http://schemas.openxmlformats.org/drawingml/2006/main" noGrp="1"/>
          </p:cNvSpPr>
          <p:nvPr/>
        </p:nvSpPr>
        <p:spPr>
          <a:xfrm xmlns:a="http://schemas.openxmlformats.org/drawingml/2006/main">
            <a:off x="609600" y="4572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7354A4"/>
                </a:solidFill>
                <a:latin typeface="Avenir Next"/>
                <a:ea typeface="Avenir Next"/>
                <a:cs typeface="Avenir Next"/>
              </a:defRPr>
            </a:defPPr>
          </a:lstStyle>
          <a:p xmlns:a="http://schemas.openxmlformats.org/drawingml/2006/main">
            <a:pPr algn="l">
              <a:defRPr sz="900" b="1">
                <a:solidFill>
                  <a:srgbClr val="7354A4"/>
                </a:solidFill>
                <a:latin typeface="Avenir Next"/>
                <a:ea typeface="Avenir Next"/>
                <a:cs typeface="Avenir Next"/>
              </a:defRPr>
            </a:pPr>
            <a:r>
              <a:rPr sz="900" b="1">
                <a:solidFill>
                  <a:srgbClr val="7354A4"/>
                </a:solidFill>
                <a:latin typeface="Avenir Next"/>
                <a:ea typeface="Avenir Next"/>
                <a:cs typeface="Avenir Next"/>
              </a:rPr>
              <a:t>THE PROGRAMME</a:t>
            </a:r>
          </a:p>
        </p:txBody>
      </p:sp>
      <p:sp>
        <p:nvSpPr>
          <p:cNvPr id="2" name="">
            <a:extLst xmlns:a="http://schemas.openxmlformats.org/drawingml/2006/main">
              <a:ext uri="{FF2B5EF4-FFF2-40B4-BE49-F238E27FC236}">
                <a16:creationId xmlns:a16="http://schemas.microsoft.com/office/drawing/2014/main" id="{1F222C1E-0283-4A3A-8C7B-DB87C7AB8ED7}"/>
              </a:ext>
            </a:extLst>
          </p:cNvPr>
          <p:cNvSpPr>
            <a:spLocks xmlns:a="http://schemas.openxmlformats.org/drawingml/2006/main" noGrp="1"/>
          </p:cNvSpPr>
          <p:nvPr/>
        </p:nvSpPr>
        <p:spPr>
          <a:xfrm xmlns:a="http://schemas.openxmlformats.org/drawingml/2006/main">
            <a:off x="609600" y="809625"/>
            <a:ext cx="10858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150" b="1">
                <a:solidFill>
                  <a:srgbClr val="261A2C"/>
                </a:solidFill>
                <a:latin typeface="Avenir Next"/>
                <a:ea typeface="Avenir Next"/>
                <a:cs typeface="Avenir Next"/>
              </a:defRPr>
            </a:defPPr>
          </a:lstStyle>
          <a:p xmlns:a="http://schemas.openxmlformats.org/drawingml/2006/main">
            <a:pPr algn="l">
              <a:defRPr sz="3150" b="1">
                <a:solidFill>
                  <a:srgbClr val="261A2C"/>
                </a:solidFill>
                <a:latin typeface="Avenir Next"/>
                <a:ea typeface="Avenir Next"/>
                <a:cs typeface="Avenir Next"/>
              </a:defRPr>
            </a:pPr>
            <a:r>
              <a:rPr sz="3150" b="1">
                <a:solidFill>
                  <a:srgbClr val="261A2C"/>
                </a:solidFill>
                <a:latin typeface="Avenir Next"/>
                <a:ea typeface="Avenir Next"/>
                <a:cs typeface="Avenir Next"/>
              </a:rPr>
              <a:t>Three conversations with room to work.</a:t>
            </a:r>
          </a:p>
        </p:txBody>
      </p:sp>
      <p:sp>
        <p:nvSpPr>
          <p:cNvPr id="3" name="">
            <a:extLst xmlns:a="http://schemas.openxmlformats.org/drawingml/2006/main">
              <a:ext uri="{FF2B5EF4-FFF2-40B4-BE49-F238E27FC236}">
                <a16:creationId xmlns:a16="http://schemas.microsoft.com/office/drawing/2014/main" id="{300918E9-F0FB-41E8-AF0F-86AE24DF3903}"/>
              </a:ext>
            </a:extLst>
          </p:cNvPr>
          <p:cNvSpPr>
            <a:spLocks xmlns:a="http://schemas.openxmlformats.org/drawingml/2006/main" noGrp="1"/>
          </p:cNvSpPr>
          <p:nvPr/>
        </p:nvSpPr>
        <p:spPr>
          <a:xfrm xmlns:a="http://schemas.openxmlformats.org/drawingml/2006/main">
            <a:off x="628650" y="152400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25" b="0">
                <a:solidFill>
                  <a:srgbClr val="746B79"/>
                </a:solidFill>
                <a:latin typeface="Avenir Next"/>
                <a:ea typeface="Avenir Next"/>
                <a:cs typeface="Avenir Next"/>
              </a:defRPr>
            </a:defPPr>
          </a:lstStyle>
          <a:p xmlns:a="http://schemas.openxmlformats.org/drawingml/2006/main">
            <a:pPr algn="l">
              <a:defRPr sz="1425" b="0">
                <a:solidFill>
                  <a:srgbClr val="746B79"/>
                </a:solidFill>
                <a:latin typeface="Avenir Next"/>
                <a:ea typeface="Avenir Next"/>
                <a:cs typeface="Avenir Next"/>
              </a:defRPr>
            </a:pPr>
            <a:r>
              <a:rPr sz="1425" b="0">
                <a:solidFill>
                  <a:srgbClr val="746B79"/>
                </a:solidFill>
                <a:latin typeface="Avenir Next"/>
                <a:ea typeface="Avenir Next"/>
                <a:cs typeface="Avenir Next"/>
              </a:rPr>
              <a:t>Each session is built around real examples, audience participation and useful takeaways.</a:t>
            </a:r>
          </a:p>
        </p:txBody>
      </p:sp>
      <p:sp>
        <p:nvSpPr>
          <p:cNvPr id="4" name="footer-rule-4">
            <a:extLst xmlns:a="http://schemas.openxmlformats.org/drawingml/2006/main">
              <a:ext uri="{FF2B5EF4-FFF2-40B4-BE49-F238E27FC236}">
                <a16:creationId xmlns:a16="http://schemas.microsoft.com/office/drawing/2014/main" id="{943BD9E8-2B06-432C-8C06-1B3BF063C6AA}"/>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E7E0E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195D1064-5370-479C-A422-8F600EF98287}"/>
              </a:ext>
            </a:extLst>
          </p:cNvPr>
          <p:cNvSpPr>
            <a:spLocks xmlns:a="http://schemas.openxmlformats.org/drawingml/2006/main" noGrp="1"/>
          </p:cNvSpPr>
          <p:nvPr/>
        </p:nvSpPr>
        <p:spPr>
          <a:xfrm xmlns:a="http://schemas.openxmlformats.org/drawingml/2006/main">
            <a:off x="609600" y="6553200"/>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1">
                <a:solidFill>
                  <a:srgbClr val="746B79"/>
                </a:solidFill>
                <a:latin typeface="Avenir Next"/>
                <a:ea typeface="Avenir Next"/>
                <a:cs typeface="Avenir Next"/>
              </a:defRPr>
            </a:defPPr>
          </a:lstStyle>
          <a:p xmlns:a="http://schemas.openxmlformats.org/drawingml/2006/main">
            <a:pPr algn="l">
              <a:defRPr sz="825" b="1">
                <a:solidFill>
                  <a:srgbClr val="746B79"/>
                </a:solidFill>
                <a:latin typeface="Avenir Next"/>
                <a:ea typeface="Avenir Next"/>
                <a:cs typeface="Avenir Next"/>
              </a:defRPr>
            </a:pPr>
            <a:r>
              <a:rPr sz="825" b="1">
                <a:solidFill>
                  <a:srgbClr val="746B79"/>
                </a:solidFill>
                <a:latin typeface="Avenir Next"/>
                <a:ea typeface="Avenir Next"/>
                <a:cs typeface="Avenir Next"/>
              </a:rPr>
              <a:t>BEYOND CODE 2027  /  SPEAKER INVITATION</a:t>
            </a:r>
          </a:p>
        </p:txBody>
      </p:sp>
      <p:sp>
        <p:nvSpPr>
          <p:cNvPr id="6" name="">
            <a:extLst xmlns:a="http://schemas.openxmlformats.org/drawingml/2006/main">
              <a:ext uri="{FF2B5EF4-FFF2-40B4-BE49-F238E27FC236}">
                <a16:creationId xmlns:a16="http://schemas.microsoft.com/office/drawing/2014/main" id="{F7060A7D-4D7C-4F76-B27E-B3164889228D}"/>
              </a:ext>
            </a:extLst>
          </p:cNvPr>
          <p:cNvSpPr>
            <a:spLocks xmlns:a="http://schemas.openxmlformats.org/drawingml/2006/main" noGrp="1"/>
          </p:cNvSpPr>
          <p:nvPr/>
        </p:nvSpPr>
        <p:spPr>
          <a:xfrm xmlns:a="http://schemas.openxmlformats.org/drawingml/2006/main">
            <a:off x="10572750" y="6543675"/>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1">
                <a:solidFill>
                  <a:srgbClr val="746B79"/>
                </a:solidFill>
                <a:latin typeface="Avenir Next"/>
                <a:ea typeface="Avenir Next"/>
                <a:cs typeface="Avenir Next"/>
              </a:defRPr>
            </a:defPPr>
          </a:lstStyle>
          <a:p xmlns:a="http://schemas.openxmlformats.org/drawingml/2006/main">
            <a:pPr algn="r">
              <a:defRPr sz="900" b="1">
                <a:solidFill>
                  <a:srgbClr val="746B79"/>
                </a:solidFill>
                <a:latin typeface="Avenir Next"/>
                <a:ea typeface="Avenir Next"/>
                <a:cs typeface="Avenir Next"/>
              </a:defRPr>
            </a:pPr>
            <a:r>
              <a:rPr sz="900" b="1">
                <a:solidFill>
                  <a:srgbClr val="746B79"/>
                </a:solidFill>
                <a:latin typeface="Avenir Next"/>
                <a:ea typeface="Avenir Next"/>
                <a:cs typeface="Avenir Next"/>
              </a:rPr>
              <a:t>04  /  09</a:t>
            </a:r>
          </a:p>
        </p:txBody>
      </p:sp>
      <p:sp>
        <p:nvSpPr>
          <p:cNvPr id="7" name="session-card-1">
            <a:extLst xmlns:a="http://schemas.openxmlformats.org/drawingml/2006/main">
              <a:ext uri="{FF2B5EF4-FFF2-40B4-BE49-F238E27FC236}">
                <a16:creationId xmlns:a16="http://schemas.microsoft.com/office/drawing/2014/main" id="{8ADC10E6-8602-46AF-A519-2DCF8FA818F6}"/>
              </a:ext>
            </a:extLst>
          </p:cNvPr>
          <p:cNvSpPr>
            <a:spLocks xmlns:a="http://schemas.openxmlformats.org/drawingml/2006/main" noGrp="1"/>
          </p:cNvSpPr>
          <p:nvPr/>
        </p:nvSpPr>
        <p:spPr>
          <a:xfrm xmlns:a="http://schemas.openxmlformats.org/drawingml/2006/main">
            <a:off x="609600" y="2143125"/>
            <a:ext cx="3505200" cy="3886200"/>
          </a:xfrm>
          <a:prstGeom xmlns:a="http://schemas.openxmlformats.org/drawingml/2006/main" prst="roundRect">
            <a:avLst>
              <a:gd name="adj" fmla="val 5435"/>
            </a:avLst>
          </a:prstGeom>
          <a:solidFill xmlns:a="http://schemas.openxmlformats.org/drawingml/2006/main">
            <a:srgbClr val="FFFFFF"/>
          </a:solidFill>
          <a:ln xmlns:a="http://schemas.openxmlformats.org/drawingml/2006/main" w="0">
            <a:noFill/>
            <a:prstDash val="solid"/>
          </a:ln>
        </p:spPr>
      </p:sp>
      <p:sp>
        <p:nvSpPr>
          <p:cNvPr id="8" name="pill-marketing-growth">
            <a:extLst xmlns:a="http://schemas.openxmlformats.org/drawingml/2006/main">
              <a:ext uri="{FF2B5EF4-FFF2-40B4-BE49-F238E27FC236}">
                <a16:creationId xmlns:a16="http://schemas.microsoft.com/office/drawing/2014/main" id="{5543C634-FA15-4F0E-B133-1FEDD3B4CA49}"/>
              </a:ext>
            </a:extLst>
          </p:cNvPr>
          <p:cNvSpPr>
            <a:spLocks xmlns:a="http://schemas.openxmlformats.org/drawingml/2006/main" noGrp="1"/>
          </p:cNvSpPr>
          <p:nvPr/>
        </p:nvSpPr>
        <p:spPr>
          <a:xfrm xmlns:a="http://schemas.openxmlformats.org/drawingml/2006/main">
            <a:off x="819150" y="2362200"/>
            <a:ext cx="1809750" cy="285750"/>
          </a:xfrm>
          <a:prstGeom xmlns:a="http://schemas.openxmlformats.org/drawingml/2006/main" prst="roundRect">
            <a:avLst>
              <a:gd name="adj" fmla="val 50000"/>
            </a:avLst>
          </a:prstGeom>
          <a:solidFill xmlns:a="http://schemas.openxmlformats.org/drawingml/2006/main">
            <a:srgbClr val="F0EAF6"/>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5AF0E1CB-63BA-4AF4-A2B5-A971F4BA612D}"/>
              </a:ext>
            </a:extLst>
          </p:cNvPr>
          <p:cNvSpPr>
            <a:spLocks xmlns:a="http://schemas.openxmlformats.org/drawingml/2006/main" noGrp="1"/>
          </p:cNvSpPr>
          <p:nvPr/>
        </p:nvSpPr>
        <p:spPr>
          <a:xfrm xmlns:a="http://schemas.openxmlformats.org/drawingml/2006/main">
            <a:off x="933450" y="2428875"/>
            <a:ext cx="15811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7354A4"/>
                </a:solidFill>
                <a:latin typeface="Avenir Next"/>
                <a:ea typeface="Avenir Next"/>
                <a:cs typeface="Avenir Next"/>
              </a:defRPr>
            </a:defPPr>
          </a:lstStyle>
          <a:p xmlns:a="http://schemas.openxmlformats.org/drawingml/2006/main">
            <a:pPr algn="l">
              <a:defRPr sz="900" b="1">
                <a:solidFill>
                  <a:srgbClr val="7354A4"/>
                </a:solidFill>
                <a:latin typeface="Avenir Next"/>
                <a:ea typeface="Avenir Next"/>
                <a:cs typeface="Avenir Next"/>
              </a:defRPr>
            </a:pPr>
            <a:r>
              <a:rPr sz="900" b="1">
                <a:solidFill>
                  <a:srgbClr val="7354A4"/>
                </a:solidFill>
                <a:latin typeface="Avenir Next"/>
                <a:ea typeface="Avenir Next"/>
                <a:cs typeface="Avenir Next"/>
              </a:rPr>
              <a:t>MARKETING + GROWTH</a:t>
            </a:r>
          </a:p>
        </p:txBody>
      </p:sp>
      <p:sp>
        <p:nvSpPr>
          <p:cNvPr id="10" name="">
            <a:extLst xmlns:a="http://schemas.openxmlformats.org/drawingml/2006/main">
              <a:ext uri="{FF2B5EF4-FFF2-40B4-BE49-F238E27FC236}">
                <a16:creationId xmlns:a16="http://schemas.microsoft.com/office/drawing/2014/main" id="{3CEA97DC-2428-4F50-BC1E-5AD0D69CB3C2}"/>
              </a:ext>
            </a:extLst>
          </p:cNvPr>
          <p:cNvSpPr>
            <a:spLocks xmlns:a="http://schemas.openxmlformats.org/drawingml/2006/main" noGrp="1"/>
          </p:cNvSpPr>
          <p:nvPr/>
        </p:nvSpPr>
        <p:spPr>
          <a:xfrm xmlns:a="http://schemas.openxmlformats.org/drawingml/2006/main">
            <a:off x="819150" y="2828925"/>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1">
                <a:solidFill>
                  <a:srgbClr val="9B7AC7"/>
                </a:solidFill>
                <a:latin typeface="Avenir Next"/>
                <a:ea typeface="Avenir Next"/>
                <a:cs typeface="Avenir Next"/>
              </a:defRPr>
            </a:defPPr>
          </a:lstStyle>
          <a:p xmlns:a="http://schemas.openxmlformats.org/drawingml/2006/main">
            <a:pPr algn="l">
              <a:defRPr sz="975" b="1">
                <a:solidFill>
                  <a:srgbClr val="9B7AC7"/>
                </a:solidFill>
                <a:latin typeface="Avenir Next"/>
                <a:ea typeface="Avenir Next"/>
                <a:cs typeface="Avenir Next"/>
              </a:defRPr>
            </a:pPr>
            <a:r>
              <a:rPr sz="975" b="1">
                <a:solidFill>
                  <a:srgbClr val="9B7AC7"/>
                </a:solidFill>
                <a:latin typeface="Avenir Next"/>
                <a:ea typeface="Avenir Next"/>
                <a:cs typeface="Avenir Next"/>
              </a:rPr>
              <a:t>01</a:t>
            </a:r>
          </a:p>
        </p:txBody>
      </p:sp>
      <p:sp>
        <p:nvSpPr>
          <p:cNvPr id="11" name="">
            <a:extLst xmlns:a="http://schemas.openxmlformats.org/drawingml/2006/main">
              <a:ext uri="{FF2B5EF4-FFF2-40B4-BE49-F238E27FC236}">
                <a16:creationId xmlns:a16="http://schemas.microsoft.com/office/drawing/2014/main" id="{B522E9C5-A5B5-4021-B1CF-2DA0D1D280E5}"/>
              </a:ext>
            </a:extLst>
          </p:cNvPr>
          <p:cNvSpPr>
            <a:spLocks xmlns:a="http://schemas.openxmlformats.org/drawingml/2006/main" noGrp="1"/>
          </p:cNvSpPr>
          <p:nvPr/>
        </p:nvSpPr>
        <p:spPr>
          <a:xfrm xmlns:a="http://schemas.openxmlformats.org/drawingml/2006/main">
            <a:off x="819150" y="3105150"/>
            <a:ext cx="304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025" b="1">
                <a:solidFill>
                  <a:srgbClr val="261A2C"/>
                </a:solidFill>
                <a:latin typeface="Avenir Next"/>
                <a:ea typeface="Avenir Next"/>
                <a:cs typeface="Avenir Next"/>
              </a:defRPr>
            </a:defPPr>
          </a:lstStyle>
          <a:p xmlns:a="http://schemas.openxmlformats.org/drawingml/2006/main">
            <a:pPr algn="l">
              <a:defRPr sz="2025" b="1">
                <a:solidFill>
                  <a:srgbClr val="261A2C"/>
                </a:solidFill>
                <a:latin typeface="Avenir Next"/>
                <a:ea typeface="Avenir Next"/>
                <a:cs typeface="Avenir Next"/>
              </a:defRPr>
            </a:pPr>
            <a:r>
              <a:rPr sz="2025" b="1">
                <a:solidFill>
                  <a:srgbClr val="261A2C"/>
                </a:solidFill>
                <a:latin typeface="Avenir Next"/>
                <a:ea typeface="Avenir Next"/>
                <a:cs typeface="Avenir Next"/>
              </a:rPr>
              <a:t>Perception</a:t>
            </a:r>
          </a:p>
          <a:p xmlns:a="http://schemas.openxmlformats.org/drawingml/2006/main">
            <a:pPr algn="l">
              <a:defRPr sz="2025" b="1">
                <a:solidFill>
                  <a:srgbClr val="261A2C"/>
                </a:solidFill>
                <a:latin typeface="Avenir Next"/>
                <a:ea typeface="Avenir Next"/>
                <a:cs typeface="Avenir Next"/>
              </a:defRPr>
            </a:pPr>
            <a:r>
              <a:rPr sz="2025" b="1">
                <a:solidFill>
                  <a:srgbClr val="261A2C"/>
                </a:solidFill>
                <a:latin typeface="Avenir Next"/>
                <a:ea typeface="Avenir Next"/>
                <a:cs typeface="Avenir Next"/>
              </a:rPr>
              <a:t>Marketing</a:t>
            </a:r>
          </a:p>
        </p:txBody>
      </p:sp>
      <p:sp>
        <p:nvSpPr>
          <p:cNvPr id="12" name="">
            <a:extLst xmlns:a="http://schemas.openxmlformats.org/drawingml/2006/main">
              <a:ext uri="{FF2B5EF4-FFF2-40B4-BE49-F238E27FC236}">
                <a16:creationId xmlns:a16="http://schemas.microsoft.com/office/drawing/2014/main" id="{B8B54E34-D5AD-446A-802B-4FEF8DE0BFF3}"/>
              </a:ext>
            </a:extLst>
          </p:cNvPr>
          <p:cNvSpPr>
            <a:spLocks xmlns:a="http://schemas.openxmlformats.org/drawingml/2006/main" noGrp="1"/>
          </p:cNvSpPr>
          <p:nvPr/>
        </p:nvSpPr>
        <p:spPr>
          <a:xfrm xmlns:a="http://schemas.openxmlformats.org/drawingml/2006/main">
            <a:off x="819150" y="3867150"/>
            <a:ext cx="30670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1">
                <a:solidFill>
                  <a:srgbClr val="7354A4"/>
                </a:solidFill>
                <a:latin typeface="Avenir Next"/>
                <a:ea typeface="Avenir Next"/>
                <a:cs typeface="Avenir Next"/>
              </a:defRPr>
            </a:defPPr>
          </a:lstStyle>
          <a:p xmlns:a="http://schemas.openxmlformats.org/drawingml/2006/main">
            <a:pPr algn="l">
              <a:defRPr sz="1200" b="1">
                <a:solidFill>
                  <a:srgbClr val="7354A4"/>
                </a:solidFill>
                <a:latin typeface="Avenir Next"/>
                <a:ea typeface="Avenir Next"/>
                <a:cs typeface="Avenir Next"/>
              </a:defRPr>
            </a:pPr>
            <a:r>
              <a:rPr sz="1200" b="1">
                <a:solidFill>
                  <a:srgbClr val="7354A4"/>
                </a:solidFill>
                <a:latin typeface="Avenir Next"/>
                <a:ea typeface="Avenir Next"/>
                <a:cs typeface="Avenir Next"/>
              </a:rPr>
              <a:t>How Nigerians decide to trust and buy</a:t>
            </a:r>
          </a:p>
        </p:txBody>
      </p:sp>
      <p:sp>
        <p:nvSpPr>
          <p:cNvPr id="13" name="session-divider-1">
            <a:extLst xmlns:a="http://schemas.openxmlformats.org/drawingml/2006/main">
              <a:ext uri="{FF2B5EF4-FFF2-40B4-BE49-F238E27FC236}">
                <a16:creationId xmlns:a16="http://schemas.microsoft.com/office/drawing/2014/main" id="{1202C72F-8E00-49D3-A3C1-342CC8F6364E}"/>
              </a:ext>
            </a:extLst>
          </p:cNvPr>
          <p:cNvSpPr>
            <a:spLocks xmlns:a="http://schemas.openxmlformats.org/drawingml/2006/main" noGrp="1"/>
          </p:cNvSpPr>
          <p:nvPr/>
        </p:nvSpPr>
        <p:spPr>
          <a:xfrm xmlns:a="http://schemas.openxmlformats.org/drawingml/2006/main">
            <a:off x="819150" y="4400550"/>
            <a:ext cx="3086100" cy="9525"/>
          </a:xfrm>
          <a:prstGeom xmlns:a="http://schemas.openxmlformats.org/drawingml/2006/main" prst="rect">
            <a:avLst/>
          </a:prstGeom>
          <a:solidFill xmlns:a="http://schemas.openxmlformats.org/drawingml/2006/main">
            <a:srgbClr val="E7E0EC"/>
          </a:solidFill>
          <a:ln xmlns:a="http://schemas.openxmlformats.org/drawingml/2006/main" w="0">
            <a:noFill/>
            <a:prstDash val="solid"/>
          </a:ln>
        </p:spPr>
      </p:sp>
      <p:sp>
        <p:nvSpPr>
          <p:cNvPr id="14" name="session-dot-1-1">
            <a:extLst xmlns:a="http://schemas.openxmlformats.org/drawingml/2006/main">
              <a:ext uri="{FF2B5EF4-FFF2-40B4-BE49-F238E27FC236}">
                <a16:creationId xmlns:a16="http://schemas.microsoft.com/office/drawing/2014/main" id="{A038C7DE-EC2E-4BA7-8BDE-3EDC775F1DDA}"/>
              </a:ext>
            </a:extLst>
          </p:cNvPr>
          <p:cNvSpPr>
            <a:spLocks xmlns:a="http://schemas.openxmlformats.org/drawingml/2006/main" noGrp="1"/>
          </p:cNvSpPr>
          <p:nvPr/>
        </p:nvSpPr>
        <p:spPr>
          <a:xfrm xmlns:a="http://schemas.openxmlformats.org/drawingml/2006/main">
            <a:off x="828675" y="4591050"/>
            <a:ext cx="76200" cy="76200"/>
          </a:xfrm>
          <a:prstGeom xmlns:a="http://schemas.openxmlformats.org/drawingml/2006/main" prst="ellipse">
            <a:avLst/>
          </a:prstGeom>
          <a:solidFill xmlns:a="http://schemas.openxmlformats.org/drawingml/2006/main">
            <a:srgbClr val="9B7AC7"/>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B435E9AD-262C-4FE1-8D0E-A07FC5E2AC02}"/>
              </a:ext>
            </a:extLst>
          </p:cNvPr>
          <p:cNvSpPr>
            <a:spLocks xmlns:a="http://schemas.openxmlformats.org/drawingml/2006/main" noGrp="1"/>
          </p:cNvSpPr>
          <p:nvPr/>
        </p:nvSpPr>
        <p:spPr>
          <a:xfrm xmlns:a="http://schemas.openxmlformats.org/drawingml/2006/main">
            <a:off x="1019175" y="4543425"/>
            <a:ext cx="2838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0">
                <a:solidFill>
                  <a:srgbClr val="261A2C"/>
                </a:solidFill>
                <a:latin typeface="Avenir Next"/>
                <a:ea typeface="Avenir Next"/>
                <a:cs typeface="Avenir Next"/>
              </a:defRPr>
            </a:defPPr>
          </a:lstStyle>
          <a:p xmlns:a="http://schemas.openxmlformats.org/drawingml/2006/main">
            <a:pPr algn="l">
              <a:defRPr sz="1050" b="0">
                <a:solidFill>
                  <a:srgbClr val="261A2C"/>
                </a:solidFill>
                <a:latin typeface="Avenir Next"/>
                <a:ea typeface="Avenir Next"/>
                <a:cs typeface="Avenir Next"/>
              </a:defRPr>
            </a:pPr>
            <a:r>
              <a:rPr sz="1050" b="0">
                <a:solidFill>
                  <a:srgbClr val="261A2C"/>
                </a:solidFill>
                <a:latin typeface="Avenir Next"/>
                <a:ea typeface="Avenir Next"/>
                <a:cs typeface="Avenir Next"/>
              </a:rPr>
              <a:t>Positioning, naira pricing and proof</a:t>
            </a:r>
          </a:p>
        </p:txBody>
      </p:sp>
      <p:sp>
        <p:nvSpPr>
          <p:cNvPr id="16" name="session-dot-1-2">
            <a:extLst xmlns:a="http://schemas.openxmlformats.org/drawingml/2006/main">
              <a:ext uri="{FF2B5EF4-FFF2-40B4-BE49-F238E27FC236}">
                <a16:creationId xmlns:a16="http://schemas.microsoft.com/office/drawing/2014/main" id="{178FA2A0-205B-46B6-8FB0-C3CE75668AE3}"/>
              </a:ext>
            </a:extLst>
          </p:cNvPr>
          <p:cNvSpPr>
            <a:spLocks xmlns:a="http://schemas.openxmlformats.org/drawingml/2006/main" noGrp="1"/>
          </p:cNvSpPr>
          <p:nvPr/>
        </p:nvSpPr>
        <p:spPr>
          <a:xfrm xmlns:a="http://schemas.openxmlformats.org/drawingml/2006/main">
            <a:off x="828675" y="4962525"/>
            <a:ext cx="76200" cy="76200"/>
          </a:xfrm>
          <a:prstGeom xmlns:a="http://schemas.openxmlformats.org/drawingml/2006/main" prst="ellipse">
            <a:avLst/>
          </a:prstGeom>
          <a:solidFill xmlns:a="http://schemas.openxmlformats.org/drawingml/2006/main">
            <a:srgbClr val="AEE8CE"/>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C31074F-BE9D-480F-97DD-2118B31E0EBC}"/>
              </a:ext>
            </a:extLst>
          </p:cNvPr>
          <p:cNvSpPr>
            <a:spLocks xmlns:a="http://schemas.openxmlformats.org/drawingml/2006/main" noGrp="1"/>
          </p:cNvSpPr>
          <p:nvPr/>
        </p:nvSpPr>
        <p:spPr>
          <a:xfrm xmlns:a="http://schemas.openxmlformats.org/drawingml/2006/main">
            <a:off x="1019175" y="4914900"/>
            <a:ext cx="2838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0">
                <a:solidFill>
                  <a:srgbClr val="261A2C"/>
                </a:solidFill>
                <a:latin typeface="Avenir Next"/>
                <a:ea typeface="Avenir Next"/>
                <a:cs typeface="Avenir Next"/>
              </a:defRPr>
            </a:defPPr>
          </a:lstStyle>
          <a:p xmlns:a="http://schemas.openxmlformats.org/drawingml/2006/main">
            <a:pPr algn="l">
              <a:defRPr sz="1050" b="0">
                <a:solidFill>
                  <a:srgbClr val="261A2C"/>
                </a:solidFill>
                <a:latin typeface="Avenir Next"/>
                <a:ea typeface="Avenir Next"/>
                <a:cs typeface="Avenir Next"/>
              </a:defRPr>
            </a:pPr>
            <a:r>
              <a:rPr sz="1050" b="0">
                <a:solidFill>
                  <a:srgbClr val="261A2C"/>
                </a:solidFill>
                <a:latin typeface="Avenir Next"/>
                <a:ea typeface="Avenir Next"/>
                <a:cs typeface="Avenir Next"/>
              </a:rPr>
              <a:t>Distribution that meets local reality</a:t>
            </a:r>
          </a:p>
        </p:txBody>
      </p:sp>
      <p:sp>
        <p:nvSpPr>
          <p:cNvPr id="18" name="session-dot-1-3">
            <a:extLst xmlns:a="http://schemas.openxmlformats.org/drawingml/2006/main">
              <a:ext uri="{FF2B5EF4-FFF2-40B4-BE49-F238E27FC236}">
                <a16:creationId xmlns:a16="http://schemas.microsoft.com/office/drawing/2014/main" id="{8E4428DC-B57D-4E58-92F6-E82FCD037705}"/>
              </a:ext>
            </a:extLst>
          </p:cNvPr>
          <p:cNvSpPr>
            <a:spLocks xmlns:a="http://schemas.openxmlformats.org/drawingml/2006/main" noGrp="1"/>
          </p:cNvSpPr>
          <p:nvPr/>
        </p:nvSpPr>
        <p:spPr>
          <a:xfrm xmlns:a="http://schemas.openxmlformats.org/drawingml/2006/main">
            <a:off x="828675" y="5334000"/>
            <a:ext cx="76200" cy="76200"/>
          </a:xfrm>
          <a:prstGeom xmlns:a="http://schemas.openxmlformats.org/drawingml/2006/main" prst="ellipse">
            <a:avLst/>
          </a:prstGeom>
          <a:solidFill xmlns:a="http://schemas.openxmlformats.org/drawingml/2006/main">
            <a:srgbClr val="9B7AC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CA58724B-250D-4833-9E48-9EB1A44FF7B6}"/>
              </a:ext>
            </a:extLst>
          </p:cNvPr>
          <p:cNvSpPr>
            <a:spLocks xmlns:a="http://schemas.openxmlformats.org/drawingml/2006/main" noGrp="1"/>
          </p:cNvSpPr>
          <p:nvPr/>
        </p:nvSpPr>
        <p:spPr>
          <a:xfrm xmlns:a="http://schemas.openxmlformats.org/drawingml/2006/main">
            <a:off x="1019175" y="5286375"/>
            <a:ext cx="2838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0">
                <a:solidFill>
                  <a:srgbClr val="261A2C"/>
                </a:solidFill>
                <a:latin typeface="Avenir Next"/>
                <a:ea typeface="Avenir Next"/>
                <a:cs typeface="Avenir Next"/>
              </a:defRPr>
            </a:defPPr>
          </a:lstStyle>
          <a:p xmlns:a="http://schemas.openxmlformats.org/drawingml/2006/main">
            <a:pPr algn="l">
              <a:defRPr sz="1050" b="0">
                <a:solidFill>
                  <a:srgbClr val="261A2C"/>
                </a:solidFill>
                <a:latin typeface="Avenir Next"/>
                <a:ea typeface="Avenir Next"/>
                <a:cs typeface="Avenir Next"/>
              </a:defRPr>
            </a:pPr>
            <a:r>
              <a:rPr sz="1050" b="0">
                <a:solidFill>
                  <a:srgbClr val="261A2C"/>
                </a:solidFill>
                <a:latin typeface="Avenir Next"/>
                <a:ea typeface="Avenir Next"/>
                <a:cs typeface="Avenir Next"/>
              </a:rPr>
              <a:t>Live audit of 3 attendee products</a:t>
            </a:r>
          </a:p>
        </p:txBody>
      </p:sp>
      <p:sp>
        <p:nvSpPr>
          <p:cNvPr id="20" name="session-card-2">
            <a:extLst xmlns:a="http://schemas.openxmlformats.org/drawingml/2006/main">
              <a:ext uri="{FF2B5EF4-FFF2-40B4-BE49-F238E27FC236}">
                <a16:creationId xmlns:a16="http://schemas.microsoft.com/office/drawing/2014/main" id="{4F532390-A42B-4FAC-93B3-51267E3AB883}"/>
              </a:ext>
            </a:extLst>
          </p:cNvPr>
          <p:cNvSpPr>
            <a:spLocks xmlns:a="http://schemas.openxmlformats.org/drawingml/2006/main" noGrp="1"/>
          </p:cNvSpPr>
          <p:nvPr/>
        </p:nvSpPr>
        <p:spPr>
          <a:xfrm xmlns:a="http://schemas.openxmlformats.org/drawingml/2006/main">
            <a:off x="4343400" y="2143125"/>
            <a:ext cx="3505200" cy="3886200"/>
          </a:xfrm>
          <a:prstGeom xmlns:a="http://schemas.openxmlformats.org/drawingml/2006/main" prst="roundRect">
            <a:avLst>
              <a:gd name="adj" fmla="val 5435"/>
            </a:avLst>
          </a:prstGeom>
          <a:solidFill xmlns:a="http://schemas.openxmlformats.org/drawingml/2006/main">
            <a:srgbClr val="FFFFFF"/>
          </a:solidFill>
          <a:ln xmlns:a="http://schemas.openxmlformats.org/drawingml/2006/main" w="0">
            <a:noFill/>
            <a:prstDash val="solid"/>
          </a:ln>
        </p:spPr>
      </p:sp>
      <p:sp>
        <p:nvSpPr>
          <p:cNvPr id="21" name="pill-software-ai">
            <a:extLst xmlns:a="http://schemas.openxmlformats.org/drawingml/2006/main">
              <a:ext uri="{FF2B5EF4-FFF2-40B4-BE49-F238E27FC236}">
                <a16:creationId xmlns:a16="http://schemas.microsoft.com/office/drawing/2014/main" id="{C68851C7-8123-42B6-920B-3B8CE9B2F0CE}"/>
              </a:ext>
            </a:extLst>
          </p:cNvPr>
          <p:cNvSpPr>
            <a:spLocks xmlns:a="http://schemas.openxmlformats.org/drawingml/2006/main" noGrp="1"/>
          </p:cNvSpPr>
          <p:nvPr/>
        </p:nvSpPr>
        <p:spPr>
          <a:xfrm xmlns:a="http://schemas.openxmlformats.org/drawingml/2006/main">
            <a:off x="4552950" y="2362200"/>
            <a:ext cx="1952625" cy="285750"/>
          </a:xfrm>
          <a:prstGeom xmlns:a="http://schemas.openxmlformats.org/drawingml/2006/main" prst="roundRect">
            <a:avLst>
              <a:gd name="adj" fmla="val 50000"/>
            </a:avLst>
          </a:prstGeom>
          <a:solidFill xmlns:a="http://schemas.openxmlformats.org/drawingml/2006/main">
            <a:srgbClr val="E5F5EE"/>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AF6A1D5C-0066-4C1D-B90D-AA6208E374B8}"/>
              </a:ext>
            </a:extLst>
          </p:cNvPr>
          <p:cNvSpPr>
            <a:spLocks xmlns:a="http://schemas.openxmlformats.org/drawingml/2006/main" noGrp="1"/>
          </p:cNvSpPr>
          <p:nvPr/>
        </p:nvSpPr>
        <p:spPr>
          <a:xfrm xmlns:a="http://schemas.openxmlformats.org/drawingml/2006/main">
            <a:off x="4667250" y="2428875"/>
            <a:ext cx="17240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39745C"/>
                </a:solidFill>
                <a:latin typeface="Avenir Next"/>
                <a:ea typeface="Avenir Next"/>
                <a:cs typeface="Avenir Next"/>
              </a:defRPr>
            </a:defPPr>
          </a:lstStyle>
          <a:p xmlns:a="http://schemas.openxmlformats.org/drawingml/2006/main">
            <a:pPr algn="l">
              <a:defRPr sz="900" b="1">
                <a:solidFill>
                  <a:srgbClr val="39745C"/>
                </a:solidFill>
                <a:latin typeface="Avenir Next"/>
                <a:ea typeface="Avenir Next"/>
                <a:cs typeface="Avenir Next"/>
              </a:defRPr>
            </a:pPr>
            <a:r>
              <a:rPr sz="900" b="1">
                <a:solidFill>
                  <a:srgbClr val="39745C"/>
                </a:solidFill>
                <a:latin typeface="Avenir Next"/>
                <a:ea typeface="Avenir Next"/>
                <a:cs typeface="Avenir Next"/>
              </a:rPr>
              <a:t>SOFTWARE + AI</a:t>
            </a:r>
          </a:p>
        </p:txBody>
      </p:sp>
      <p:sp>
        <p:nvSpPr>
          <p:cNvPr id="23" name="">
            <a:extLst xmlns:a="http://schemas.openxmlformats.org/drawingml/2006/main">
              <a:ext uri="{FF2B5EF4-FFF2-40B4-BE49-F238E27FC236}">
                <a16:creationId xmlns:a16="http://schemas.microsoft.com/office/drawing/2014/main" id="{ADEAB4AD-DDDA-4F7F-BB09-110BAD4CDAF1}"/>
              </a:ext>
            </a:extLst>
          </p:cNvPr>
          <p:cNvSpPr>
            <a:spLocks xmlns:a="http://schemas.openxmlformats.org/drawingml/2006/main" noGrp="1"/>
          </p:cNvSpPr>
          <p:nvPr/>
        </p:nvSpPr>
        <p:spPr>
          <a:xfrm xmlns:a="http://schemas.openxmlformats.org/drawingml/2006/main">
            <a:off x="4552950" y="2828925"/>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1">
                <a:solidFill>
                  <a:srgbClr val="9B7AC7"/>
                </a:solidFill>
                <a:latin typeface="Avenir Next"/>
                <a:ea typeface="Avenir Next"/>
                <a:cs typeface="Avenir Next"/>
              </a:defRPr>
            </a:defPPr>
          </a:lstStyle>
          <a:p xmlns:a="http://schemas.openxmlformats.org/drawingml/2006/main">
            <a:pPr algn="l">
              <a:defRPr sz="975" b="1">
                <a:solidFill>
                  <a:srgbClr val="9B7AC7"/>
                </a:solidFill>
                <a:latin typeface="Avenir Next"/>
                <a:ea typeface="Avenir Next"/>
                <a:cs typeface="Avenir Next"/>
              </a:defRPr>
            </a:pPr>
            <a:r>
              <a:rPr sz="975" b="1">
                <a:solidFill>
                  <a:srgbClr val="9B7AC7"/>
                </a:solidFill>
                <a:latin typeface="Avenir Next"/>
                <a:ea typeface="Avenir Next"/>
                <a:cs typeface="Avenir Next"/>
              </a:rPr>
              <a:t>02</a:t>
            </a:r>
          </a:p>
        </p:txBody>
      </p:sp>
      <p:sp>
        <p:nvSpPr>
          <p:cNvPr id="24" name="">
            <a:extLst xmlns:a="http://schemas.openxmlformats.org/drawingml/2006/main">
              <a:ext uri="{FF2B5EF4-FFF2-40B4-BE49-F238E27FC236}">
                <a16:creationId xmlns:a16="http://schemas.microsoft.com/office/drawing/2014/main" id="{CD07BBA0-E04B-428B-B13C-CBE4C49F9C8F}"/>
              </a:ext>
            </a:extLst>
          </p:cNvPr>
          <p:cNvSpPr>
            <a:spLocks xmlns:a="http://schemas.openxmlformats.org/drawingml/2006/main" noGrp="1"/>
          </p:cNvSpPr>
          <p:nvPr/>
        </p:nvSpPr>
        <p:spPr>
          <a:xfrm xmlns:a="http://schemas.openxmlformats.org/drawingml/2006/main">
            <a:off x="4552950" y="3105150"/>
            <a:ext cx="304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025" b="1">
                <a:solidFill>
                  <a:srgbClr val="261A2C"/>
                </a:solidFill>
                <a:latin typeface="Avenir Next"/>
                <a:ea typeface="Avenir Next"/>
                <a:cs typeface="Avenir Next"/>
              </a:defRPr>
            </a:defPPr>
          </a:lstStyle>
          <a:p xmlns:a="http://schemas.openxmlformats.org/drawingml/2006/main">
            <a:pPr algn="l">
              <a:defRPr sz="2025" b="1">
                <a:solidFill>
                  <a:srgbClr val="261A2C"/>
                </a:solidFill>
                <a:latin typeface="Avenir Next"/>
                <a:ea typeface="Avenir Next"/>
                <a:cs typeface="Avenir Next"/>
              </a:defRPr>
            </a:pPr>
            <a:r>
              <a:rPr sz="2025" b="1">
                <a:solidFill>
                  <a:srgbClr val="261A2C"/>
                </a:solidFill>
                <a:latin typeface="Avenir Next"/>
                <a:ea typeface="Avenir Next"/>
                <a:cs typeface="Avenir Next"/>
              </a:rPr>
              <a:t>The Build</a:t>
            </a:r>
          </a:p>
        </p:txBody>
      </p:sp>
      <p:sp>
        <p:nvSpPr>
          <p:cNvPr id="25" name="">
            <a:extLst xmlns:a="http://schemas.openxmlformats.org/drawingml/2006/main">
              <a:ext uri="{FF2B5EF4-FFF2-40B4-BE49-F238E27FC236}">
                <a16:creationId xmlns:a16="http://schemas.microsoft.com/office/drawing/2014/main" id="{526E16DB-C9B6-499A-B28E-D9A3D512EB90}"/>
              </a:ext>
            </a:extLst>
          </p:cNvPr>
          <p:cNvSpPr>
            <a:spLocks xmlns:a="http://schemas.openxmlformats.org/drawingml/2006/main" noGrp="1"/>
          </p:cNvSpPr>
          <p:nvPr/>
        </p:nvSpPr>
        <p:spPr>
          <a:xfrm xmlns:a="http://schemas.openxmlformats.org/drawingml/2006/main">
            <a:off x="4552950" y="3867150"/>
            <a:ext cx="30670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1">
                <a:solidFill>
                  <a:srgbClr val="7354A4"/>
                </a:solidFill>
                <a:latin typeface="Avenir Next"/>
                <a:ea typeface="Avenir Next"/>
                <a:cs typeface="Avenir Next"/>
              </a:defRPr>
            </a:defPPr>
          </a:lstStyle>
          <a:p xmlns:a="http://schemas.openxmlformats.org/drawingml/2006/main">
            <a:pPr algn="l">
              <a:defRPr sz="1200" b="1">
                <a:solidFill>
                  <a:srgbClr val="7354A4"/>
                </a:solidFill>
                <a:latin typeface="Avenir Next"/>
                <a:ea typeface="Avenir Next"/>
                <a:cs typeface="Avenir Next"/>
              </a:defRPr>
            </a:pPr>
            <a:r>
              <a:rPr sz="1200" b="1">
                <a:solidFill>
                  <a:srgbClr val="7354A4"/>
                </a:solidFill>
                <a:latin typeface="Avenir Next"/>
                <a:ea typeface="Avenir Next"/>
                <a:cs typeface="Avenir Next"/>
              </a:rPr>
              <a:t>Shipping faster with AI</a:t>
            </a:r>
          </a:p>
        </p:txBody>
      </p:sp>
      <p:sp>
        <p:nvSpPr>
          <p:cNvPr id="26" name="session-divider-2">
            <a:extLst xmlns:a="http://schemas.openxmlformats.org/drawingml/2006/main">
              <a:ext uri="{FF2B5EF4-FFF2-40B4-BE49-F238E27FC236}">
                <a16:creationId xmlns:a16="http://schemas.microsoft.com/office/drawing/2014/main" id="{1499691C-14FC-405B-A19C-B9A4568C12CC}"/>
              </a:ext>
            </a:extLst>
          </p:cNvPr>
          <p:cNvSpPr>
            <a:spLocks xmlns:a="http://schemas.openxmlformats.org/drawingml/2006/main" noGrp="1"/>
          </p:cNvSpPr>
          <p:nvPr/>
        </p:nvSpPr>
        <p:spPr>
          <a:xfrm xmlns:a="http://schemas.openxmlformats.org/drawingml/2006/main">
            <a:off x="4552950" y="4400550"/>
            <a:ext cx="3086100" cy="9525"/>
          </a:xfrm>
          <a:prstGeom xmlns:a="http://schemas.openxmlformats.org/drawingml/2006/main" prst="rect">
            <a:avLst/>
          </a:prstGeom>
          <a:solidFill xmlns:a="http://schemas.openxmlformats.org/drawingml/2006/main">
            <a:srgbClr val="E7E0EC"/>
          </a:solidFill>
          <a:ln xmlns:a="http://schemas.openxmlformats.org/drawingml/2006/main" w="0">
            <a:noFill/>
            <a:prstDash val="solid"/>
          </a:ln>
        </p:spPr>
      </p:sp>
      <p:sp>
        <p:nvSpPr>
          <p:cNvPr id="27" name="session-dot-2-1">
            <a:extLst xmlns:a="http://schemas.openxmlformats.org/drawingml/2006/main">
              <a:ext uri="{FF2B5EF4-FFF2-40B4-BE49-F238E27FC236}">
                <a16:creationId xmlns:a16="http://schemas.microsoft.com/office/drawing/2014/main" id="{710CFE6D-7C3A-4A24-B99B-7AD4FCD0F1E6}"/>
              </a:ext>
            </a:extLst>
          </p:cNvPr>
          <p:cNvSpPr>
            <a:spLocks xmlns:a="http://schemas.openxmlformats.org/drawingml/2006/main" noGrp="1"/>
          </p:cNvSpPr>
          <p:nvPr/>
        </p:nvSpPr>
        <p:spPr>
          <a:xfrm xmlns:a="http://schemas.openxmlformats.org/drawingml/2006/main">
            <a:off x="4562475" y="4591050"/>
            <a:ext cx="76200" cy="76200"/>
          </a:xfrm>
          <a:prstGeom xmlns:a="http://schemas.openxmlformats.org/drawingml/2006/main" prst="ellipse">
            <a:avLst/>
          </a:prstGeom>
          <a:solidFill xmlns:a="http://schemas.openxmlformats.org/drawingml/2006/main">
            <a:srgbClr val="9B7AC7"/>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C2CBD358-348B-4644-8E37-911EFC5ECE02}"/>
              </a:ext>
            </a:extLst>
          </p:cNvPr>
          <p:cNvSpPr>
            <a:spLocks xmlns:a="http://schemas.openxmlformats.org/drawingml/2006/main" noGrp="1"/>
          </p:cNvSpPr>
          <p:nvPr/>
        </p:nvSpPr>
        <p:spPr>
          <a:xfrm xmlns:a="http://schemas.openxmlformats.org/drawingml/2006/main">
            <a:off x="4752975" y="4543425"/>
            <a:ext cx="2838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0">
                <a:solidFill>
                  <a:srgbClr val="261A2C"/>
                </a:solidFill>
                <a:latin typeface="Avenir Next"/>
                <a:ea typeface="Avenir Next"/>
                <a:cs typeface="Avenir Next"/>
              </a:defRPr>
            </a:defPPr>
          </a:lstStyle>
          <a:p xmlns:a="http://schemas.openxmlformats.org/drawingml/2006/main">
            <a:pPr algn="l">
              <a:defRPr sz="1050" b="0">
                <a:solidFill>
                  <a:srgbClr val="261A2C"/>
                </a:solidFill>
                <a:latin typeface="Avenir Next"/>
                <a:ea typeface="Avenir Next"/>
                <a:cs typeface="Avenir Next"/>
              </a:defRPr>
            </a:pPr>
            <a:r>
              <a:rPr sz="1050" b="0">
                <a:solidFill>
                  <a:srgbClr val="261A2C"/>
                </a:solidFill>
                <a:latin typeface="Avenir Next"/>
                <a:ea typeface="Avenir Next"/>
                <a:cs typeface="Avenir Next"/>
              </a:rPr>
              <a:t>Build a problem chosen by the room</a:t>
            </a:r>
          </a:p>
        </p:txBody>
      </p:sp>
      <p:sp>
        <p:nvSpPr>
          <p:cNvPr id="29" name="session-dot-2-2">
            <a:extLst xmlns:a="http://schemas.openxmlformats.org/drawingml/2006/main">
              <a:ext uri="{FF2B5EF4-FFF2-40B4-BE49-F238E27FC236}">
                <a16:creationId xmlns:a16="http://schemas.microsoft.com/office/drawing/2014/main" id="{7A308E17-9151-405C-A02A-99B0BDE47981}"/>
              </a:ext>
            </a:extLst>
          </p:cNvPr>
          <p:cNvSpPr>
            <a:spLocks xmlns:a="http://schemas.openxmlformats.org/drawingml/2006/main" noGrp="1"/>
          </p:cNvSpPr>
          <p:nvPr/>
        </p:nvSpPr>
        <p:spPr>
          <a:xfrm xmlns:a="http://schemas.openxmlformats.org/drawingml/2006/main">
            <a:off x="4562475" y="4962525"/>
            <a:ext cx="76200" cy="76200"/>
          </a:xfrm>
          <a:prstGeom xmlns:a="http://schemas.openxmlformats.org/drawingml/2006/main" prst="ellipse">
            <a:avLst/>
          </a:prstGeom>
          <a:solidFill xmlns:a="http://schemas.openxmlformats.org/drawingml/2006/main">
            <a:srgbClr val="AEE8CE"/>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9055AE5D-8F66-4538-AFCD-42C52FD368C0}"/>
              </a:ext>
            </a:extLst>
          </p:cNvPr>
          <p:cNvSpPr>
            <a:spLocks xmlns:a="http://schemas.openxmlformats.org/drawingml/2006/main" noGrp="1"/>
          </p:cNvSpPr>
          <p:nvPr/>
        </p:nvSpPr>
        <p:spPr>
          <a:xfrm xmlns:a="http://schemas.openxmlformats.org/drawingml/2006/main">
            <a:off x="4752975" y="4914900"/>
            <a:ext cx="2838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0">
                <a:solidFill>
                  <a:srgbClr val="261A2C"/>
                </a:solidFill>
                <a:latin typeface="Avenir Next"/>
                <a:ea typeface="Avenir Next"/>
                <a:cs typeface="Avenir Next"/>
              </a:defRPr>
            </a:defPPr>
          </a:lstStyle>
          <a:p xmlns:a="http://schemas.openxmlformats.org/drawingml/2006/main">
            <a:pPr algn="l">
              <a:defRPr sz="1050" b="0">
                <a:solidFill>
                  <a:srgbClr val="261A2C"/>
                </a:solidFill>
                <a:latin typeface="Avenir Next"/>
                <a:ea typeface="Avenir Next"/>
                <a:cs typeface="Avenir Next"/>
              </a:defRPr>
            </a:pPr>
            <a:r>
              <a:rPr sz="1050" b="0">
                <a:solidFill>
                  <a:srgbClr val="261A2C"/>
                </a:solidFill>
                <a:latin typeface="Avenir Next"/>
                <a:ea typeface="Avenir Next"/>
                <a:cs typeface="Avenir Next"/>
              </a:rPr>
              <a:t>Review, test and ship a feature live</a:t>
            </a:r>
          </a:p>
        </p:txBody>
      </p:sp>
      <p:sp>
        <p:nvSpPr>
          <p:cNvPr id="31" name="session-dot-2-3">
            <a:extLst xmlns:a="http://schemas.openxmlformats.org/drawingml/2006/main">
              <a:ext uri="{FF2B5EF4-FFF2-40B4-BE49-F238E27FC236}">
                <a16:creationId xmlns:a16="http://schemas.microsoft.com/office/drawing/2014/main" id="{1AA9BA16-50E2-4250-ABF7-C928BD29E99A}"/>
              </a:ext>
            </a:extLst>
          </p:cNvPr>
          <p:cNvSpPr>
            <a:spLocks xmlns:a="http://schemas.openxmlformats.org/drawingml/2006/main" noGrp="1"/>
          </p:cNvSpPr>
          <p:nvPr/>
        </p:nvSpPr>
        <p:spPr>
          <a:xfrm xmlns:a="http://schemas.openxmlformats.org/drawingml/2006/main">
            <a:off x="4562475" y="5334000"/>
            <a:ext cx="76200" cy="76200"/>
          </a:xfrm>
          <a:prstGeom xmlns:a="http://schemas.openxmlformats.org/drawingml/2006/main" prst="ellipse">
            <a:avLst/>
          </a:prstGeom>
          <a:solidFill xmlns:a="http://schemas.openxmlformats.org/drawingml/2006/main">
            <a:srgbClr val="9B7AC7"/>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789D8432-7555-455A-9D7B-49FBF125563F}"/>
              </a:ext>
            </a:extLst>
          </p:cNvPr>
          <p:cNvSpPr>
            <a:spLocks xmlns:a="http://schemas.openxmlformats.org/drawingml/2006/main" noGrp="1"/>
          </p:cNvSpPr>
          <p:nvPr/>
        </p:nvSpPr>
        <p:spPr>
          <a:xfrm xmlns:a="http://schemas.openxmlformats.org/drawingml/2006/main">
            <a:off x="4752975" y="5286375"/>
            <a:ext cx="2838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0">
                <a:solidFill>
                  <a:srgbClr val="261A2C"/>
                </a:solidFill>
                <a:latin typeface="Avenir Next"/>
                <a:ea typeface="Avenir Next"/>
                <a:cs typeface="Avenir Next"/>
              </a:defRPr>
            </a:defPPr>
          </a:lstStyle>
          <a:p xmlns:a="http://schemas.openxmlformats.org/drawingml/2006/main">
            <a:pPr algn="l">
              <a:defRPr sz="1050" b="0">
                <a:solidFill>
                  <a:srgbClr val="261A2C"/>
                </a:solidFill>
                <a:latin typeface="Avenir Next"/>
                <a:ea typeface="Avenir Next"/>
                <a:cs typeface="Avenir Next"/>
              </a:defRPr>
            </a:pPr>
            <a:r>
              <a:rPr sz="1050" b="0">
                <a:solidFill>
                  <a:srgbClr val="261A2C"/>
                </a:solidFill>
                <a:latin typeface="Avenir Next"/>
                <a:ea typeface="Avenir Next"/>
                <a:cs typeface="Avenir Next"/>
              </a:rPr>
              <a:t>Name where AI helps—and fails</a:t>
            </a:r>
          </a:p>
        </p:txBody>
      </p:sp>
      <p:sp>
        <p:nvSpPr>
          <p:cNvPr id="33" name="session-card-3">
            <a:extLst xmlns:a="http://schemas.openxmlformats.org/drawingml/2006/main">
              <a:ext uri="{FF2B5EF4-FFF2-40B4-BE49-F238E27FC236}">
                <a16:creationId xmlns:a16="http://schemas.microsoft.com/office/drawing/2014/main" id="{F274D464-55F3-45CA-900C-8C1111876229}"/>
              </a:ext>
            </a:extLst>
          </p:cNvPr>
          <p:cNvSpPr>
            <a:spLocks xmlns:a="http://schemas.openxmlformats.org/drawingml/2006/main" noGrp="1"/>
          </p:cNvSpPr>
          <p:nvPr/>
        </p:nvSpPr>
        <p:spPr>
          <a:xfrm xmlns:a="http://schemas.openxmlformats.org/drawingml/2006/main">
            <a:off x="8077200" y="2143125"/>
            <a:ext cx="3505200" cy="3886200"/>
          </a:xfrm>
          <a:prstGeom xmlns:a="http://schemas.openxmlformats.org/drawingml/2006/main" prst="roundRect">
            <a:avLst>
              <a:gd name="adj" fmla="val 5435"/>
            </a:avLst>
          </a:prstGeom>
          <a:solidFill xmlns:a="http://schemas.openxmlformats.org/drawingml/2006/main">
            <a:srgbClr val="FFFFFF"/>
          </a:solidFill>
          <a:ln xmlns:a="http://schemas.openxmlformats.org/drawingml/2006/main" w="0">
            <a:noFill/>
            <a:prstDash val="solid"/>
          </a:ln>
        </p:spPr>
      </p:sp>
      <p:sp>
        <p:nvSpPr>
          <p:cNvPr id="34" name="pill-operations-trust">
            <a:extLst xmlns:a="http://schemas.openxmlformats.org/drawingml/2006/main">
              <a:ext uri="{FF2B5EF4-FFF2-40B4-BE49-F238E27FC236}">
                <a16:creationId xmlns:a16="http://schemas.microsoft.com/office/drawing/2014/main" id="{6B7EFDA8-2EB6-44F5-92B7-BA5D4A842EB8}"/>
              </a:ext>
            </a:extLst>
          </p:cNvPr>
          <p:cNvSpPr>
            <a:spLocks xmlns:a="http://schemas.openxmlformats.org/drawingml/2006/main" noGrp="1"/>
          </p:cNvSpPr>
          <p:nvPr/>
        </p:nvSpPr>
        <p:spPr>
          <a:xfrm xmlns:a="http://schemas.openxmlformats.org/drawingml/2006/main">
            <a:off x="8286750" y="2362200"/>
            <a:ext cx="1952625" cy="285750"/>
          </a:xfrm>
          <a:prstGeom xmlns:a="http://schemas.openxmlformats.org/drawingml/2006/main" prst="roundRect">
            <a:avLst>
              <a:gd name="adj" fmla="val 50000"/>
            </a:avLst>
          </a:prstGeom>
          <a:solidFill xmlns:a="http://schemas.openxmlformats.org/drawingml/2006/main">
            <a:srgbClr val="F0EAF6"/>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81594C24-364A-487D-BC37-BEE37C3E82B2}"/>
              </a:ext>
            </a:extLst>
          </p:cNvPr>
          <p:cNvSpPr>
            <a:spLocks xmlns:a="http://schemas.openxmlformats.org/drawingml/2006/main" noGrp="1"/>
          </p:cNvSpPr>
          <p:nvPr/>
        </p:nvSpPr>
        <p:spPr>
          <a:xfrm xmlns:a="http://schemas.openxmlformats.org/drawingml/2006/main">
            <a:off x="8401050" y="2428875"/>
            <a:ext cx="17240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7354A4"/>
                </a:solidFill>
                <a:latin typeface="Avenir Next"/>
                <a:ea typeface="Avenir Next"/>
                <a:cs typeface="Avenir Next"/>
              </a:defRPr>
            </a:defPPr>
          </a:lstStyle>
          <a:p xmlns:a="http://schemas.openxmlformats.org/drawingml/2006/main">
            <a:pPr algn="l">
              <a:defRPr sz="900" b="1">
                <a:solidFill>
                  <a:srgbClr val="7354A4"/>
                </a:solidFill>
                <a:latin typeface="Avenir Next"/>
                <a:ea typeface="Avenir Next"/>
                <a:cs typeface="Avenir Next"/>
              </a:defRPr>
            </a:pPr>
            <a:r>
              <a:rPr sz="900" b="1">
                <a:solidFill>
                  <a:srgbClr val="7354A4"/>
                </a:solidFill>
                <a:latin typeface="Avenir Next"/>
                <a:ea typeface="Avenir Next"/>
                <a:cs typeface="Avenir Next"/>
              </a:rPr>
              <a:t>OPERATIONS + TRUST</a:t>
            </a:r>
          </a:p>
        </p:txBody>
      </p:sp>
      <p:sp>
        <p:nvSpPr>
          <p:cNvPr id="36" name="">
            <a:extLst xmlns:a="http://schemas.openxmlformats.org/drawingml/2006/main">
              <a:ext uri="{FF2B5EF4-FFF2-40B4-BE49-F238E27FC236}">
                <a16:creationId xmlns:a16="http://schemas.microsoft.com/office/drawing/2014/main" id="{E91CA5B6-F124-4DA7-A116-A66FD0939F77}"/>
              </a:ext>
            </a:extLst>
          </p:cNvPr>
          <p:cNvSpPr>
            <a:spLocks xmlns:a="http://schemas.openxmlformats.org/drawingml/2006/main" noGrp="1"/>
          </p:cNvSpPr>
          <p:nvPr/>
        </p:nvSpPr>
        <p:spPr>
          <a:xfrm xmlns:a="http://schemas.openxmlformats.org/drawingml/2006/main">
            <a:off x="8286750" y="2828925"/>
            <a:ext cx="4191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1">
                <a:solidFill>
                  <a:srgbClr val="9B7AC7"/>
                </a:solidFill>
                <a:latin typeface="Avenir Next"/>
                <a:ea typeface="Avenir Next"/>
                <a:cs typeface="Avenir Next"/>
              </a:defRPr>
            </a:defPPr>
          </a:lstStyle>
          <a:p xmlns:a="http://schemas.openxmlformats.org/drawingml/2006/main">
            <a:pPr algn="l">
              <a:defRPr sz="975" b="1">
                <a:solidFill>
                  <a:srgbClr val="9B7AC7"/>
                </a:solidFill>
                <a:latin typeface="Avenir Next"/>
                <a:ea typeface="Avenir Next"/>
                <a:cs typeface="Avenir Next"/>
              </a:defRPr>
            </a:pPr>
            <a:r>
              <a:rPr sz="975" b="1">
                <a:solidFill>
                  <a:srgbClr val="9B7AC7"/>
                </a:solidFill>
                <a:latin typeface="Avenir Next"/>
                <a:ea typeface="Avenir Next"/>
                <a:cs typeface="Avenir Next"/>
              </a:rPr>
              <a:t>03</a:t>
            </a:r>
          </a:p>
        </p:txBody>
      </p:sp>
      <p:sp>
        <p:nvSpPr>
          <p:cNvPr id="37" name="">
            <a:extLst xmlns:a="http://schemas.openxmlformats.org/drawingml/2006/main">
              <a:ext uri="{FF2B5EF4-FFF2-40B4-BE49-F238E27FC236}">
                <a16:creationId xmlns:a16="http://schemas.microsoft.com/office/drawing/2014/main" id="{5E40107D-B29E-4B7F-A13C-CF160016EC26}"/>
              </a:ext>
            </a:extLst>
          </p:cNvPr>
          <p:cNvSpPr>
            <a:spLocks xmlns:a="http://schemas.openxmlformats.org/drawingml/2006/main" noGrp="1"/>
          </p:cNvSpPr>
          <p:nvPr/>
        </p:nvSpPr>
        <p:spPr>
          <a:xfrm xmlns:a="http://schemas.openxmlformats.org/drawingml/2006/main">
            <a:off x="8286750" y="3105150"/>
            <a:ext cx="3048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025" b="1">
                <a:solidFill>
                  <a:srgbClr val="261A2C"/>
                </a:solidFill>
                <a:latin typeface="Avenir Next"/>
                <a:ea typeface="Avenir Next"/>
                <a:cs typeface="Avenir Next"/>
              </a:defRPr>
            </a:defPPr>
          </a:lstStyle>
          <a:p xmlns:a="http://schemas.openxmlformats.org/drawingml/2006/main">
            <a:pPr algn="l">
              <a:defRPr sz="2025" b="1">
                <a:solidFill>
                  <a:srgbClr val="261A2C"/>
                </a:solidFill>
                <a:latin typeface="Avenir Next"/>
                <a:ea typeface="Avenir Next"/>
                <a:cs typeface="Avenir Next"/>
              </a:defRPr>
            </a:pPr>
            <a:r>
              <a:rPr sz="2025" b="1">
                <a:solidFill>
                  <a:srgbClr val="261A2C"/>
                </a:solidFill>
                <a:latin typeface="Avenir Next"/>
                <a:ea typeface="Avenir Next"/>
                <a:cs typeface="Avenir Next"/>
              </a:rPr>
              <a:t>Communication</a:t>
            </a:r>
          </a:p>
          <a:p xmlns:a="http://schemas.openxmlformats.org/drawingml/2006/main">
            <a:pPr algn="l">
              <a:defRPr sz="2025" b="1">
                <a:solidFill>
                  <a:srgbClr val="261A2C"/>
                </a:solidFill>
                <a:latin typeface="Avenir Next"/>
                <a:ea typeface="Avenir Next"/>
                <a:cs typeface="Avenir Next"/>
              </a:defRPr>
            </a:pPr>
            <a:r>
              <a:rPr sz="2025" b="1">
                <a:solidFill>
                  <a:srgbClr val="261A2C"/>
                </a:solidFill>
                <a:latin typeface="Avenir Next"/>
                <a:ea typeface="Avenir Next"/>
                <a:cs typeface="Avenir Next"/>
              </a:rPr>
              <a:t>and Ethics</a:t>
            </a:r>
          </a:p>
        </p:txBody>
      </p:sp>
      <p:sp>
        <p:nvSpPr>
          <p:cNvPr id="38" name="">
            <a:extLst xmlns:a="http://schemas.openxmlformats.org/drawingml/2006/main">
              <a:ext uri="{FF2B5EF4-FFF2-40B4-BE49-F238E27FC236}">
                <a16:creationId xmlns:a16="http://schemas.microsoft.com/office/drawing/2014/main" id="{80287ACA-4B6F-4D80-AE31-ACC5D4CC5376}"/>
              </a:ext>
            </a:extLst>
          </p:cNvPr>
          <p:cNvSpPr>
            <a:spLocks xmlns:a="http://schemas.openxmlformats.org/drawingml/2006/main" noGrp="1"/>
          </p:cNvSpPr>
          <p:nvPr/>
        </p:nvSpPr>
        <p:spPr>
          <a:xfrm xmlns:a="http://schemas.openxmlformats.org/drawingml/2006/main">
            <a:off x="8286750" y="3867150"/>
            <a:ext cx="30670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1">
                <a:solidFill>
                  <a:srgbClr val="7354A4"/>
                </a:solidFill>
                <a:latin typeface="Avenir Next"/>
                <a:ea typeface="Avenir Next"/>
                <a:cs typeface="Avenir Next"/>
              </a:defRPr>
            </a:defPPr>
          </a:lstStyle>
          <a:p xmlns:a="http://schemas.openxmlformats.org/drawingml/2006/main">
            <a:pPr algn="l">
              <a:defRPr sz="1200" b="1">
                <a:solidFill>
                  <a:srgbClr val="7354A4"/>
                </a:solidFill>
                <a:latin typeface="Avenir Next"/>
                <a:ea typeface="Avenir Next"/>
                <a:cs typeface="Avenir Next"/>
              </a:defRPr>
            </a:pPr>
            <a:r>
              <a:rPr sz="1200" b="1">
                <a:solidFill>
                  <a:srgbClr val="7354A4"/>
                </a:solidFill>
                <a:latin typeface="Avenir Next"/>
                <a:ea typeface="Avenir Next"/>
                <a:cs typeface="Avenir Next"/>
              </a:rPr>
              <a:t>Doing business people trust</a:t>
            </a:r>
          </a:p>
        </p:txBody>
      </p:sp>
      <p:sp>
        <p:nvSpPr>
          <p:cNvPr id="39" name="session-divider-3">
            <a:extLst xmlns:a="http://schemas.openxmlformats.org/drawingml/2006/main">
              <a:ext uri="{FF2B5EF4-FFF2-40B4-BE49-F238E27FC236}">
                <a16:creationId xmlns:a16="http://schemas.microsoft.com/office/drawing/2014/main" id="{6E8B8DEC-4640-4DB9-879B-1AE8AC511AE0}"/>
              </a:ext>
            </a:extLst>
          </p:cNvPr>
          <p:cNvSpPr>
            <a:spLocks xmlns:a="http://schemas.openxmlformats.org/drawingml/2006/main" noGrp="1"/>
          </p:cNvSpPr>
          <p:nvPr/>
        </p:nvSpPr>
        <p:spPr>
          <a:xfrm xmlns:a="http://schemas.openxmlformats.org/drawingml/2006/main">
            <a:off x="8286750" y="4400550"/>
            <a:ext cx="3086100" cy="9525"/>
          </a:xfrm>
          <a:prstGeom xmlns:a="http://schemas.openxmlformats.org/drawingml/2006/main" prst="rect">
            <a:avLst/>
          </a:prstGeom>
          <a:solidFill xmlns:a="http://schemas.openxmlformats.org/drawingml/2006/main">
            <a:srgbClr val="E7E0EC"/>
          </a:solidFill>
          <a:ln xmlns:a="http://schemas.openxmlformats.org/drawingml/2006/main" w="0">
            <a:noFill/>
            <a:prstDash val="solid"/>
          </a:ln>
        </p:spPr>
      </p:sp>
      <p:sp>
        <p:nvSpPr>
          <p:cNvPr id="40" name="session-dot-3-1">
            <a:extLst xmlns:a="http://schemas.openxmlformats.org/drawingml/2006/main">
              <a:ext uri="{FF2B5EF4-FFF2-40B4-BE49-F238E27FC236}">
                <a16:creationId xmlns:a16="http://schemas.microsoft.com/office/drawing/2014/main" id="{B5ED24E5-B9AC-4839-9219-BB00CB008097}"/>
              </a:ext>
            </a:extLst>
          </p:cNvPr>
          <p:cNvSpPr>
            <a:spLocks xmlns:a="http://schemas.openxmlformats.org/drawingml/2006/main" noGrp="1"/>
          </p:cNvSpPr>
          <p:nvPr/>
        </p:nvSpPr>
        <p:spPr>
          <a:xfrm xmlns:a="http://schemas.openxmlformats.org/drawingml/2006/main">
            <a:off x="8296275" y="4591050"/>
            <a:ext cx="76200" cy="76200"/>
          </a:xfrm>
          <a:prstGeom xmlns:a="http://schemas.openxmlformats.org/drawingml/2006/main" prst="ellipse">
            <a:avLst/>
          </a:prstGeom>
          <a:solidFill xmlns:a="http://schemas.openxmlformats.org/drawingml/2006/main">
            <a:srgbClr val="9B7AC7"/>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1DBB0F86-34D9-41AA-9B90-C4D153CE1FB9}"/>
              </a:ext>
            </a:extLst>
          </p:cNvPr>
          <p:cNvSpPr>
            <a:spLocks xmlns:a="http://schemas.openxmlformats.org/drawingml/2006/main" noGrp="1"/>
          </p:cNvSpPr>
          <p:nvPr/>
        </p:nvSpPr>
        <p:spPr>
          <a:xfrm xmlns:a="http://schemas.openxmlformats.org/drawingml/2006/main">
            <a:off x="8486775" y="4543425"/>
            <a:ext cx="2838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0">
                <a:solidFill>
                  <a:srgbClr val="261A2C"/>
                </a:solidFill>
                <a:latin typeface="Avenir Next"/>
                <a:ea typeface="Avenir Next"/>
                <a:cs typeface="Avenir Next"/>
              </a:defRPr>
            </a:defPPr>
          </a:lstStyle>
          <a:p xmlns:a="http://schemas.openxmlformats.org/drawingml/2006/main">
            <a:pPr algn="l">
              <a:defRPr sz="1050" b="0">
                <a:solidFill>
                  <a:srgbClr val="261A2C"/>
                </a:solidFill>
                <a:latin typeface="Avenir Next"/>
                <a:ea typeface="Avenir Next"/>
                <a:cs typeface="Avenir Next"/>
              </a:defRPr>
            </a:pPr>
            <a:r>
              <a:rPr sz="1050" b="0">
                <a:solidFill>
                  <a:srgbClr val="261A2C"/>
                </a:solidFill>
                <a:latin typeface="Avenir Next"/>
                <a:ea typeface="Avenir Next"/>
                <a:cs typeface="Avenir Next"/>
              </a:rPr>
              <a:t>Explain tech, pricing and timelines</a:t>
            </a:r>
          </a:p>
        </p:txBody>
      </p:sp>
      <p:sp>
        <p:nvSpPr>
          <p:cNvPr id="42" name="session-dot-3-2">
            <a:extLst xmlns:a="http://schemas.openxmlformats.org/drawingml/2006/main">
              <a:ext uri="{FF2B5EF4-FFF2-40B4-BE49-F238E27FC236}">
                <a16:creationId xmlns:a16="http://schemas.microsoft.com/office/drawing/2014/main" id="{4C32AF24-4622-41DA-A7B6-D31A540CFE90}"/>
              </a:ext>
            </a:extLst>
          </p:cNvPr>
          <p:cNvSpPr>
            <a:spLocks xmlns:a="http://schemas.openxmlformats.org/drawingml/2006/main" noGrp="1"/>
          </p:cNvSpPr>
          <p:nvPr/>
        </p:nvSpPr>
        <p:spPr>
          <a:xfrm xmlns:a="http://schemas.openxmlformats.org/drawingml/2006/main">
            <a:off x="8296275" y="4962525"/>
            <a:ext cx="76200" cy="76200"/>
          </a:xfrm>
          <a:prstGeom xmlns:a="http://schemas.openxmlformats.org/drawingml/2006/main" prst="ellipse">
            <a:avLst/>
          </a:prstGeom>
          <a:solidFill xmlns:a="http://schemas.openxmlformats.org/drawingml/2006/main">
            <a:srgbClr val="AEE8CE"/>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B021874B-6DAA-4ECF-B761-906ED18BFF36}"/>
              </a:ext>
            </a:extLst>
          </p:cNvPr>
          <p:cNvSpPr>
            <a:spLocks xmlns:a="http://schemas.openxmlformats.org/drawingml/2006/main" noGrp="1"/>
          </p:cNvSpPr>
          <p:nvPr/>
        </p:nvSpPr>
        <p:spPr>
          <a:xfrm xmlns:a="http://schemas.openxmlformats.org/drawingml/2006/main">
            <a:off x="8486775" y="4914900"/>
            <a:ext cx="2838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0">
                <a:solidFill>
                  <a:srgbClr val="261A2C"/>
                </a:solidFill>
                <a:latin typeface="Avenir Next"/>
                <a:ea typeface="Avenir Next"/>
                <a:cs typeface="Avenir Next"/>
              </a:defRPr>
            </a:defPPr>
          </a:lstStyle>
          <a:p xmlns:a="http://schemas.openxmlformats.org/drawingml/2006/main">
            <a:pPr algn="l">
              <a:defRPr sz="1050" b="0">
                <a:solidFill>
                  <a:srgbClr val="261A2C"/>
                </a:solidFill>
                <a:latin typeface="Avenir Next"/>
                <a:ea typeface="Avenir Next"/>
                <a:cs typeface="Avenir Next"/>
              </a:defRPr>
            </a:pPr>
            <a:r>
              <a:rPr sz="1050" b="0">
                <a:solidFill>
                  <a:srgbClr val="261A2C"/>
                </a:solidFill>
                <a:latin typeface="Avenir Next"/>
                <a:ea typeface="Avenir Next"/>
                <a:cs typeface="Avenir Next"/>
              </a:rPr>
              <a:t>Handle data, money and relationships fairly</a:t>
            </a:r>
          </a:p>
        </p:txBody>
      </p:sp>
      <p:sp>
        <p:nvSpPr>
          <p:cNvPr id="44" name="session-dot-3-3">
            <a:extLst xmlns:a="http://schemas.openxmlformats.org/drawingml/2006/main">
              <a:ext uri="{FF2B5EF4-FFF2-40B4-BE49-F238E27FC236}">
                <a16:creationId xmlns:a16="http://schemas.microsoft.com/office/drawing/2014/main" id="{FCDDBDEE-6883-4949-B2C6-237475DDC2C0}"/>
              </a:ext>
            </a:extLst>
          </p:cNvPr>
          <p:cNvSpPr>
            <a:spLocks xmlns:a="http://schemas.openxmlformats.org/drawingml/2006/main" noGrp="1"/>
          </p:cNvSpPr>
          <p:nvPr/>
        </p:nvSpPr>
        <p:spPr>
          <a:xfrm xmlns:a="http://schemas.openxmlformats.org/drawingml/2006/main">
            <a:off x="8296275" y="5334000"/>
            <a:ext cx="76200" cy="76200"/>
          </a:xfrm>
          <a:prstGeom xmlns:a="http://schemas.openxmlformats.org/drawingml/2006/main" prst="ellipse">
            <a:avLst/>
          </a:prstGeom>
          <a:solidFill xmlns:a="http://schemas.openxmlformats.org/drawingml/2006/main">
            <a:srgbClr val="9B7AC7"/>
          </a:solidFill>
          <a:ln xmlns:a="http://schemas.openxmlformats.org/drawingml/2006/main" w="0">
            <a:noFill/>
            <a:prstDash val="solid"/>
          </a:ln>
        </p:spPr>
      </p:sp>
      <p:sp>
        <p:nvSpPr>
          <p:cNvPr id="45" name="">
            <a:extLst xmlns:a="http://schemas.openxmlformats.org/drawingml/2006/main">
              <a:ext uri="{FF2B5EF4-FFF2-40B4-BE49-F238E27FC236}">
                <a16:creationId xmlns:a16="http://schemas.microsoft.com/office/drawing/2014/main" id="{CE771171-42BE-476B-AE1F-CB34CD419501}"/>
              </a:ext>
            </a:extLst>
          </p:cNvPr>
          <p:cNvSpPr>
            <a:spLocks xmlns:a="http://schemas.openxmlformats.org/drawingml/2006/main" noGrp="1"/>
          </p:cNvSpPr>
          <p:nvPr/>
        </p:nvSpPr>
        <p:spPr>
          <a:xfrm xmlns:a="http://schemas.openxmlformats.org/drawingml/2006/main">
            <a:off x="8486775" y="5286375"/>
            <a:ext cx="2838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0">
                <a:solidFill>
                  <a:srgbClr val="261A2C"/>
                </a:solidFill>
                <a:latin typeface="Avenir Next"/>
                <a:ea typeface="Avenir Next"/>
                <a:cs typeface="Avenir Next"/>
              </a:defRPr>
            </a:defPPr>
          </a:lstStyle>
          <a:p xmlns:a="http://schemas.openxmlformats.org/drawingml/2006/main">
            <a:pPr algn="l">
              <a:defRPr sz="1050" b="0">
                <a:solidFill>
                  <a:srgbClr val="261A2C"/>
                </a:solidFill>
                <a:latin typeface="Avenir Next"/>
                <a:ea typeface="Avenir Next"/>
                <a:cs typeface="Avenir Next"/>
              </a:defRPr>
            </a:pPr>
            <a:r>
              <a:rPr sz="1050" b="0">
                <a:solidFill>
                  <a:srgbClr val="261A2C"/>
                </a:solidFill>
                <a:latin typeface="Avenir Next"/>
                <a:ea typeface="Avenir Next"/>
                <a:cs typeface="Avenir Next"/>
              </a:rPr>
              <a:t>Rewrite real messages together</a:t>
            </a:r>
          </a:p>
        </p:txBody>
      </p:sp>
    </p:spTree>
    <p:extLst>
      <p:ext uri="{BB962C8B-B14F-4D97-AF65-F5344CB8AC3E}">
        <p14:creationId xmlns:p14="http://schemas.microsoft.com/office/powerpoint/2010/main" val="75281961"/>
      </p:ext>
    </p:extLst>
  </p:cSld>
</p:sld>
</file>

<file path=ppt/slides/slide5.xml><?xml version="1.0" encoding="utf-8"?>
<p:sld xmlns:p="http://schemas.openxmlformats.org/presentationml/2006/main">
  <p:cSld>
    <p:bg>
      <p:bgPr>
        <a:solidFill xmlns:a="http://schemas.openxmlformats.org/drawingml/2006/main">
          <a:srgbClr val="FAF8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F90C4083-52A1-4938-B390-6D2D95DD06F0}"/>
              </a:ext>
            </a:extLst>
          </p:cNvPr>
          <p:cNvSpPr>
            <a:spLocks xmlns:a="http://schemas.openxmlformats.org/drawingml/2006/main" noGrp="1"/>
          </p:cNvSpPr>
          <p:nvPr/>
        </p:nvSpPr>
        <p:spPr>
          <a:xfrm xmlns:a="http://schemas.openxmlformats.org/drawingml/2006/main">
            <a:off x="609600" y="4572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7354A4"/>
                </a:solidFill>
                <a:latin typeface="Avenir Next"/>
                <a:ea typeface="Avenir Next"/>
                <a:cs typeface="Avenir Next"/>
              </a:defRPr>
            </a:defPPr>
          </a:lstStyle>
          <a:p xmlns:a="http://schemas.openxmlformats.org/drawingml/2006/main">
            <a:pPr algn="l">
              <a:defRPr sz="900" b="1">
                <a:solidFill>
                  <a:srgbClr val="7354A4"/>
                </a:solidFill>
                <a:latin typeface="Avenir Next"/>
                <a:ea typeface="Avenir Next"/>
                <a:cs typeface="Avenir Next"/>
              </a:defRPr>
            </a:pPr>
            <a:r>
              <a:rPr sz="900" b="1">
                <a:solidFill>
                  <a:srgbClr val="7354A4"/>
                </a:solidFill>
                <a:latin typeface="Avenir Next"/>
                <a:ea typeface="Avenir Next"/>
                <a:cs typeface="Avenir Next"/>
              </a:rPr>
              <a:t>BEYOND THE TALKS</a:t>
            </a:r>
          </a:p>
        </p:txBody>
      </p:sp>
      <p:sp>
        <p:nvSpPr>
          <p:cNvPr id="2" name="">
            <a:extLst xmlns:a="http://schemas.openxmlformats.org/drawingml/2006/main">
              <a:ext uri="{FF2B5EF4-FFF2-40B4-BE49-F238E27FC236}">
                <a16:creationId xmlns:a16="http://schemas.microsoft.com/office/drawing/2014/main" id="{E6697553-598E-4192-BA45-001EC4CAA3F4}"/>
              </a:ext>
            </a:extLst>
          </p:cNvPr>
          <p:cNvSpPr>
            <a:spLocks xmlns:a="http://schemas.openxmlformats.org/drawingml/2006/main" noGrp="1"/>
          </p:cNvSpPr>
          <p:nvPr/>
        </p:nvSpPr>
        <p:spPr>
          <a:xfrm xmlns:a="http://schemas.openxmlformats.org/drawingml/2006/main">
            <a:off x="609600" y="809625"/>
            <a:ext cx="10858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150" b="1">
                <a:solidFill>
                  <a:srgbClr val="261A2C"/>
                </a:solidFill>
                <a:latin typeface="Avenir Next"/>
                <a:ea typeface="Avenir Next"/>
                <a:cs typeface="Avenir Next"/>
              </a:defRPr>
            </a:defPPr>
          </a:lstStyle>
          <a:p xmlns:a="http://schemas.openxmlformats.org/drawingml/2006/main">
            <a:pPr algn="l">
              <a:defRPr sz="3150" b="1">
                <a:solidFill>
                  <a:srgbClr val="261A2C"/>
                </a:solidFill>
                <a:latin typeface="Avenir Next"/>
                <a:ea typeface="Avenir Next"/>
                <a:cs typeface="Avenir Next"/>
              </a:defRPr>
            </a:pPr>
            <a:r>
              <a:rPr sz="3150" b="1">
                <a:solidFill>
                  <a:srgbClr val="261A2C"/>
                </a:solidFill>
                <a:latin typeface="Avenir Next"/>
                <a:ea typeface="Avenir Next"/>
                <a:cs typeface="Avenir Next"/>
              </a:rPr>
              <a:t>A day people can take part in.</a:t>
            </a:r>
          </a:p>
        </p:txBody>
      </p:sp>
      <p:sp>
        <p:nvSpPr>
          <p:cNvPr id="3" name="">
            <a:extLst xmlns:a="http://schemas.openxmlformats.org/drawingml/2006/main">
              <a:ext uri="{FF2B5EF4-FFF2-40B4-BE49-F238E27FC236}">
                <a16:creationId xmlns:a16="http://schemas.microsoft.com/office/drawing/2014/main" id="{9B3D57F9-B730-4409-8E7A-F026E1CB0FC9}"/>
              </a:ext>
            </a:extLst>
          </p:cNvPr>
          <p:cNvSpPr>
            <a:spLocks xmlns:a="http://schemas.openxmlformats.org/drawingml/2006/main" noGrp="1"/>
          </p:cNvSpPr>
          <p:nvPr/>
        </p:nvSpPr>
        <p:spPr>
          <a:xfrm xmlns:a="http://schemas.openxmlformats.org/drawingml/2006/main">
            <a:off x="628650" y="152400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25" b="0">
                <a:solidFill>
                  <a:srgbClr val="746B79"/>
                </a:solidFill>
                <a:latin typeface="Avenir Next"/>
                <a:ea typeface="Avenir Next"/>
                <a:cs typeface="Avenir Next"/>
              </a:defRPr>
            </a:defPPr>
          </a:lstStyle>
          <a:p xmlns:a="http://schemas.openxmlformats.org/drawingml/2006/main">
            <a:pPr algn="l">
              <a:defRPr sz="1425" b="0">
                <a:solidFill>
                  <a:srgbClr val="746B79"/>
                </a:solidFill>
                <a:latin typeface="Avenir Next"/>
                <a:ea typeface="Avenir Next"/>
                <a:cs typeface="Avenir Next"/>
              </a:defRPr>
            </a:pPr>
            <a:r>
              <a:rPr sz="1425" b="0">
                <a:solidFill>
                  <a:srgbClr val="746B79"/>
                </a:solidFill>
                <a:latin typeface="Avenir Next"/>
                <a:ea typeface="Avenir Next"/>
                <a:cs typeface="Avenir Next"/>
              </a:rPr>
              <a:t>The programme leaves space to meet, ask, try and compare notes.</a:t>
            </a:r>
          </a:p>
        </p:txBody>
      </p:sp>
      <p:sp>
        <p:nvSpPr>
          <p:cNvPr id="4" name="footer-rule-5">
            <a:extLst xmlns:a="http://schemas.openxmlformats.org/drawingml/2006/main">
              <a:ext uri="{FF2B5EF4-FFF2-40B4-BE49-F238E27FC236}">
                <a16:creationId xmlns:a16="http://schemas.microsoft.com/office/drawing/2014/main" id="{F9F576B3-4C87-4085-B6B6-13F8BE307BBC}"/>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E7E0E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725D9CE-6A9D-4232-8EA9-17D5D4BEF748}"/>
              </a:ext>
            </a:extLst>
          </p:cNvPr>
          <p:cNvSpPr>
            <a:spLocks xmlns:a="http://schemas.openxmlformats.org/drawingml/2006/main" noGrp="1"/>
          </p:cNvSpPr>
          <p:nvPr/>
        </p:nvSpPr>
        <p:spPr>
          <a:xfrm xmlns:a="http://schemas.openxmlformats.org/drawingml/2006/main">
            <a:off x="609600" y="6553200"/>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1">
                <a:solidFill>
                  <a:srgbClr val="746B79"/>
                </a:solidFill>
                <a:latin typeface="Avenir Next"/>
                <a:ea typeface="Avenir Next"/>
                <a:cs typeface="Avenir Next"/>
              </a:defRPr>
            </a:defPPr>
          </a:lstStyle>
          <a:p xmlns:a="http://schemas.openxmlformats.org/drawingml/2006/main">
            <a:pPr algn="l">
              <a:defRPr sz="825" b="1">
                <a:solidFill>
                  <a:srgbClr val="746B79"/>
                </a:solidFill>
                <a:latin typeface="Avenir Next"/>
                <a:ea typeface="Avenir Next"/>
                <a:cs typeface="Avenir Next"/>
              </a:defRPr>
            </a:pPr>
            <a:r>
              <a:rPr sz="825" b="1">
                <a:solidFill>
                  <a:srgbClr val="746B79"/>
                </a:solidFill>
                <a:latin typeface="Avenir Next"/>
                <a:ea typeface="Avenir Next"/>
                <a:cs typeface="Avenir Next"/>
              </a:rPr>
              <a:t>BEYOND CODE 2027  /  SPEAKER INVITATION</a:t>
            </a:r>
          </a:p>
        </p:txBody>
      </p:sp>
      <p:sp>
        <p:nvSpPr>
          <p:cNvPr id="6" name="">
            <a:extLst xmlns:a="http://schemas.openxmlformats.org/drawingml/2006/main">
              <a:ext uri="{FF2B5EF4-FFF2-40B4-BE49-F238E27FC236}">
                <a16:creationId xmlns:a16="http://schemas.microsoft.com/office/drawing/2014/main" id="{62B73169-4344-4E4D-BA95-168C69E21EB4}"/>
              </a:ext>
            </a:extLst>
          </p:cNvPr>
          <p:cNvSpPr>
            <a:spLocks xmlns:a="http://schemas.openxmlformats.org/drawingml/2006/main" noGrp="1"/>
          </p:cNvSpPr>
          <p:nvPr/>
        </p:nvSpPr>
        <p:spPr>
          <a:xfrm xmlns:a="http://schemas.openxmlformats.org/drawingml/2006/main">
            <a:off x="10572750" y="6543675"/>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1">
                <a:solidFill>
                  <a:srgbClr val="746B79"/>
                </a:solidFill>
                <a:latin typeface="Avenir Next"/>
                <a:ea typeface="Avenir Next"/>
                <a:cs typeface="Avenir Next"/>
              </a:defRPr>
            </a:defPPr>
          </a:lstStyle>
          <a:p xmlns:a="http://schemas.openxmlformats.org/drawingml/2006/main">
            <a:pPr algn="r">
              <a:defRPr sz="900" b="1">
                <a:solidFill>
                  <a:srgbClr val="746B79"/>
                </a:solidFill>
                <a:latin typeface="Avenir Next"/>
                <a:ea typeface="Avenir Next"/>
                <a:cs typeface="Avenir Next"/>
              </a:defRPr>
            </a:pPr>
            <a:r>
              <a:rPr sz="900" b="1">
                <a:solidFill>
                  <a:srgbClr val="746B79"/>
                </a:solidFill>
                <a:latin typeface="Avenir Next"/>
                <a:ea typeface="Avenir Next"/>
                <a:cs typeface="Avenir Next"/>
              </a:rPr>
              <a:t>05  /  09</a:t>
            </a:r>
          </a:p>
        </p:txBody>
      </p:sp>
      <p:sp>
        <p:nvSpPr>
          <p:cNvPr id="7" name="experience-1">
            <a:extLst xmlns:a="http://schemas.openxmlformats.org/drawingml/2006/main">
              <a:ext uri="{FF2B5EF4-FFF2-40B4-BE49-F238E27FC236}">
                <a16:creationId xmlns:a16="http://schemas.microsoft.com/office/drawing/2014/main" id="{EE5A6D0B-D30F-4467-A2AE-D5D03777E415}"/>
              </a:ext>
            </a:extLst>
          </p:cNvPr>
          <p:cNvSpPr>
            <a:spLocks xmlns:a="http://schemas.openxmlformats.org/drawingml/2006/main" noGrp="1"/>
          </p:cNvSpPr>
          <p:nvPr/>
        </p:nvSpPr>
        <p:spPr>
          <a:xfrm xmlns:a="http://schemas.openxmlformats.org/drawingml/2006/main">
            <a:off x="609600" y="2286000"/>
            <a:ext cx="5257800" cy="1390650"/>
          </a:xfrm>
          <a:prstGeom xmlns:a="http://schemas.openxmlformats.org/drawingml/2006/main" prst="roundRect">
            <a:avLst>
              <a:gd name="adj" fmla="val 12329"/>
            </a:avLst>
          </a:prstGeom>
          <a:solidFill xmlns:a="http://schemas.openxmlformats.org/drawingml/2006/main">
            <a:srgbClr val="FFFFFF"/>
          </a:solidFill>
          <a:ln xmlns:a="http://schemas.openxmlformats.org/drawingml/2006/main" w="0">
            <a:noFill/>
            <a:prstDash val="solid"/>
          </a:ln>
        </p:spPr>
      </p:sp>
      <p:sp>
        <p:nvSpPr>
          <p:cNvPr id="8" name="experience-accent-1">
            <a:extLst xmlns:a="http://schemas.openxmlformats.org/drawingml/2006/main">
              <a:ext uri="{FF2B5EF4-FFF2-40B4-BE49-F238E27FC236}">
                <a16:creationId xmlns:a16="http://schemas.microsoft.com/office/drawing/2014/main" id="{19FCCC9E-F867-419E-80B1-18DA1B092488}"/>
              </a:ext>
            </a:extLst>
          </p:cNvPr>
          <p:cNvSpPr>
            <a:spLocks xmlns:a="http://schemas.openxmlformats.org/drawingml/2006/main" noGrp="1"/>
          </p:cNvSpPr>
          <p:nvPr/>
        </p:nvSpPr>
        <p:spPr>
          <a:xfrm xmlns:a="http://schemas.openxmlformats.org/drawingml/2006/main">
            <a:off x="828675" y="2514600"/>
            <a:ext cx="38100" cy="933450"/>
          </a:xfrm>
          <a:prstGeom xmlns:a="http://schemas.openxmlformats.org/drawingml/2006/main" prst="roundRect">
            <a:avLst>
              <a:gd name="adj" fmla="val 50000"/>
            </a:avLst>
          </a:prstGeom>
          <a:solidFill xmlns:a="http://schemas.openxmlformats.org/drawingml/2006/main">
            <a:srgbClr val="9B7AC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C06E4BE-96C4-425F-9E9E-6FDA29FEC870}"/>
              </a:ext>
            </a:extLst>
          </p:cNvPr>
          <p:cNvSpPr>
            <a:spLocks xmlns:a="http://schemas.openxmlformats.org/drawingml/2006/main" noGrp="1"/>
          </p:cNvSpPr>
          <p:nvPr/>
        </p:nvSpPr>
        <p:spPr>
          <a:xfrm xmlns:a="http://schemas.openxmlformats.org/drawingml/2006/main">
            <a:off x="1019175" y="2486025"/>
            <a:ext cx="4591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1">
                <a:solidFill>
                  <a:srgbClr val="7354A4"/>
                </a:solidFill>
                <a:latin typeface="Avenir Next"/>
                <a:ea typeface="Avenir Next"/>
                <a:cs typeface="Avenir Next"/>
              </a:defRPr>
            </a:defPPr>
          </a:lstStyle>
          <a:p xmlns:a="http://schemas.openxmlformats.org/drawingml/2006/main">
            <a:pPr algn="l">
              <a:defRPr sz="825" b="1">
                <a:solidFill>
                  <a:srgbClr val="7354A4"/>
                </a:solidFill>
                <a:latin typeface="Avenir Next"/>
                <a:ea typeface="Avenir Next"/>
                <a:cs typeface="Avenir Next"/>
              </a:defRPr>
            </a:pPr>
            <a:r>
              <a:rPr sz="825" b="1">
                <a:solidFill>
                  <a:srgbClr val="7354A4"/>
                </a:solidFill>
                <a:latin typeface="Avenir Next"/>
                <a:ea typeface="Avenir Next"/>
                <a:cs typeface="Avenir Next"/>
              </a:rPr>
              <a:t>CONNECT</a:t>
            </a:r>
          </a:p>
        </p:txBody>
      </p:sp>
      <p:sp>
        <p:nvSpPr>
          <p:cNvPr id="10" name="">
            <a:extLst xmlns:a="http://schemas.openxmlformats.org/drawingml/2006/main">
              <a:ext uri="{FF2B5EF4-FFF2-40B4-BE49-F238E27FC236}">
                <a16:creationId xmlns:a16="http://schemas.microsoft.com/office/drawing/2014/main" id="{8C4B881D-B2CB-4938-8519-1D9463BF8689}"/>
              </a:ext>
            </a:extLst>
          </p:cNvPr>
          <p:cNvSpPr>
            <a:spLocks xmlns:a="http://schemas.openxmlformats.org/drawingml/2006/main" noGrp="1"/>
          </p:cNvSpPr>
          <p:nvPr/>
        </p:nvSpPr>
        <p:spPr>
          <a:xfrm xmlns:a="http://schemas.openxmlformats.org/drawingml/2006/main">
            <a:off x="1019175" y="2743200"/>
            <a:ext cx="4610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261A2C"/>
                </a:solidFill>
                <a:latin typeface="Avenir Next"/>
                <a:ea typeface="Avenir Next"/>
                <a:cs typeface="Avenir Next"/>
              </a:defRPr>
            </a:defPPr>
          </a:lstStyle>
          <a:p xmlns:a="http://schemas.openxmlformats.org/drawingml/2006/main">
            <a:pPr algn="l">
              <a:defRPr sz="1650" b="1">
                <a:solidFill>
                  <a:srgbClr val="261A2C"/>
                </a:solidFill>
                <a:latin typeface="Avenir Next"/>
                <a:ea typeface="Avenir Next"/>
                <a:cs typeface="Avenir Next"/>
              </a:defRPr>
            </a:pPr>
            <a:r>
              <a:rPr sz="1650" b="1">
                <a:solidFill>
                  <a:srgbClr val="261A2C"/>
                </a:solidFill>
                <a:latin typeface="Avenir Next"/>
                <a:ea typeface="Avenir Next"/>
                <a:cs typeface="Avenir Next"/>
              </a:rPr>
              <a:t>Networking + open hour</a:t>
            </a:r>
          </a:p>
        </p:txBody>
      </p:sp>
      <p:sp>
        <p:nvSpPr>
          <p:cNvPr id="11" name="">
            <a:extLst xmlns:a="http://schemas.openxmlformats.org/drawingml/2006/main">
              <a:ext uri="{FF2B5EF4-FFF2-40B4-BE49-F238E27FC236}">
                <a16:creationId xmlns:a16="http://schemas.microsoft.com/office/drawing/2014/main" id="{CBD6B1D7-9A8C-4ED8-B37B-C1F4BC0019A0}"/>
              </a:ext>
            </a:extLst>
          </p:cNvPr>
          <p:cNvSpPr>
            <a:spLocks xmlns:a="http://schemas.openxmlformats.org/drawingml/2006/main" noGrp="1"/>
          </p:cNvSpPr>
          <p:nvPr/>
        </p:nvSpPr>
        <p:spPr>
          <a:xfrm xmlns:a="http://schemas.openxmlformats.org/drawingml/2006/main">
            <a:off x="1019175" y="317182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0">
                <a:solidFill>
                  <a:srgbClr val="746B79"/>
                </a:solidFill>
                <a:latin typeface="Avenir Next"/>
                <a:ea typeface="Avenir Next"/>
                <a:cs typeface="Avenir Next"/>
              </a:defRPr>
            </a:defPPr>
          </a:lstStyle>
          <a:p xmlns:a="http://schemas.openxmlformats.org/drawingml/2006/main">
            <a:pPr algn="l">
              <a:defRPr sz="1125" b="0">
                <a:solidFill>
                  <a:srgbClr val="746B79"/>
                </a:solidFill>
                <a:latin typeface="Avenir Next"/>
                <a:ea typeface="Avenir Next"/>
                <a:cs typeface="Avenir Next"/>
              </a:defRPr>
            </a:pPr>
            <a:r>
              <a:rPr sz="1125" b="0">
                <a:solidFill>
                  <a:srgbClr val="746B79"/>
                </a:solidFill>
                <a:latin typeface="Avenir Next"/>
                <a:ea typeface="Avenir Next"/>
                <a:cs typeface="Avenir Next"/>
              </a:rPr>
              <a:t>Breaks and a dedicated open hour to meet collaborators.</a:t>
            </a:r>
          </a:p>
        </p:txBody>
      </p:sp>
      <p:sp>
        <p:nvSpPr>
          <p:cNvPr id="12" name="experience-2">
            <a:extLst xmlns:a="http://schemas.openxmlformats.org/drawingml/2006/main">
              <a:ext uri="{FF2B5EF4-FFF2-40B4-BE49-F238E27FC236}">
                <a16:creationId xmlns:a16="http://schemas.microsoft.com/office/drawing/2014/main" id="{0CA06C70-A57D-45EE-8DEF-38A87FA1333C}"/>
              </a:ext>
            </a:extLst>
          </p:cNvPr>
          <p:cNvSpPr>
            <a:spLocks xmlns:a="http://schemas.openxmlformats.org/drawingml/2006/main" noGrp="1"/>
          </p:cNvSpPr>
          <p:nvPr/>
        </p:nvSpPr>
        <p:spPr>
          <a:xfrm xmlns:a="http://schemas.openxmlformats.org/drawingml/2006/main">
            <a:off x="6096000" y="2286000"/>
            <a:ext cx="5486400" cy="1390650"/>
          </a:xfrm>
          <a:prstGeom xmlns:a="http://schemas.openxmlformats.org/drawingml/2006/main" prst="roundRect">
            <a:avLst>
              <a:gd name="adj" fmla="val 12329"/>
            </a:avLst>
          </a:prstGeom>
          <a:solidFill xmlns:a="http://schemas.openxmlformats.org/drawingml/2006/main">
            <a:srgbClr val="FFFFFF"/>
          </a:solidFill>
          <a:ln xmlns:a="http://schemas.openxmlformats.org/drawingml/2006/main" w="0">
            <a:noFill/>
            <a:prstDash val="solid"/>
          </a:ln>
        </p:spPr>
      </p:sp>
      <p:sp>
        <p:nvSpPr>
          <p:cNvPr id="13" name="experience-accent-2">
            <a:extLst xmlns:a="http://schemas.openxmlformats.org/drawingml/2006/main">
              <a:ext uri="{FF2B5EF4-FFF2-40B4-BE49-F238E27FC236}">
                <a16:creationId xmlns:a16="http://schemas.microsoft.com/office/drawing/2014/main" id="{E464FD20-6A28-41E5-B0B2-7BB3057454BD}"/>
              </a:ext>
            </a:extLst>
          </p:cNvPr>
          <p:cNvSpPr>
            <a:spLocks xmlns:a="http://schemas.openxmlformats.org/drawingml/2006/main" noGrp="1"/>
          </p:cNvSpPr>
          <p:nvPr/>
        </p:nvSpPr>
        <p:spPr>
          <a:xfrm xmlns:a="http://schemas.openxmlformats.org/drawingml/2006/main">
            <a:off x="6315075" y="2514600"/>
            <a:ext cx="38100" cy="933450"/>
          </a:xfrm>
          <a:prstGeom xmlns:a="http://schemas.openxmlformats.org/drawingml/2006/main" prst="roundRect">
            <a:avLst>
              <a:gd name="adj" fmla="val 50000"/>
            </a:avLst>
          </a:prstGeom>
          <a:solidFill xmlns:a="http://schemas.openxmlformats.org/drawingml/2006/main">
            <a:srgbClr val="AEE8C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19481DB-63BD-44DD-B2F9-35AEA6A0276C}"/>
              </a:ext>
            </a:extLst>
          </p:cNvPr>
          <p:cNvSpPr>
            <a:spLocks xmlns:a="http://schemas.openxmlformats.org/drawingml/2006/main" noGrp="1"/>
          </p:cNvSpPr>
          <p:nvPr/>
        </p:nvSpPr>
        <p:spPr>
          <a:xfrm xmlns:a="http://schemas.openxmlformats.org/drawingml/2006/main">
            <a:off x="6505575" y="2486025"/>
            <a:ext cx="481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1">
                <a:solidFill>
                  <a:srgbClr val="7354A4"/>
                </a:solidFill>
                <a:latin typeface="Avenir Next"/>
                <a:ea typeface="Avenir Next"/>
                <a:cs typeface="Avenir Next"/>
              </a:defRPr>
            </a:defPPr>
          </a:lstStyle>
          <a:p xmlns:a="http://schemas.openxmlformats.org/drawingml/2006/main">
            <a:pPr algn="l">
              <a:defRPr sz="825" b="1">
                <a:solidFill>
                  <a:srgbClr val="7354A4"/>
                </a:solidFill>
                <a:latin typeface="Avenir Next"/>
                <a:ea typeface="Avenir Next"/>
                <a:cs typeface="Avenir Next"/>
              </a:defRPr>
            </a:pPr>
            <a:r>
              <a:rPr sz="825" b="1">
                <a:solidFill>
                  <a:srgbClr val="7354A4"/>
                </a:solidFill>
                <a:latin typeface="Avenir Next"/>
                <a:ea typeface="Avenir Next"/>
                <a:cs typeface="Avenir Next"/>
              </a:rPr>
              <a:t>PLAY</a:t>
            </a:r>
          </a:p>
        </p:txBody>
      </p:sp>
      <p:sp>
        <p:nvSpPr>
          <p:cNvPr id="15" name="">
            <a:extLst xmlns:a="http://schemas.openxmlformats.org/drawingml/2006/main">
              <a:ext uri="{FF2B5EF4-FFF2-40B4-BE49-F238E27FC236}">
                <a16:creationId xmlns:a16="http://schemas.microsoft.com/office/drawing/2014/main" id="{0CA51633-5045-4E08-AF56-D5E94837B30D}"/>
              </a:ext>
            </a:extLst>
          </p:cNvPr>
          <p:cNvSpPr>
            <a:spLocks xmlns:a="http://schemas.openxmlformats.org/drawingml/2006/main" noGrp="1"/>
          </p:cNvSpPr>
          <p:nvPr/>
        </p:nvSpPr>
        <p:spPr>
          <a:xfrm xmlns:a="http://schemas.openxmlformats.org/drawingml/2006/main">
            <a:off x="6505575" y="2743200"/>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261A2C"/>
                </a:solidFill>
                <a:latin typeface="Avenir Next"/>
                <a:ea typeface="Avenir Next"/>
                <a:cs typeface="Avenir Next"/>
              </a:defRPr>
            </a:defPPr>
          </a:lstStyle>
          <a:p xmlns:a="http://schemas.openxmlformats.org/drawingml/2006/main">
            <a:pPr algn="l">
              <a:defRPr sz="1650" b="1">
                <a:solidFill>
                  <a:srgbClr val="261A2C"/>
                </a:solidFill>
                <a:latin typeface="Avenir Next"/>
                <a:ea typeface="Avenir Next"/>
                <a:cs typeface="Avenir Next"/>
              </a:defRPr>
            </a:pPr>
            <a:r>
              <a:rPr sz="1650" b="1">
                <a:solidFill>
                  <a:srgbClr val="261A2C"/>
                </a:solidFill>
                <a:latin typeface="Avenir Next"/>
                <a:ea typeface="Avenir Next"/>
                <a:cs typeface="Avenir Next"/>
              </a:rPr>
              <a:t>Four room-wide games</a:t>
            </a:r>
          </a:p>
        </p:txBody>
      </p:sp>
      <p:sp>
        <p:nvSpPr>
          <p:cNvPr id="16" name="">
            <a:extLst xmlns:a="http://schemas.openxmlformats.org/drawingml/2006/main">
              <a:ext uri="{FF2B5EF4-FFF2-40B4-BE49-F238E27FC236}">
                <a16:creationId xmlns:a16="http://schemas.microsoft.com/office/drawing/2014/main" id="{49DBB6E3-41DF-4635-8EBE-7703DC25EAEB}"/>
              </a:ext>
            </a:extLst>
          </p:cNvPr>
          <p:cNvSpPr>
            <a:spLocks xmlns:a="http://schemas.openxmlformats.org/drawingml/2006/main" noGrp="1"/>
          </p:cNvSpPr>
          <p:nvPr/>
        </p:nvSpPr>
        <p:spPr>
          <a:xfrm xmlns:a="http://schemas.openxmlformats.org/drawingml/2006/main">
            <a:off x="6505575" y="3171825"/>
            <a:ext cx="4800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0">
                <a:solidFill>
                  <a:srgbClr val="746B79"/>
                </a:solidFill>
                <a:latin typeface="Avenir Next"/>
                <a:ea typeface="Avenir Next"/>
                <a:cs typeface="Avenir Next"/>
              </a:defRPr>
            </a:defPPr>
          </a:lstStyle>
          <a:p xmlns:a="http://schemas.openxmlformats.org/drawingml/2006/main">
            <a:pPr algn="l">
              <a:defRPr sz="1125" b="0">
                <a:solidFill>
                  <a:srgbClr val="746B79"/>
                </a:solidFill>
                <a:latin typeface="Avenir Next"/>
                <a:ea typeface="Avenir Next"/>
                <a:cs typeface="Avenir Next"/>
              </a:defRPr>
            </a:pPr>
            <a:r>
              <a:rPr sz="1125" b="0">
                <a:solidFill>
                  <a:srgbClr val="746B79"/>
                </a:solidFill>
                <a:latin typeface="Avenir Next"/>
                <a:ea typeface="Avenir Next"/>
                <a:cs typeface="Avenir Next"/>
              </a:rPr>
              <a:t>Ship It Sprint · Tech Trivia · The Naira Test · Cracked Bingo</a:t>
            </a:r>
          </a:p>
        </p:txBody>
      </p:sp>
      <p:sp>
        <p:nvSpPr>
          <p:cNvPr id="17" name="experience-3">
            <a:extLst xmlns:a="http://schemas.openxmlformats.org/drawingml/2006/main">
              <a:ext uri="{FF2B5EF4-FFF2-40B4-BE49-F238E27FC236}">
                <a16:creationId xmlns:a16="http://schemas.microsoft.com/office/drawing/2014/main" id="{7E34E572-1E1F-4566-9B0C-7AE45F289D31}"/>
              </a:ext>
            </a:extLst>
          </p:cNvPr>
          <p:cNvSpPr>
            <a:spLocks xmlns:a="http://schemas.openxmlformats.org/drawingml/2006/main" noGrp="1"/>
          </p:cNvSpPr>
          <p:nvPr/>
        </p:nvSpPr>
        <p:spPr>
          <a:xfrm xmlns:a="http://schemas.openxmlformats.org/drawingml/2006/main">
            <a:off x="609600" y="3905250"/>
            <a:ext cx="5257800" cy="1390650"/>
          </a:xfrm>
          <a:prstGeom xmlns:a="http://schemas.openxmlformats.org/drawingml/2006/main" prst="roundRect">
            <a:avLst>
              <a:gd name="adj" fmla="val 12329"/>
            </a:avLst>
          </a:prstGeom>
          <a:solidFill xmlns:a="http://schemas.openxmlformats.org/drawingml/2006/main">
            <a:srgbClr val="FFFFFF"/>
          </a:solidFill>
          <a:ln xmlns:a="http://schemas.openxmlformats.org/drawingml/2006/main" w="0">
            <a:noFill/>
            <a:prstDash val="solid"/>
          </a:ln>
        </p:spPr>
      </p:sp>
      <p:sp>
        <p:nvSpPr>
          <p:cNvPr id="18" name="experience-accent-3">
            <a:extLst xmlns:a="http://schemas.openxmlformats.org/drawingml/2006/main">
              <a:ext uri="{FF2B5EF4-FFF2-40B4-BE49-F238E27FC236}">
                <a16:creationId xmlns:a16="http://schemas.microsoft.com/office/drawing/2014/main" id="{63202D2F-80A6-4CCC-9E36-9AC244BCC253}"/>
              </a:ext>
            </a:extLst>
          </p:cNvPr>
          <p:cNvSpPr>
            <a:spLocks xmlns:a="http://schemas.openxmlformats.org/drawingml/2006/main" noGrp="1"/>
          </p:cNvSpPr>
          <p:nvPr/>
        </p:nvSpPr>
        <p:spPr>
          <a:xfrm xmlns:a="http://schemas.openxmlformats.org/drawingml/2006/main">
            <a:off x="828675" y="4133850"/>
            <a:ext cx="38100" cy="933450"/>
          </a:xfrm>
          <a:prstGeom xmlns:a="http://schemas.openxmlformats.org/drawingml/2006/main" prst="roundRect">
            <a:avLst>
              <a:gd name="adj" fmla="val 50000"/>
            </a:avLst>
          </a:prstGeom>
          <a:solidFill xmlns:a="http://schemas.openxmlformats.org/drawingml/2006/main">
            <a:srgbClr val="9B7AC7"/>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38172A40-2237-4476-B026-BB81FED0C105}"/>
              </a:ext>
            </a:extLst>
          </p:cNvPr>
          <p:cNvSpPr>
            <a:spLocks xmlns:a="http://schemas.openxmlformats.org/drawingml/2006/main" noGrp="1"/>
          </p:cNvSpPr>
          <p:nvPr/>
        </p:nvSpPr>
        <p:spPr>
          <a:xfrm xmlns:a="http://schemas.openxmlformats.org/drawingml/2006/main">
            <a:off x="1019175" y="4105275"/>
            <a:ext cx="45910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1">
                <a:solidFill>
                  <a:srgbClr val="7354A4"/>
                </a:solidFill>
                <a:latin typeface="Avenir Next"/>
                <a:ea typeface="Avenir Next"/>
                <a:cs typeface="Avenir Next"/>
              </a:defRPr>
            </a:defPPr>
          </a:lstStyle>
          <a:p xmlns:a="http://schemas.openxmlformats.org/drawingml/2006/main">
            <a:pPr algn="l">
              <a:defRPr sz="825" b="1">
                <a:solidFill>
                  <a:srgbClr val="7354A4"/>
                </a:solidFill>
                <a:latin typeface="Avenir Next"/>
                <a:ea typeface="Avenir Next"/>
                <a:cs typeface="Avenir Next"/>
              </a:defRPr>
            </a:pPr>
            <a:r>
              <a:rPr sz="825" b="1">
                <a:solidFill>
                  <a:srgbClr val="7354A4"/>
                </a:solidFill>
                <a:latin typeface="Avenir Next"/>
                <a:ea typeface="Avenir Next"/>
                <a:cs typeface="Avenir Next"/>
              </a:rPr>
              <a:t>SHARE</a:t>
            </a:r>
          </a:p>
        </p:txBody>
      </p:sp>
      <p:sp>
        <p:nvSpPr>
          <p:cNvPr id="20" name="">
            <a:extLst xmlns:a="http://schemas.openxmlformats.org/drawingml/2006/main">
              <a:ext uri="{FF2B5EF4-FFF2-40B4-BE49-F238E27FC236}">
                <a16:creationId xmlns:a16="http://schemas.microsoft.com/office/drawing/2014/main" id="{25FB2301-894A-4C7A-8EA2-C1821AE66AD3}"/>
              </a:ext>
            </a:extLst>
          </p:cNvPr>
          <p:cNvSpPr>
            <a:spLocks xmlns:a="http://schemas.openxmlformats.org/drawingml/2006/main" noGrp="1"/>
          </p:cNvSpPr>
          <p:nvPr/>
        </p:nvSpPr>
        <p:spPr>
          <a:xfrm xmlns:a="http://schemas.openxmlformats.org/drawingml/2006/main">
            <a:off x="1019175" y="4362450"/>
            <a:ext cx="46101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261A2C"/>
                </a:solidFill>
                <a:latin typeface="Avenir Next"/>
                <a:ea typeface="Avenir Next"/>
                <a:cs typeface="Avenir Next"/>
              </a:defRPr>
            </a:defPPr>
          </a:lstStyle>
          <a:p xmlns:a="http://schemas.openxmlformats.org/drawingml/2006/main">
            <a:pPr algn="l">
              <a:defRPr sz="1650" b="1">
                <a:solidFill>
                  <a:srgbClr val="261A2C"/>
                </a:solidFill>
                <a:latin typeface="Avenir Next"/>
                <a:ea typeface="Avenir Next"/>
                <a:cs typeface="Avenir Next"/>
              </a:defRPr>
            </a:pPr>
            <a:r>
              <a:rPr sz="1650" b="1">
                <a:solidFill>
                  <a:srgbClr val="261A2C"/>
                </a:solidFill>
                <a:latin typeface="Avenir Next"/>
                <a:ea typeface="Avenir Next"/>
                <a:cs typeface="Avenir Next"/>
              </a:rPr>
              <a:t>Question board + demo corner</a:t>
            </a:r>
          </a:p>
        </p:txBody>
      </p:sp>
      <p:sp>
        <p:nvSpPr>
          <p:cNvPr id="21" name="">
            <a:extLst xmlns:a="http://schemas.openxmlformats.org/drawingml/2006/main">
              <a:ext uri="{FF2B5EF4-FFF2-40B4-BE49-F238E27FC236}">
                <a16:creationId xmlns:a16="http://schemas.microsoft.com/office/drawing/2014/main" id="{1C693F86-CB2A-4F81-9A67-294E467C7460}"/>
              </a:ext>
            </a:extLst>
          </p:cNvPr>
          <p:cNvSpPr>
            <a:spLocks xmlns:a="http://schemas.openxmlformats.org/drawingml/2006/main" noGrp="1"/>
          </p:cNvSpPr>
          <p:nvPr/>
        </p:nvSpPr>
        <p:spPr>
          <a:xfrm xmlns:a="http://schemas.openxmlformats.org/drawingml/2006/main">
            <a:off x="1019175" y="4791075"/>
            <a:ext cx="4572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0">
                <a:solidFill>
                  <a:srgbClr val="746B79"/>
                </a:solidFill>
                <a:latin typeface="Avenir Next"/>
                <a:ea typeface="Avenir Next"/>
                <a:cs typeface="Avenir Next"/>
              </a:defRPr>
            </a:defPPr>
          </a:lstStyle>
          <a:p xmlns:a="http://schemas.openxmlformats.org/drawingml/2006/main">
            <a:pPr algn="l">
              <a:defRPr sz="1125" b="0">
                <a:solidFill>
                  <a:srgbClr val="746B79"/>
                </a:solidFill>
                <a:latin typeface="Avenir Next"/>
                <a:ea typeface="Avenir Next"/>
                <a:cs typeface="Avenir Next"/>
              </a:defRPr>
            </a:pPr>
            <a:r>
              <a:rPr sz="1125" b="0">
                <a:solidFill>
                  <a:srgbClr val="746B79"/>
                </a:solidFill>
                <a:latin typeface="Avenir Next"/>
                <a:ea typeface="Avenir Next"/>
                <a:cs typeface="Avenir Next"/>
              </a:rPr>
              <a:t>Collect questions and make space for people to show their work.</a:t>
            </a:r>
          </a:p>
        </p:txBody>
      </p:sp>
      <p:sp>
        <p:nvSpPr>
          <p:cNvPr id="22" name="experience-4">
            <a:extLst xmlns:a="http://schemas.openxmlformats.org/drawingml/2006/main">
              <a:ext uri="{FF2B5EF4-FFF2-40B4-BE49-F238E27FC236}">
                <a16:creationId xmlns:a16="http://schemas.microsoft.com/office/drawing/2014/main" id="{AA8DB033-4F6F-4921-A38E-EF7F6153CEEB}"/>
              </a:ext>
            </a:extLst>
          </p:cNvPr>
          <p:cNvSpPr>
            <a:spLocks xmlns:a="http://schemas.openxmlformats.org/drawingml/2006/main" noGrp="1"/>
          </p:cNvSpPr>
          <p:nvPr/>
        </p:nvSpPr>
        <p:spPr>
          <a:xfrm xmlns:a="http://schemas.openxmlformats.org/drawingml/2006/main">
            <a:off x="6096000" y="3905250"/>
            <a:ext cx="5486400" cy="1390650"/>
          </a:xfrm>
          <a:prstGeom xmlns:a="http://schemas.openxmlformats.org/drawingml/2006/main" prst="roundRect">
            <a:avLst>
              <a:gd name="adj" fmla="val 12329"/>
            </a:avLst>
          </a:prstGeom>
          <a:solidFill xmlns:a="http://schemas.openxmlformats.org/drawingml/2006/main">
            <a:srgbClr val="FFFFFF"/>
          </a:solidFill>
          <a:ln xmlns:a="http://schemas.openxmlformats.org/drawingml/2006/main" w="0">
            <a:noFill/>
            <a:prstDash val="solid"/>
          </a:ln>
        </p:spPr>
      </p:sp>
      <p:sp>
        <p:nvSpPr>
          <p:cNvPr id="23" name="experience-accent-4">
            <a:extLst xmlns:a="http://schemas.openxmlformats.org/drawingml/2006/main">
              <a:ext uri="{FF2B5EF4-FFF2-40B4-BE49-F238E27FC236}">
                <a16:creationId xmlns:a16="http://schemas.microsoft.com/office/drawing/2014/main" id="{D83B5182-8FDD-4242-9988-5D339C2E6E4A}"/>
              </a:ext>
            </a:extLst>
          </p:cNvPr>
          <p:cNvSpPr>
            <a:spLocks xmlns:a="http://schemas.openxmlformats.org/drawingml/2006/main" noGrp="1"/>
          </p:cNvSpPr>
          <p:nvPr/>
        </p:nvSpPr>
        <p:spPr>
          <a:xfrm xmlns:a="http://schemas.openxmlformats.org/drawingml/2006/main">
            <a:off x="6315075" y="4133850"/>
            <a:ext cx="38100" cy="933450"/>
          </a:xfrm>
          <a:prstGeom xmlns:a="http://schemas.openxmlformats.org/drawingml/2006/main" prst="roundRect">
            <a:avLst>
              <a:gd name="adj" fmla="val 50000"/>
            </a:avLst>
          </a:prstGeom>
          <a:solidFill xmlns:a="http://schemas.openxmlformats.org/drawingml/2006/main">
            <a:srgbClr val="9B7AC7"/>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4591DCA9-751B-4518-8B3A-0620B952AD19}"/>
              </a:ext>
            </a:extLst>
          </p:cNvPr>
          <p:cNvSpPr>
            <a:spLocks xmlns:a="http://schemas.openxmlformats.org/drawingml/2006/main" noGrp="1"/>
          </p:cNvSpPr>
          <p:nvPr/>
        </p:nvSpPr>
        <p:spPr>
          <a:xfrm xmlns:a="http://schemas.openxmlformats.org/drawingml/2006/main">
            <a:off x="6505575" y="4105275"/>
            <a:ext cx="481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1">
                <a:solidFill>
                  <a:srgbClr val="7354A4"/>
                </a:solidFill>
                <a:latin typeface="Avenir Next"/>
                <a:ea typeface="Avenir Next"/>
                <a:cs typeface="Avenir Next"/>
              </a:defRPr>
            </a:defPPr>
          </a:lstStyle>
          <a:p xmlns:a="http://schemas.openxmlformats.org/drawingml/2006/main">
            <a:pPr algn="l">
              <a:defRPr sz="825" b="1">
                <a:solidFill>
                  <a:srgbClr val="7354A4"/>
                </a:solidFill>
                <a:latin typeface="Avenir Next"/>
                <a:ea typeface="Avenir Next"/>
                <a:cs typeface="Avenir Next"/>
              </a:defRPr>
            </a:pPr>
            <a:r>
              <a:rPr sz="825" b="1">
                <a:solidFill>
                  <a:srgbClr val="7354A4"/>
                </a:solidFill>
                <a:latin typeface="Avenir Next"/>
                <a:ea typeface="Avenir Next"/>
                <a:cs typeface="Avenir Next"/>
              </a:rPr>
              <a:t>GIVE BACK</a:t>
            </a:r>
          </a:p>
        </p:txBody>
      </p:sp>
      <p:sp>
        <p:nvSpPr>
          <p:cNvPr id="25" name="">
            <a:extLst xmlns:a="http://schemas.openxmlformats.org/drawingml/2006/main">
              <a:ext uri="{FF2B5EF4-FFF2-40B4-BE49-F238E27FC236}">
                <a16:creationId xmlns:a16="http://schemas.microsoft.com/office/drawing/2014/main" id="{35FD508F-06FC-4B1B-BC67-2423E9B61D8F}"/>
              </a:ext>
            </a:extLst>
          </p:cNvPr>
          <p:cNvSpPr>
            <a:spLocks xmlns:a="http://schemas.openxmlformats.org/drawingml/2006/main" noGrp="1"/>
          </p:cNvSpPr>
          <p:nvPr/>
        </p:nvSpPr>
        <p:spPr>
          <a:xfrm xmlns:a="http://schemas.openxmlformats.org/drawingml/2006/main">
            <a:off x="6505575" y="4362450"/>
            <a:ext cx="48387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650" b="1">
                <a:solidFill>
                  <a:srgbClr val="261A2C"/>
                </a:solidFill>
                <a:latin typeface="Avenir Next"/>
                <a:ea typeface="Avenir Next"/>
                <a:cs typeface="Avenir Next"/>
              </a:defRPr>
            </a:defPPr>
          </a:lstStyle>
          <a:p xmlns:a="http://schemas.openxmlformats.org/drawingml/2006/main">
            <a:pPr algn="l">
              <a:defRPr sz="1650" b="1">
                <a:solidFill>
                  <a:srgbClr val="261A2C"/>
                </a:solidFill>
                <a:latin typeface="Avenir Next"/>
                <a:ea typeface="Avenir Next"/>
                <a:cs typeface="Avenir Next"/>
              </a:defRPr>
            </a:pPr>
            <a:r>
              <a:rPr sz="1650" b="1">
                <a:solidFill>
                  <a:srgbClr val="261A2C"/>
                </a:solidFill>
                <a:latin typeface="Avenir Next"/>
                <a:ea typeface="Avenir Next"/>
                <a:cs typeface="Avenir Next"/>
              </a:rPr>
              <a:t>Laptop raffle</a:t>
            </a:r>
          </a:p>
        </p:txBody>
      </p:sp>
      <p:sp>
        <p:nvSpPr>
          <p:cNvPr id="26" name="">
            <a:extLst xmlns:a="http://schemas.openxmlformats.org/drawingml/2006/main">
              <a:ext uri="{FF2B5EF4-FFF2-40B4-BE49-F238E27FC236}">
                <a16:creationId xmlns:a16="http://schemas.microsoft.com/office/drawing/2014/main" id="{E7F226ED-35CF-4A8D-B62D-6FDCF82ACA6E}"/>
              </a:ext>
            </a:extLst>
          </p:cNvPr>
          <p:cNvSpPr>
            <a:spLocks xmlns:a="http://schemas.openxmlformats.org/drawingml/2006/main" noGrp="1"/>
          </p:cNvSpPr>
          <p:nvPr/>
        </p:nvSpPr>
        <p:spPr>
          <a:xfrm xmlns:a="http://schemas.openxmlformats.org/drawingml/2006/main">
            <a:off x="6505575" y="4791075"/>
            <a:ext cx="4800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0">
                <a:solidFill>
                  <a:srgbClr val="746B79"/>
                </a:solidFill>
                <a:latin typeface="Avenir Next"/>
                <a:ea typeface="Avenir Next"/>
                <a:cs typeface="Avenir Next"/>
              </a:defRPr>
            </a:defPPr>
          </a:lstStyle>
          <a:p xmlns:a="http://schemas.openxmlformats.org/drawingml/2006/main">
            <a:pPr algn="l">
              <a:defRPr sz="1125" b="0">
                <a:solidFill>
                  <a:srgbClr val="746B79"/>
                </a:solidFill>
                <a:latin typeface="Avenir Next"/>
                <a:ea typeface="Avenir Next"/>
                <a:cs typeface="Avenir Next"/>
              </a:defRPr>
            </a:pPr>
            <a:r>
              <a:rPr sz="1125" b="0">
                <a:solidFill>
                  <a:srgbClr val="746B79"/>
                </a:solidFill>
                <a:latin typeface="Avenir Next"/>
                <a:ea typeface="Avenir Next"/>
                <a:cs typeface="Avenir Next"/>
              </a:rPr>
              <a:t>₦2,000 tickets · partner prizes first · live draw</a:t>
            </a:r>
          </a:p>
        </p:txBody>
      </p:sp>
      <p:sp>
        <p:nvSpPr>
          <p:cNvPr id="27" name="">
            <a:extLst xmlns:a="http://schemas.openxmlformats.org/drawingml/2006/main">
              <a:ext uri="{FF2B5EF4-FFF2-40B4-BE49-F238E27FC236}">
                <a16:creationId xmlns:a16="http://schemas.microsoft.com/office/drawing/2014/main" id="{2377A854-ABA0-4FBD-81CD-22F74421A7D6}"/>
              </a:ext>
            </a:extLst>
          </p:cNvPr>
          <p:cNvSpPr>
            <a:spLocks xmlns:a="http://schemas.openxmlformats.org/drawingml/2006/main" noGrp="1"/>
          </p:cNvSpPr>
          <p:nvPr/>
        </p:nvSpPr>
        <p:spPr>
          <a:xfrm xmlns:a="http://schemas.openxmlformats.org/drawingml/2006/main">
            <a:off x="628650" y="5648325"/>
            <a:ext cx="990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7354A4"/>
                </a:solidFill>
                <a:latin typeface="Avenir Next"/>
                <a:ea typeface="Avenir Next"/>
                <a:cs typeface="Avenir Next"/>
              </a:defRPr>
            </a:defPPr>
          </a:lstStyle>
          <a:p xmlns:a="http://schemas.openxmlformats.org/drawingml/2006/main">
            <a:pPr algn="l">
              <a:defRPr sz="1350" b="1">
                <a:solidFill>
                  <a:srgbClr val="7354A4"/>
                </a:solidFill>
                <a:latin typeface="Avenir Next"/>
                <a:ea typeface="Avenir Next"/>
                <a:cs typeface="Avenir Next"/>
              </a:defRPr>
            </a:pPr>
            <a:r>
              <a:rPr sz="1350" b="1">
                <a:solidFill>
                  <a:srgbClr val="7354A4"/>
                </a:solidFill>
                <a:latin typeface="Avenir Next"/>
                <a:ea typeface="Avenir Next"/>
                <a:cs typeface="Avenir Next"/>
              </a:rPr>
              <a:t>Designed to feel like a gathering, not a row of presentations.</a:t>
            </a:r>
          </a:p>
        </p:txBody>
      </p:sp>
    </p:spTree>
    <p:extLst>
      <p:ext uri="{BB962C8B-B14F-4D97-AF65-F5344CB8AC3E}">
        <p14:creationId xmlns:p14="http://schemas.microsoft.com/office/powerpoint/2010/main" val="2093447579"/>
      </p:ext>
    </p:extLst>
  </p:cSld>
</p:sld>
</file>

<file path=ppt/slides/slide6.xml><?xml version="1.0" encoding="utf-8"?>
<p:sld xmlns:p="http://schemas.openxmlformats.org/presentationml/2006/main">
  <p:cSld>
    <p:bg>
      <p:bgPr>
        <a:solidFill xmlns:a="http://schemas.openxmlformats.org/drawingml/2006/main">
          <a:srgbClr val="FAF8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2F1447BB-3022-47E7-8810-7A9AC016EEC6}"/>
              </a:ext>
            </a:extLst>
          </p:cNvPr>
          <p:cNvSpPr>
            <a:spLocks xmlns:a="http://schemas.openxmlformats.org/drawingml/2006/main" noGrp="1"/>
          </p:cNvSpPr>
          <p:nvPr/>
        </p:nvSpPr>
        <p:spPr>
          <a:xfrm xmlns:a="http://schemas.openxmlformats.org/drawingml/2006/main">
            <a:off x="609600" y="4572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7354A4"/>
                </a:solidFill>
                <a:latin typeface="Avenir Next"/>
                <a:ea typeface="Avenir Next"/>
                <a:cs typeface="Avenir Next"/>
              </a:defRPr>
            </a:defPPr>
          </a:lstStyle>
          <a:p xmlns:a="http://schemas.openxmlformats.org/drawingml/2006/main">
            <a:pPr algn="l">
              <a:defRPr sz="900" b="1">
                <a:solidFill>
                  <a:srgbClr val="7354A4"/>
                </a:solidFill>
                <a:latin typeface="Avenir Next"/>
                <a:ea typeface="Avenir Next"/>
                <a:cs typeface="Avenir Next"/>
              </a:defRPr>
            </a:pPr>
            <a:r>
              <a:rPr sz="900" b="1">
                <a:solidFill>
                  <a:srgbClr val="7354A4"/>
                </a:solidFill>
                <a:latin typeface="Avenir Next"/>
                <a:ea typeface="Avenir Next"/>
                <a:cs typeface="Avenir Next"/>
              </a:rPr>
              <a:t>WHY SPEAK AT BEYOND CODE</a:t>
            </a:r>
          </a:p>
        </p:txBody>
      </p:sp>
      <p:sp>
        <p:nvSpPr>
          <p:cNvPr id="2" name="">
            <a:extLst xmlns:a="http://schemas.openxmlformats.org/drawingml/2006/main">
              <a:ext uri="{FF2B5EF4-FFF2-40B4-BE49-F238E27FC236}">
                <a16:creationId xmlns:a16="http://schemas.microsoft.com/office/drawing/2014/main" id="{81970B0B-8392-4195-9703-C7119FEC9313}"/>
              </a:ext>
            </a:extLst>
          </p:cNvPr>
          <p:cNvSpPr>
            <a:spLocks xmlns:a="http://schemas.openxmlformats.org/drawingml/2006/main" noGrp="1"/>
          </p:cNvSpPr>
          <p:nvPr/>
        </p:nvSpPr>
        <p:spPr>
          <a:xfrm xmlns:a="http://schemas.openxmlformats.org/drawingml/2006/main">
            <a:off x="609600" y="809625"/>
            <a:ext cx="10858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150" b="1">
                <a:solidFill>
                  <a:srgbClr val="261A2C"/>
                </a:solidFill>
                <a:latin typeface="Avenir Next"/>
                <a:ea typeface="Avenir Next"/>
                <a:cs typeface="Avenir Next"/>
              </a:defRPr>
            </a:defPPr>
          </a:lstStyle>
          <a:p xmlns:a="http://schemas.openxmlformats.org/drawingml/2006/main">
            <a:pPr algn="l">
              <a:defRPr sz="3150" b="1">
                <a:solidFill>
                  <a:srgbClr val="261A2C"/>
                </a:solidFill>
                <a:latin typeface="Avenir Next"/>
                <a:ea typeface="Avenir Next"/>
                <a:cs typeface="Avenir Next"/>
              </a:defRPr>
            </a:pPr>
            <a:r>
              <a:rPr sz="3150" b="1">
                <a:solidFill>
                  <a:srgbClr val="261A2C"/>
                </a:solidFill>
                <a:latin typeface="Avenir Next"/>
                <a:ea typeface="Avenir Next"/>
                <a:cs typeface="Avenir Next"/>
              </a:rPr>
              <a:t>A focused room, with a real reason to be there.</a:t>
            </a:r>
          </a:p>
        </p:txBody>
      </p:sp>
      <p:sp>
        <p:nvSpPr>
          <p:cNvPr id="3" name="">
            <a:extLst xmlns:a="http://schemas.openxmlformats.org/drawingml/2006/main">
              <a:ext uri="{FF2B5EF4-FFF2-40B4-BE49-F238E27FC236}">
                <a16:creationId xmlns:a16="http://schemas.microsoft.com/office/drawing/2014/main" id="{38931C6C-B146-437A-8D6C-B1FA4B66505A}"/>
              </a:ext>
            </a:extLst>
          </p:cNvPr>
          <p:cNvSpPr>
            <a:spLocks xmlns:a="http://schemas.openxmlformats.org/drawingml/2006/main" noGrp="1"/>
          </p:cNvSpPr>
          <p:nvPr/>
        </p:nvSpPr>
        <p:spPr>
          <a:xfrm xmlns:a="http://schemas.openxmlformats.org/drawingml/2006/main">
            <a:off x="628650" y="152400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25" b="0">
                <a:solidFill>
                  <a:srgbClr val="746B79"/>
                </a:solidFill>
                <a:latin typeface="Avenir Next"/>
                <a:ea typeface="Avenir Next"/>
                <a:cs typeface="Avenir Next"/>
              </a:defRPr>
            </a:defPPr>
          </a:lstStyle>
          <a:p xmlns:a="http://schemas.openxmlformats.org/drawingml/2006/main">
            <a:pPr algn="l">
              <a:defRPr sz="1425" b="0">
                <a:solidFill>
                  <a:srgbClr val="746B79"/>
                </a:solidFill>
                <a:latin typeface="Avenir Next"/>
                <a:ea typeface="Avenir Next"/>
                <a:cs typeface="Avenir Next"/>
              </a:defRPr>
            </a:pPr>
            <a:r>
              <a:rPr sz="1425" b="0">
                <a:solidFill>
                  <a:srgbClr val="746B79"/>
                </a:solidFill>
                <a:latin typeface="Avenir Next"/>
                <a:ea typeface="Avenir Next"/>
                <a:cs typeface="Avenir Next"/>
              </a:rPr>
              <a:t>Bring your point of view to people who are building, selling and supporting technology.</a:t>
            </a:r>
          </a:p>
        </p:txBody>
      </p:sp>
      <p:sp>
        <p:nvSpPr>
          <p:cNvPr id="4" name="footer-rule-6">
            <a:extLst xmlns:a="http://schemas.openxmlformats.org/drawingml/2006/main">
              <a:ext uri="{FF2B5EF4-FFF2-40B4-BE49-F238E27FC236}">
                <a16:creationId xmlns:a16="http://schemas.microsoft.com/office/drawing/2014/main" id="{F09E0AFB-E187-4692-99F3-F1D2E5DFE12A}"/>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E7E0E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E073F29-4428-4BBC-A3D1-5A6EBC8148D1}"/>
              </a:ext>
            </a:extLst>
          </p:cNvPr>
          <p:cNvSpPr>
            <a:spLocks xmlns:a="http://schemas.openxmlformats.org/drawingml/2006/main" noGrp="1"/>
          </p:cNvSpPr>
          <p:nvPr/>
        </p:nvSpPr>
        <p:spPr>
          <a:xfrm xmlns:a="http://schemas.openxmlformats.org/drawingml/2006/main">
            <a:off x="609600" y="6553200"/>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1">
                <a:solidFill>
                  <a:srgbClr val="746B79"/>
                </a:solidFill>
                <a:latin typeface="Avenir Next"/>
                <a:ea typeface="Avenir Next"/>
                <a:cs typeface="Avenir Next"/>
              </a:defRPr>
            </a:defPPr>
          </a:lstStyle>
          <a:p xmlns:a="http://schemas.openxmlformats.org/drawingml/2006/main">
            <a:pPr algn="l">
              <a:defRPr sz="825" b="1">
                <a:solidFill>
                  <a:srgbClr val="746B79"/>
                </a:solidFill>
                <a:latin typeface="Avenir Next"/>
                <a:ea typeface="Avenir Next"/>
                <a:cs typeface="Avenir Next"/>
              </a:defRPr>
            </a:pPr>
            <a:r>
              <a:rPr sz="825" b="1">
                <a:solidFill>
                  <a:srgbClr val="746B79"/>
                </a:solidFill>
                <a:latin typeface="Avenir Next"/>
                <a:ea typeface="Avenir Next"/>
                <a:cs typeface="Avenir Next"/>
              </a:rPr>
              <a:t>BEYOND CODE 2027  /  SPEAKER INVITATION</a:t>
            </a:r>
          </a:p>
        </p:txBody>
      </p:sp>
      <p:sp>
        <p:nvSpPr>
          <p:cNvPr id="6" name="">
            <a:extLst xmlns:a="http://schemas.openxmlformats.org/drawingml/2006/main">
              <a:ext uri="{FF2B5EF4-FFF2-40B4-BE49-F238E27FC236}">
                <a16:creationId xmlns:a16="http://schemas.microsoft.com/office/drawing/2014/main" id="{C4E13424-D263-4537-8FC0-EF35D860D60B}"/>
              </a:ext>
            </a:extLst>
          </p:cNvPr>
          <p:cNvSpPr>
            <a:spLocks xmlns:a="http://schemas.openxmlformats.org/drawingml/2006/main" noGrp="1"/>
          </p:cNvSpPr>
          <p:nvPr/>
        </p:nvSpPr>
        <p:spPr>
          <a:xfrm xmlns:a="http://schemas.openxmlformats.org/drawingml/2006/main">
            <a:off x="10572750" y="6543675"/>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1">
                <a:solidFill>
                  <a:srgbClr val="746B79"/>
                </a:solidFill>
                <a:latin typeface="Avenir Next"/>
                <a:ea typeface="Avenir Next"/>
                <a:cs typeface="Avenir Next"/>
              </a:defRPr>
            </a:defPPr>
          </a:lstStyle>
          <a:p xmlns:a="http://schemas.openxmlformats.org/drawingml/2006/main">
            <a:pPr algn="r">
              <a:defRPr sz="900" b="1">
                <a:solidFill>
                  <a:srgbClr val="746B79"/>
                </a:solidFill>
                <a:latin typeface="Avenir Next"/>
                <a:ea typeface="Avenir Next"/>
                <a:cs typeface="Avenir Next"/>
              </a:defRPr>
            </a:pPr>
            <a:r>
              <a:rPr sz="900" b="1">
                <a:solidFill>
                  <a:srgbClr val="746B79"/>
                </a:solidFill>
                <a:latin typeface="Avenir Next"/>
                <a:ea typeface="Avenir Next"/>
                <a:cs typeface="Avenir Next"/>
              </a:rPr>
              <a:t>06  /  09</a:t>
            </a:r>
          </a:p>
        </p:txBody>
      </p:sp>
      <p:sp>
        <p:nvSpPr>
          <p:cNvPr id="7" name="why-speak-number-panel">
            <a:extLst xmlns:a="http://schemas.openxmlformats.org/drawingml/2006/main">
              <a:ext uri="{FF2B5EF4-FFF2-40B4-BE49-F238E27FC236}">
                <a16:creationId xmlns:a16="http://schemas.microsoft.com/office/drawing/2014/main" id="{44A28DD4-1D10-4B2A-B841-D56159A9F533}"/>
              </a:ext>
            </a:extLst>
          </p:cNvPr>
          <p:cNvSpPr>
            <a:spLocks xmlns:a="http://schemas.openxmlformats.org/drawingml/2006/main" noGrp="1"/>
          </p:cNvSpPr>
          <p:nvPr/>
        </p:nvSpPr>
        <p:spPr>
          <a:xfrm xmlns:a="http://schemas.openxmlformats.org/drawingml/2006/main">
            <a:off x="609600" y="2333625"/>
            <a:ext cx="3476625" cy="3295650"/>
          </a:xfrm>
          <a:prstGeom xmlns:a="http://schemas.openxmlformats.org/drawingml/2006/main" prst="roundRect">
            <a:avLst>
              <a:gd name="adj" fmla="val 6358"/>
            </a:avLst>
          </a:prstGeom>
          <a:solidFill xmlns:a="http://schemas.openxmlformats.org/drawingml/2006/main">
            <a:srgbClr val="281532"/>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A1B8EFE-AB06-42D3-957E-228705B3B721}"/>
              </a:ext>
            </a:extLst>
          </p:cNvPr>
          <p:cNvSpPr>
            <a:spLocks xmlns:a="http://schemas.openxmlformats.org/drawingml/2006/main" noGrp="1"/>
          </p:cNvSpPr>
          <p:nvPr/>
        </p:nvSpPr>
        <p:spPr>
          <a:xfrm xmlns:a="http://schemas.openxmlformats.org/drawingml/2006/main">
            <a:off x="895350" y="2647950"/>
            <a:ext cx="2571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1">
                <a:solidFill>
                  <a:srgbClr val="AEE8CE"/>
                </a:solidFill>
                <a:latin typeface="Avenir Next"/>
                <a:ea typeface="Avenir Next"/>
                <a:cs typeface="Avenir Next"/>
              </a:defRPr>
            </a:defPPr>
          </a:lstStyle>
          <a:p xmlns:a="http://schemas.openxmlformats.org/drawingml/2006/main">
            <a:pPr algn="l">
              <a:defRPr sz="975" b="1">
                <a:solidFill>
                  <a:srgbClr val="AEE8CE"/>
                </a:solidFill>
                <a:latin typeface="Avenir Next"/>
                <a:ea typeface="Avenir Next"/>
                <a:cs typeface="Avenir Next"/>
              </a:defRPr>
            </a:pPr>
            <a:r>
              <a:rPr sz="975" b="1">
                <a:solidFill>
                  <a:srgbClr val="AEE8CE"/>
                </a:solidFill>
                <a:latin typeface="Avenir Next"/>
                <a:ea typeface="Avenir Next"/>
                <a:cs typeface="Avenir Next"/>
              </a:rPr>
              <a:t>A ROOM OF</a:t>
            </a:r>
          </a:p>
        </p:txBody>
      </p:sp>
      <p:sp>
        <p:nvSpPr>
          <p:cNvPr id="9" name="">
            <a:extLst xmlns:a="http://schemas.openxmlformats.org/drawingml/2006/main">
              <a:ext uri="{FF2B5EF4-FFF2-40B4-BE49-F238E27FC236}">
                <a16:creationId xmlns:a16="http://schemas.microsoft.com/office/drawing/2014/main" id="{6F8EF621-86F6-416D-8FB2-B19F1582F01A}"/>
              </a:ext>
            </a:extLst>
          </p:cNvPr>
          <p:cNvSpPr>
            <a:spLocks xmlns:a="http://schemas.openxmlformats.org/drawingml/2006/main" noGrp="1"/>
          </p:cNvSpPr>
          <p:nvPr/>
        </p:nvSpPr>
        <p:spPr>
          <a:xfrm xmlns:a="http://schemas.openxmlformats.org/drawingml/2006/main">
            <a:off x="847725" y="2981325"/>
            <a:ext cx="276225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400" b="1">
                <a:solidFill>
                  <a:srgbClr val="FFFFFF"/>
                </a:solidFill>
                <a:latin typeface="Avenir Next"/>
                <a:ea typeface="Avenir Next"/>
                <a:cs typeface="Avenir Next"/>
              </a:defRPr>
            </a:defPPr>
          </a:lstStyle>
          <a:p xmlns:a="http://schemas.openxmlformats.org/drawingml/2006/main">
            <a:pPr algn="l">
              <a:defRPr sz="8400" b="1">
                <a:solidFill>
                  <a:srgbClr val="FFFFFF"/>
                </a:solidFill>
                <a:latin typeface="Avenir Next"/>
                <a:ea typeface="Avenir Next"/>
                <a:cs typeface="Avenir Next"/>
              </a:defRPr>
            </a:pPr>
            <a:r>
              <a:rPr sz="8400" b="1">
                <a:solidFill>
                  <a:srgbClr val="FFFFFF"/>
                </a:solidFill>
                <a:latin typeface="Avenir Next"/>
                <a:ea typeface="Avenir Next"/>
                <a:cs typeface="Avenir Next"/>
              </a:rPr>
              <a:t>100</a:t>
            </a:r>
          </a:p>
        </p:txBody>
      </p:sp>
      <p:sp>
        <p:nvSpPr>
          <p:cNvPr id="10" name="">
            <a:extLst xmlns:a="http://schemas.openxmlformats.org/drawingml/2006/main">
              <a:ext uri="{FF2B5EF4-FFF2-40B4-BE49-F238E27FC236}">
                <a16:creationId xmlns:a16="http://schemas.microsoft.com/office/drawing/2014/main" id="{14E194C4-AA0B-4E6D-AE42-7691C866488D}"/>
              </a:ext>
            </a:extLst>
          </p:cNvPr>
          <p:cNvSpPr>
            <a:spLocks xmlns:a="http://schemas.openxmlformats.org/drawingml/2006/main" noGrp="1"/>
          </p:cNvSpPr>
          <p:nvPr/>
        </p:nvSpPr>
        <p:spPr>
          <a:xfrm xmlns:a="http://schemas.openxmlformats.org/drawingml/2006/main">
            <a:off x="914400" y="4229100"/>
            <a:ext cx="27622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00" b="1">
                <a:solidFill>
                  <a:srgbClr val="FFFFFF"/>
                </a:solidFill>
                <a:latin typeface="Avenir Next"/>
                <a:ea typeface="Avenir Next"/>
                <a:cs typeface="Avenir Next"/>
              </a:defRPr>
            </a:defPPr>
          </a:lstStyle>
          <a:p xmlns:a="http://schemas.openxmlformats.org/drawingml/2006/main">
            <a:pPr algn="l">
              <a:defRPr sz="1800" b="1">
                <a:solidFill>
                  <a:srgbClr val="FFFFFF"/>
                </a:solidFill>
                <a:latin typeface="Avenir Next"/>
                <a:ea typeface="Avenir Next"/>
                <a:cs typeface="Avenir Next"/>
              </a:defRPr>
            </a:pPr>
            <a:r>
              <a:rPr sz="1800" b="1">
                <a:solidFill>
                  <a:srgbClr val="FFFFFF"/>
                </a:solidFill>
                <a:latin typeface="Avenir Next"/>
                <a:ea typeface="Avenir Next"/>
                <a:cs typeface="Avenir Next"/>
              </a:rPr>
              <a:t>tech professionals</a:t>
            </a:r>
          </a:p>
        </p:txBody>
      </p:sp>
      <p:sp>
        <p:nvSpPr>
          <p:cNvPr id="11" name="">
            <a:extLst xmlns:a="http://schemas.openxmlformats.org/drawingml/2006/main">
              <a:ext uri="{FF2B5EF4-FFF2-40B4-BE49-F238E27FC236}">
                <a16:creationId xmlns:a16="http://schemas.microsoft.com/office/drawing/2014/main" id="{53B8B824-BF46-4EE5-AAD7-F5F651408850}"/>
              </a:ext>
            </a:extLst>
          </p:cNvPr>
          <p:cNvSpPr>
            <a:spLocks xmlns:a="http://schemas.openxmlformats.org/drawingml/2006/main" noGrp="1"/>
          </p:cNvSpPr>
          <p:nvPr/>
        </p:nvSpPr>
        <p:spPr>
          <a:xfrm xmlns:a="http://schemas.openxmlformats.org/drawingml/2006/main">
            <a:off x="914400" y="4705350"/>
            <a:ext cx="2762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0">
                <a:solidFill>
                  <a:srgbClr val="FFFFFF">
                    <a:alpha val="76000"/>
                  </a:srgbClr>
                </a:solidFill>
                <a:latin typeface="Avenir Next"/>
                <a:ea typeface="Avenir Next"/>
                <a:cs typeface="Avenir Next"/>
              </a:defRPr>
            </a:defPPr>
          </a:lstStyle>
          <a:p xmlns:a="http://schemas.openxmlformats.org/drawingml/2006/main">
            <a:pPr algn="l">
              <a:defRPr sz="1125" b="0">
                <a:solidFill>
                  <a:srgbClr val="FFFFFF">
                    <a:alpha val="76000"/>
                  </a:srgbClr>
                </a:solidFill>
                <a:latin typeface="Avenir Next"/>
                <a:ea typeface="Avenir Next"/>
                <a:cs typeface="Avenir Next"/>
              </a:defRPr>
            </a:pPr>
            <a:r>
              <a:rPr sz="1125" b="0">
                <a:solidFill>
                  <a:srgbClr val="FFFFFF">
                    <a:alpha val="76000"/>
                  </a:srgbClr>
                </a:solidFill>
                <a:latin typeface="Avenir Next"/>
                <a:ea typeface="Avenir Next"/>
                <a:cs typeface="Avenir Next"/>
              </a:rPr>
              <a:t>Engineers · designers · founders</a:t>
            </a:r>
          </a:p>
          <a:p xmlns:a="http://schemas.openxmlformats.org/drawingml/2006/main">
            <a:pPr algn="l">
              <a:defRPr sz="1125" b="0">
                <a:solidFill>
                  <a:srgbClr val="FFFFFF">
                    <a:alpha val="76000"/>
                  </a:srgbClr>
                </a:solidFill>
                <a:latin typeface="Avenir Next"/>
                <a:ea typeface="Avenir Next"/>
                <a:cs typeface="Avenir Next"/>
              </a:defRPr>
            </a:pPr>
            <a:r>
              <a:rPr sz="1125" b="0">
                <a:solidFill>
                  <a:srgbClr val="FFFFFF">
                    <a:alpha val="76000"/>
                  </a:srgbClr>
                </a:solidFill>
                <a:latin typeface="Avenir Next"/>
                <a:ea typeface="Avenir Next"/>
                <a:cs typeface="Avenir Next"/>
              </a:rPr>
              <a:t>marketers · operators</a:t>
            </a:r>
          </a:p>
        </p:txBody>
      </p:sp>
      <p:sp>
        <p:nvSpPr>
          <p:cNvPr id="12" name="reason-1">
            <a:extLst xmlns:a="http://schemas.openxmlformats.org/drawingml/2006/main">
              <a:ext uri="{FF2B5EF4-FFF2-40B4-BE49-F238E27FC236}">
                <a16:creationId xmlns:a16="http://schemas.microsoft.com/office/drawing/2014/main" id="{2EFBE320-D515-45CF-B8E5-56FD0C03D57B}"/>
              </a:ext>
            </a:extLst>
          </p:cNvPr>
          <p:cNvSpPr>
            <a:spLocks xmlns:a="http://schemas.openxmlformats.org/drawingml/2006/main" noGrp="1"/>
          </p:cNvSpPr>
          <p:nvPr/>
        </p:nvSpPr>
        <p:spPr>
          <a:xfrm xmlns:a="http://schemas.openxmlformats.org/drawingml/2006/main">
            <a:off x="4476750" y="2333625"/>
            <a:ext cx="3238500" cy="1447800"/>
          </a:xfrm>
          <a:prstGeom xmlns:a="http://schemas.openxmlformats.org/drawingml/2006/main" prst="roundRect">
            <a:avLst>
              <a:gd name="adj" fmla="val 11842"/>
            </a:avLst>
          </a:prstGeom>
          <a:solidFill xmlns:a="http://schemas.openxmlformats.org/drawingml/2006/main">
            <a:srgbClr val="FFFFFF"/>
          </a:solidFill>
          <a:ln xmlns:a="http://schemas.openxmlformats.org/drawingml/2006/main" w="0">
            <a:noFill/>
            <a:prstDash val="solid"/>
          </a:ln>
        </p:spPr>
      </p:sp>
      <p:sp>
        <p:nvSpPr>
          <p:cNvPr id="13" name="reason-dot-1">
            <a:extLst xmlns:a="http://schemas.openxmlformats.org/drawingml/2006/main">
              <a:ext uri="{FF2B5EF4-FFF2-40B4-BE49-F238E27FC236}">
                <a16:creationId xmlns:a16="http://schemas.microsoft.com/office/drawing/2014/main" id="{A442F6F3-80D9-45E9-B021-06F0305CDA53}"/>
              </a:ext>
            </a:extLst>
          </p:cNvPr>
          <p:cNvSpPr>
            <a:spLocks xmlns:a="http://schemas.openxmlformats.org/drawingml/2006/main" noGrp="1"/>
          </p:cNvSpPr>
          <p:nvPr/>
        </p:nvSpPr>
        <p:spPr>
          <a:xfrm xmlns:a="http://schemas.openxmlformats.org/drawingml/2006/main">
            <a:off x="4686300" y="2571750"/>
            <a:ext cx="114300" cy="114300"/>
          </a:xfrm>
          <a:prstGeom xmlns:a="http://schemas.openxmlformats.org/drawingml/2006/main" prst="ellipse">
            <a:avLst/>
          </a:prstGeom>
          <a:solidFill xmlns:a="http://schemas.openxmlformats.org/drawingml/2006/main">
            <a:srgbClr val="9B7AC7"/>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4FF5C8B-9D9C-4DB9-94F1-E3FDA2B25F05}"/>
              </a:ext>
            </a:extLst>
          </p:cNvPr>
          <p:cNvSpPr>
            <a:spLocks xmlns:a="http://schemas.openxmlformats.org/drawingml/2006/main" noGrp="1"/>
          </p:cNvSpPr>
          <p:nvPr/>
        </p:nvSpPr>
        <p:spPr>
          <a:xfrm xmlns:a="http://schemas.openxmlformats.org/drawingml/2006/main">
            <a:off x="4686300" y="28384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25" b="1">
                <a:solidFill>
                  <a:srgbClr val="261A2C"/>
                </a:solidFill>
                <a:latin typeface="Avenir Next"/>
                <a:ea typeface="Avenir Next"/>
                <a:cs typeface="Avenir Next"/>
              </a:defRPr>
            </a:defPPr>
          </a:lstStyle>
          <a:p xmlns:a="http://schemas.openxmlformats.org/drawingml/2006/main">
            <a:pPr algn="l">
              <a:defRPr sz="1425" b="1">
                <a:solidFill>
                  <a:srgbClr val="261A2C"/>
                </a:solidFill>
                <a:latin typeface="Avenir Next"/>
                <a:ea typeface="Avenir Next"/>
                <a:cs typeface="Avenir Next"/>
              </a:defRPr>
            </a:pPr>
            <a:r>
              <a:rPr sz="1425" b="1">
                <a:solidFill>
                  <a:srgbClr val="261A2C"/>
                </a:solidFill>
                <a:latin typeface="Avenir Next"/>
                <a:ea typeface="Avenir Next"/>
                <a:cs typeface="Avenir Next"/>
              </a:rPr>
              <a:t>A useful format</a:t>
            </a:r>
          </a:p>
        </p:txBody>
      </p:sp>
      <p:sp>
        <p:nvSpPr>
          <p:cNvPr id="15" name="">
            <a:extLst xmlns:a="http://schemas.openxmlformats.org/drawingml/2006/main">
              <a:ext uri="{FF2B5EF4-FFF2-40B4-BE49-F238E27FC236}">
                <a16:creationId xmlns:a16="http://schemas.microsoft.com/office/drawing/2014/main" id="{3B995BEC-E5A1-4FF0-89F2-A11C052824D3}"/>
              </a:ext>
            </a:extLst>
          </p:cNvPr>
          <p:cNvSpPr>
            <a:spLocks xmlns:a="http://schemas.openxmlformats.org/drawingml/2006/main" noGrp="1"/>
          </p:cNvSpPr>
          <p:nvPr/>
        </p:nvSpPr>
        <p:spPr>
          <a:xfrm xmlns:a="http://schemas.openxmlformats.org/drawingml/2006/main">
            <a:off x="4686300" y="3200400"/>
            <a:ext cx="2838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0">
                <a:solidFill>
                  <a:srgbClr val="746B79"/>
                </a:solidFill>
                <a:latin typeface="Avenir Next"/>
                <a:ea typeface="Avenir Next"/>
                <a:cs typeface="Avenir Next"/>
              </a:defRPr>
            </a:defPPr>
          </a:lstStyle>
          <a:p xmlns:a="http://schemas.openxmlformats.org/drawingml/2006/main">
            <a:pPr algn="l">
              <a:defRPr sz="1050" b="0">
                <a:solidFill>
                  <a:srgbClr val="746B79"/>
                </a:solidFill>
                <a:latin typeface="Avenir Next"/>
                <a:ea typeface="Avenir Next"/>
                <a:cs typeface="Avenir Next"/>
              </a:defRPr>
            </a:pPr>
            <a:r>
              <a:rPr sz="1050" b="0">
                <a:solidFill>
                  <a:srgbClr val="746B79"/>
                </a:solidFill>
                <a:latin typeface="Avenir Next"/>
                <a:ea typeface="Avenir Next"/>
                <a:cs typeface="Avenir Next"/>
              </a:rPr>
              <a:t>Short talks, live work and open Q&amp;A—not a 45-minute slide run.</a:t>
            </a:r>
          </a:p>
        </p:txBody>
      </p:sp>
      <p:sp>
        <p:nvSpPr>
          <p:cNvPr id="16" name="reason-2">
            <a:extLst xmlns:a="http://schemas.openxmlformats.org/drawingml/2006/main">
              <a:ext uri="{FF2B5EF4-FFF2-40B4-BE49-F238E27FC236}">
                <a16:creationId xmlns:a16="http://schemas.microsoft.com/office/drawing/2014/main" id="{224B8159-3650-43BC-9894-C3A466249144}"/>
              </a:ext>
            </a:extLst>
          </p:cNvPr>
          <p:cNvSpPr>
            <a:spLocks xmlns:a="http://schemas.openxmlformats.org/drawingml/2006/main" noGrp="1"/>
          </p:cNvSpPr>
          <p:nvPr/>
        </p:nvSpPr>
        <p:spPr>
          <a:xfrm xmlns:a="http://schemas.openxmlformats.org/drawingml/2006/main">
            <a:off x="8096250" y="2333625"/>
            <a:ext cx="3238500" cy="1447800"/>
          </a:xfrm>
          <a:prstGeom xmlns:a="http://schemas.openxmlformats.org/drawingml/2006/main" prst="roundRect">
            <a:avLst>
              <a:gd name="adj" fmla="val 11842"/>
            </a:avLst>
          </a:prstGeom>
          <a:solidFill xmlns:a="http://schemas.openxmlformats.org/drawingml/2006/main">
            <a:srgbClr val="FFFFFF"/>
          </a:solidFill>
          <a:ln xmlns:a="http://schemas.openxmlformats.org/drawingml/2006/main" w="0">
            <a:noFill/>
            <a:prstDash val="solid"/>
          </a:ln>
        </p:spPr>
      </p:sp>
      <p:sp>
        <p:nvSpPr>
          <p:cNvPr id="17" name="reason-dot-2">
            <a:extLst xmlns:a="http://schemas.openxmlformats.org/drawingml/2006/main">
              <a:ext uri="{FF2B5EF4-FFF2-40B4-BE49-F238E27FC236}">
                <a16:creationId xmlns:a16="http://schemas.microsoft.com/office/drawing/2014/main" id="{806689FD-436D-4EF2-BF7E-DBBFFA4A9BD8}"/>
              </a:ext>
            </a:extLst>
          </p:cNvPr>
          <p:cNvSpPr>
            <a:spLocks xmlns:a="http://schemas.openxmlformats.org/drawingml/2006/main" noGrp="1"/>
          </p:cNvSpPr>
          <p:nvPr/>
        </p:nvSpPr>
        <p:spPr>
          <a:xfrm xmlns:a="http://schemas.openxmlformats.org/drawingml/2006/main">
            <a:off x="8305800" y="2571750"/>
            <a:ext cx="114300" cy="114300"/>
          </a:xfrm>
          <a:prstGeom xmlns:a="http://schemas.openxmlformats.org/drawingml/2006/main" prst="ellipse">
            <a:avLst/>
          </a:prstGeom>
          <a:solidFill xmlns:a="http://schemas.openxmlformats.org/drawingml/2006/main">
            <a:srgbClr val="AEE8C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94A8214-4CE6-4A74-B154-192F1CE02901}"/>
              </a:ext>
            </a:extLst>
          </p:cNvPr>
          <p:cNvSpPr>
            <a:spLocks xmlns:a="http://schemas.openxmlformats.org/drawingml/2006/main" noGrp="1"/>
          </p:cNvSpPr>
          <p:nvPr/>
        </p:nvSpPr>
        <p:spPr>
          <a:xfrm xmlns:a="http://schemas.openxmlformats.org/drawingml/2006/main">
            <a:off x="8305800" y="28384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25" b="1">
                <a:solidFill>
                  <a:srgbClr val="261A2C"/>
                </a:solidFill>
                <a:latin typeface="Avenir Next"/>
                <a:ea typeface="Avenir Next"/>
                <a:cs typeface="Avenir Next"/>
              </a:defRPr>
            </a:defPPr>
          </a:lstStyle>
          <a:p xmlns:a="http://schemas.openxmlformats.org/drawingml/2006/main">
            <a:pPr algn="l">
              <a:defRPr sz="1425" b="1">
                <a:solidFill>
                  <a:srgbClr val="261A2C"/>
                </a:solidFill>
                <a:latin typeface="Avenir Next"/>
                <a:ea typeface="Avenir Next"/>
                <a:cs typeface="Avenir Next"/>
              </a:defRPr>
            </a:pPr>
            <a:r>
              <a:rPr sz="1425" b="1">
                <a:solidFill>
                  <a:srgbClr val="261A2C"/>
                </a:solidFill>
                <a:latin typeface="Avenir Next"/>
                <a:ea typeface="Avenir Next"/>
                <a:cs typeface="Avenir Next"/>
              </a:rPr>
              <a:t>Visibility that lasts</a:t>
            </a:r>
          </a:p>
        </p:txBody>
      </p:sp>
      <p:sp>
        <p:nvSpPr>
          <p:cNvPr id="19" name="">
            <a:extLst xmlns:a="http://schemas.openxmlformats.org/drawingml/2006/main">
              <a:ext uri="{FF2B5EF4-FFF2-40B4-BE49-F238E27FC236}">
                <a16:creationId xmlns:a16="http://schemas.microsoft.com/office/drawing/2014/main" id="{8117FE27-B7EA-4721-A5C1-8221DE26B547}"/>
              </a:ext>
            </a:extLst>
          </p:cNvPr>
          <p:cNvSpPr>
            <a:spLocks xmlns:a="http://schemas.openxmlformats.org/drawingml/2006/main" noGrp="1"/>
          </p:cNvSpPr>
          <p:nvPr/>
        </p:nvSpPr>
        <p:spPr>
          <a:xfrm xmlns:a="http://schemas.openxmlformats.org/drawingml/2006/main">
            <a:off x="8305800" y="3200400"/>
            <a:ext cx="2838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0">
                <a:solidFill>
                  <a:srgbClr val="746B79"/>
                </a:solidFill>
                <a:latin typeface="Avenir Next"/>
                <a:ea typeface="Avenir Next"/>
                <a:cs typeface="Avenir Next"/>
              </a:defRPr>
            </a:defPPr>
          </a:lstStyle>
          <a:p xmlns:a="http://schemas.openxmlformats.org/drawingml/2006/main">
            <a:pPr algn="l">
              <a:defRPr sz="1050" b="0">
                <a:solidFill>
                  <a:srgbClr val="746B79"/>
                </a:solidFill>
                <a:latin typeface="Avenir Next"/>
                <a:ea typeface="Avenir Next"/>
                <a:cs typeface="Avenir Next"/>
              </a:defRPr>
            </a:pPr>
            <a:r>
              <a:rPr sz="1050" b="0">
                <a:solidFill>
                  <a:srgbClr val="746B79"/>
                </a:solidFill>
                <a:latin typeface="Avenir Next"/>
                <a:ea typeface="Avenir Next"/>
                <a:cs typeface="Avenir Next"/>
              </a:rPr>
              <a:t>Professional photos, video clips, social feature and speaker spotlight.</a:t>
            </a:r>
          </a:p>
        </p:txBody>
      </p:sp>
      <p:sp>
        <p:nvSpPr>
          <p:cNvPr id="20" name="reason-3">
            <a:extLst xmlns:a="http://schemas.openxmlformats.org/drawingml/2006/main">
              <a:ext uri="{FF2B5EF4-FFF2-40B4-BE49-F238E27FC236}">
                <a16:creationId xmlns:a16="http://schemas.microsoft.com/office/drawing/2014/main" id="{B6216F2B-3CD6-4627-9EFC-E60F02CDF184}"/>
              </a:ext>
            </a:extLst>
          </p:cNvPr>
          <p:cNvSpPr>
            <a:spLocks xmlns:a="http://schemas.openxmlformats.org/drawingml/2006/main" noGrp="1"/>
          </p:cNvSpPr>
          <p:nvPr/>
        </p:nvSpPr>
        <p:spPr>
          <a:xfrm xmlns:a="http://schemas.openxmlformats.org/drawingml/2006/main">
            <a:off x="4476750" y="4048125"/>
            <a:ext cx="3238500" cy="1447800"/>
          </a:xfrm>
          <a:prstGeom xmlns:a="http://schemas.openxmlformats.org/drawingml/2006/main" prst="roundRect">
            <a:avLst>
              <a:gd name="adj" fmla="val 11842"/>
            </a:avLst>
          </a:prstGeom>
          <a:solidFill xmlns:a="http://schemas.openxmlformats.org/drawingml/2006/main">
            <a:srgbClr val="FFFFFF"/>
          </a:solidFill>
          <a:ln xmlns:a="http://schemas.openxmlformats.org/drawingml/2006/main" w="0">
            <a:noFill/>
            <a:prstDash val="solid"/>
          </a:ln>
        </p:spPr>
      </p:sp>
      <p:sp>
        <p:nvSpPr>
          <p:cNvPr id="21" name="reason-dot-3">
            <a:extLst xmlns:a="http://schemas.openxmlformats.org/drawingml/2006/main">
              <a:ext uri="{FF2B5EF4-FFF2-40B4-BE49-F238E27FC236}">
                <a16:creationId xmlns:a16="http://schemas.microsoft.com/office/drawing/2014/main" id="{888AA035-8C00-4F46-98A8-1C620DEEFCBF}"/>
              </a:ext>
            </a:extLst>
          </p:cNvPr>
          <p:cNvSpPr>
            <a:spLocks xmlns:a="http://schemas.openxmlformats.org/drawingml/2006/main" noGrp="1"/>
          </p:cNvSpPr>
          <p:nvPr/>
        </p:nvSpPr>
        <p:spPr>
          <a:xfrm xmlns:a="http://schemas.openxmlformats.org/drawingml/2006/main">
            <a:off x="4686300" y="4286250"/>
            <a:ext cx="114300" cy="114300"/>
          </a:xfrm>
          <a:prstGeom xmlns:a="http://schemas.openxmlformats.org/drawingml/2006/main" prst="ellipse">
            <a:avLst/>
          </a:prstGeom>
          <a:solidFill xmlns:a="http://schemas.openxmlformats.org/drawingml/2006/main">
            <a:srgbClr val="9B7AC7"/>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CE72FE9-0FF6-4DEB-A2CD-4E90D65BACF0}"/>
              </a:ext>
            </a:extLst>
          </p:cNvPr>
          <p:cNvSpPr>
            <a:spLocks xmlns:a="http://schemas.openxmlformats.org/drawingml/2006/main" noGrp="1"/>
          </p:cNvSpPr>
          <p:nvPr/>
        </p:nvSpPr>
        <p:spPr>
          <a:xfrm xmlns:a="http://schemas.openxmlformats.org/drawingml/2006/main">
            <a:off x="4686300" y="45529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25" b="1">
                <a:solidFill>
                  <a:srgbClr val="261A2C"/>
                </a:solidFill>
                <a:latin typeface="Avenir Next"/>
                <a:ea typeface="Avenir Next"/>
                <a:cs typeface="Avenir Next"/>
              </a:defRPr>
            </a:defPPr>
          </a:lstStyle>
          <a:p xmlns:a="http://schemas.openxmlformats.org/drawingml/2006/main">
            <a:pPr algn="l">
              <a:defRPr sz="1425" b="1">
                <a:solidFill>
                  <a:srgbClr val="261A2C"/>
                </a:solidFill>
                <a:latin typeface="Avenir Next"/>
                <a:ea typeface="Avenir Next"/>
                <a:cs typeface="Avenir Next"/>
              </a:defRPr>
            </a:pPr>
            <a:r>
              <a:rPr sz="1425" b="1">
                <a:solidFill>
                  <a:srgbClr val="261A2C"/>
                </a:solidFill>
                <a:latin typeface="Avenir Next"/>
                <a:ea typeface="Avenir Next"/>
                <a:cs typeface="Avenir Next"/>
              </a:rPr>
              <a:t>People to meet</a:t>
            </a:r>
          </a:p>
        </p:txBody>
      </p:sp>
      <p:sp>
        <p:nvSpPr>
          <p:cNvPr id="23" name="">
            <a:extLst xmlns:a="http://schemas.openxmlformats.org/drawingml/2006/main">
              <a:ext uri="{FF2B5EF4-FFF2-40B4-BE49-F238E27FC236}">
                <a16:creationId xmlns:a16="http://schemas.microsoft.com/office/drawing/2014/main" id="{C239C350-507F-4861-AB7B-3531D8ACB341}"/>
              </a:ext>
            </a:extLst>
          </p:cNvPr>
          <p:cNvSpPr>
            <a:spLocks xmlns:a="http://schemas.openxmlformats.org/drawingml/2006/main" noGrp="1"/>
          </p:cNvSpPr>
          <p:nvPr/>
        </p:nvSpPr>
        <p:spPr>
          <a:xfrm xmlns:a="http://schemas.openxmlformats.org/drawingml/2006/main">
            <a:off x="4686300" y="4914900"/>
            <a:ext cx="2838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0">
                <a:solidFill>
                  <a:srgbClr val="746B79"/>
                </a:solidFill>
                <a:latin typeface="Avenir Next"/>
                <a:ea typeface="Avenir Next"/>
                <a:cs typeface="Avenir Next"/>
              </a:defRPr>
            </a:defPPr>
          </a:lstStyle>
          <a:p xmlns:a="http://schemas.openxmlformats.org/drawingml/2006/main">
            <a:pPr algn="l">
              <a:defRPr sz="1050" b="0">
                <a:solidFill>
                  <a:srgbClr val="746B79"/>
                </a:solidFill>
                <a:latin typeface="Avenir Next"/>
                <a:ea typeface="Avenir Next"/>
                <a:cs typeface="Avenir Next"/>
              </a:defRPr>
            </a:pPr>
            <a:r>
              <a:rPr sz="1050" b="0">
                <a:solidFill>
                  <a:srgbClr val="746B79"/>
                </a:solidFill>
                <a:latin typeface="Avenir Next"/>
                <a:ea typeface="Avenir Next"/>
                <a:cs typeface="Avenir Next"/>
              </a:rPr>
              <a:t>Find peers, possible collaborators, clients and future hires.</a:t>
            </a:r>
          </a:p>
        </p:txBody>
      </p:sp>
      <p:sp>
        <p:nvSpPr>
          <p:cNvPr id="24" name="reason-4">
            <a:extLst xmlns:a="http://schemas.openxmlformats.org/drawingml/2006/main">
              <a:ext uri="{FF2B5EF4-FFF2-40B4-BE49-F238E27FC236}">
                <a16:creationId xmlns:a16="http://schemas.microsoft.com/office/drawing/2014/main" id="{057F8E2C-7154-4AE8-A27C-FE8C32A2CEA6}"/>
              </a:ext>
            </a:extLst>
          </p:cNvPr>
          <p:cNvSpPr>
            <a:spLocks xmlns:a="http://schemas.openxmlformats.org/drawingml/2006/main" noGrp="1"/>
          </p:cNvSpPr>
          <p:nvPr/>
        </p:nvSpPr>
        <p:spPr>
          <a:xfrm xmlns:a="http://schemas.openxmlformats.org/drawingml/2006/main">
            <a:off x="8096250" y="4048125"/>
            <a:ext cx="3238500" cy="1447800"/>
          </a:xfrm>
          <a:prstGeom xmlns:a="http://schemas.openxmlformats.org/drawingml/2006/main" prst="roundRect">
            <a:avLst>
              <a:gd name="adj" fmla="val 11842"/>
            </a:avLst>
          </a:prstGeom>
          <a:solidFill xmlns:a="http://schemas.openxmlformats.org/drawingml/2006/main">
            <a:srgbClr val="FFFFFF"/>
          </a:solidFill>
          <a:ln xmlns:a="http://schemas.openxmlformats.org/drawingml/2006/main" w="0">
            <a:noFill/>
            <a:prstDash val="solid"/>
          </a:ln>
        </p:spPr>
      </p:sp>
      <p:sp>
        <p:nvSpPr>
          <p:cNvPr id="25" name="reason-dot-4">
            <a:extLst xmlns:a="http://schemas.openxmlformats.org/drawingml/2006/main">
              <a:ext uri="{FF2B5EF4-FFF2-40B4-BE49-F238E27FC236}">
                <a16:creationId xmlns:a16="http://schemas.microsoft.com/office/drawing/2014/main" id="{EAE6576E-697F-47B1-A317-1B4C8B705E10}"/>
              </a:ext>
            </a:extLst>
          </p:cNvPr>
          <p:cNvSpPr>
            <a:spLocks xmlns:a="http://schemas.openxmlformats.org/drawingml/2006/main" noGrp="1"/>
          </p:cNvSpPr>
          <p:nvPr/>
        </p:nvSpPr>
        <p:spPr>
          <a:xfrm xmlns:a="http://schemas.openxmlformats.org/drawingml/2006/main">
            <a:off x="8305800" y="4286250"/>
            <a:ext cx="114300" cy="114300"/>
          </a:xfrm>
          <a:prstGeom xmlns:a="http://schemas.openxmlformats.org/drawingml/2006/main" prst="ellipse">
            <a:avLst/>
          </a:prstGeom>
          <a:solidFill xmlns:a="http://schemas.openxmlformats.org/drawingml/2006/main">
            <a:srgbClr val="9B7AC7"/>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115E453C-866F-437C-A0F0-B7DFFE0A8B87}"/>
              </a:ext>
            </a:extLst>
          </p:cNvPr>
          <p:cNvSpPr>
            <a:spLocks xmlns:a="http://schemas.openxmlformats.org/drawingml/2006/main" noGrp="1"/>
          </p:cNvSpPr>
          <p:nvPr/>
        </p:nvSpPr>
        <p:spPr>
          <a:xfrm xmlns:a="http://schemas.openxmlformats.org/drawingml/2006/main">
            <a:off x="8305800" y="4552950"/>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25" b="1">
                <a:solidFill>
                  <a:srgbClr val="261A2C"/>
                </a:solidFill>
                <a:latin typeface="Avenir Next"/>
                <a:ea typeface="Avenir Next"/>
                <a:cs typeface="Avenir Next"/>
              </a:defRPr>
            </a:defPPr>
          </a:lstStyle>
          <a:p xmlns:a="http://schemas.openxmlformats.org/drawingml/2006/main">
            <a:pPr algn="l">
              <a:defRPr sz="1425" b="1">
                <a:solidFill>
                  <a:srgbClr val="261A2C"/>
                </a:solidFill>
                <a:latin typeface="Avenir Next"/>
                <a:ea typeface="Avenir Next"/>
                <a:cs typeface="Avenir Next"/>
              </a:defRPr>
            </a:pPr>
            <a:r>
              <a:rPr sz="1425" b="1">
                <a:solidFill>
                  <a:srgbClr val="261A2C"/>
                </a:solidFill>
                <a:latin typeface="Avenir Next"/>
                <a:ea typeface="Avenir Next"/>
                <a:cs typeface="Avenir Next"/>
              </a:rPr>
              <a:t>Your work in context</a:t>
            </a:r>
          </a:p>
        </p:txBody>
      </p:sp>
      <p:sp>
        <p:nvSpPr>
          <p:cNvPr id="27" name="">
            <a:extLst xmlns:a="http://schemas.openxmlformats.org/drawingml/2006/main">
              <a:ext uri="{FF2B5EF4-FFF2-40B4-BE49-F238E27FC236}">
                <a16:creationId xmlns:a16="http://schemas.microsoft.com/office/drawing/2014/main" id="{F83D8117-1F30-4503-8010-60D7D5F566B7}"/>
              </a:ext>
            </a:extLst>
          </p:cNvPr>
          <p:cNvSpPr>
            <a:spLocks xmlns:a="http://schemas.openxmlformats.org/drawingml/2006/main" noGrp="1"/>
          </p:cNvSpPr>
          <p:nvPr/>
        </p:nvSpPr>
        <p:spPr>
          <a:xfrm xmlns:a="http://schemas.openxmlformats.org/drawingml/2006/main">
            <a:off x="8305800" y="4914900"/>
            <a:ext cx="28384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050" b="0">
                <a:solidFill>
                  <a:srgbClr val="746B79"/>
                </a:solidFill>
                <a:latin typeface="Avenir Next"/>
                <a:ea typeface="Avenir Next"/>
                <a:cs typeface="Avenir Next"/>
              </a:defRPr>
            </a:defPPr>
          </a:lstStyle>
          <a:p xmlns:a="http://schemas.openxmlformats.org/drawingml/2006/main">
            <a:pPr algn="l">
              <a:defRPr sz="1050" b="0">
                <a:solidFill>
                  <a:srgbClr val="746B79"/>
                </a:solidFill>
                <a:latin typeface="Avenir Next"/>
                <a:ea typeface="Avenir Next"/>
                <a:cs typeface="Avenir Next"/>
              </a:defRPr>
            </a:pPr>
            <a:r>
              <a:rPr sz="1050" b="0">
                <a:solidFill>
                  <a:srgbClr val="746B79"/>
                </a:solidFill>
                <a:latin typeface="Avenir Next"/>
                <a:ea typeface="Avenir Next"/>
                <a:cs typeface="Avenir Next"/>
              </a:rPr>
              <a:t>Share what succeeded, what failed and what others can use.</a:t>
            </a:r>
          </a:p>
        </p:txBody>
      </p:sp>
    </p:spTree>
    <p:extLst>
      <p:ext uri="{BB962C8B-B14F-4D97-AF65-F5344CB8AC3E}">
        <p14:creationId xmlns:p14="http://schemas.microsoft.com/office/powerpoint/2010/main" val="453469639"/>
      </p:ext>
    </p:extLst>
  </p:cSld>
</p:sld>
</file>

<file path=ppt/slides/slide7.xml><?xml version="1.0" encoding="utf-8"?>
<p:sld xmlns:p="http://schemas.openxmlformats.org/presentationml/2006/main">
  <p:cSld>
    <p:bg>
      <p:bgPr>
        <a:solidFill xmlns:a="http://schemas.openxmlformats.org/drawingml/2006/main">
          <a:srgbClr val="FAF8FC"/>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1EFD69C8-E92E-4E5C-B225-17706A889EDA}"/>
              </a:ext>
            </a:extLst>
          </p:cNvPr>
          <p:cNvSpPr>
            <a:spLocks xmlns:a="http://schemas.openxmlformats.org/drawingml/2006/main" noGrp="1"/>
          </p:cNvSpPr>
          <p:nvPr/>
        </p:nvSpPr>
        <p:spPr>
          <a:xfrm xmlns:a="http://schemas.openxmlformats.org/drawingml/2006/main">
            <a:off x="609600" y="4572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7354A4"/>
                </a:solidFill>
                <a:latin typeface="Avenir Next"/>
                <a:ea typeface="Avenir Next"/>
                <a:cs typeface="Avenir Next"/>
              </a:defRPr>
            </a:defPPr>
          </a:lstStyle>
          <a:p xmlns:a="http://schemas.openxmlformats.org/drawingml/2006/main">
            <a:pPr algn="l">
              <a:defRPr sz="900" b="1">
                <a:solidFill>
                  <a:srgbClr val="7354A4"/>
                </a:solidFill>
                <a:latin typeface="Avenir Next"/>
                <a:ea typeface="Avenir Next"/>
                <a:cs typeface="Avenir Next"/>
              </a:defRPr>
            </a:pPr>
            <a:r>
              <a:rPr sz="900" b="1">
                <a:solidFill>
                  <a:srgbClr val="7354A4"/>
                </a:solidFill>
                <a:latin typeface="Avenir Next"/>
                <a:ea typeface="Avenir Next"/>
                <a:cs typeface="Avenir Next"/>
              </a:rPr>
              <a:t>A GOOD FIT</a:t>
            </a:r>
          </a:p>
        </p:txBody>
      </p:sp>
      <p:sp>
        <p:nvSpPr>
          <p:cNvPr id="2" name="">
            <a:extLst xmlns:a="http://schemas.openxmlformats.org/drawingml/2006/main">
              <a:ext uri="{FF2B5EF4-FFF2-40B4-BE49-F238E27FC236}">
                <a16:creationId xmlns:a16="http://schemas.microsoft.com/office/drawing/2014/main" id="{D3A26FAB-9BD4-40A0-8B1F-4D3B27C3DBA3}"/>
              </a:ext>
            </a:extLst>
          </p:cNvPr>
          <p:cNvSpPr>
            <a:spLocks xmlns:a="http://schemas.openxmlformats.org/drawingml/2006/main" noGrp="1"/>
          </p:cNvSpPr>
          <p:nvPr/>
        </p:nvSpPr>
        <p:spPr>
          <a:xfrm xmlns:a="http://schemas.openxmlformats.org/drawingml/2006/main">
            <a:off x="609600" y="809625"/>
            <a:ext cx="10858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150" b="1">
                <a:solidFill>
                  <a:srgbClr val="261A2C"/>
                </a:solidFill>
                <a:latin typeface="Avenir Next"/>
                <a:ea typeface="Avenir Next"/>
                <a:cs typeface="Avenir Next"/>
              </a:defRPr>
            </a:defPPr>
          </a:lstStyle>
          <a:p xmlns:a="http://schemas.openxmlformats.org/drawingml/2006/main">
            <a:pPr algn="l">
              <a:defRPr sz="3150" b="1">
                <a:solidFill>
                  <a:srgbClr val="261A2C"/>
                </a:solidFill>
                <a:latin typeface="Avenir Next"/>
                <a:ea typeface="Avenir Next"/>
                <a:cs typeface="Avenir Next"/>
              </a:defRPr>
            </a:pPr>
            <a:r>
              <a:rPr sz="3150" b="1">
                <a:solidFill>
                  <a:srgbClr val="261A2C"/>
                </a:solidFill>
                <a:latin typeface="Avenir Next"/>
                <a:ea typeface="Avenir Next"/>
                <a:cs typeface="Avenir Next"/>
              </a:rPr>
              <a:t>Practical by design. Supported by the team.</a:t>
            </a:r>
          </a:p>
        </p:txBody>
      </p:sp>
      <p:sp>
        <p:nvSpPr>
          <p:cNvPr id="3" name="">
            <a:extLst xmlns:a="http://schemas.openxmlformats.org/drawingml/2006/main">
              <a:ext uri="{FF2B5EF4-FFF2-40B4-BE49-F238E27FC236}">
                <a16:creationId xmlns:a16="http://schemas.microsoft.com/office/drawing/2014/main" id="{9A1FE917-2576-43F5-8C46-682DDB081DEE}"/>
              </a:ext>
            </a:extLst>
          </p:cNvPr>
          <p:cNvSpPr>
            <a:spLocks xmlns:a="http://schemas.openxmlformats.org/drawingml/2006/main" noGrp="1"/>
          </p:cNvSpPr>
          <p:nvPr/>
        </p:nvSpPr>
        <p:spPr>
          <a:xfrm xmlns:a="http://schemas.openxmlformats.org/drawingml/2006/main">
            <a:off x="628650" y="152400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25" b="0">
                <a:solidFill>
                  <a:srgbClr val="746B79"/>
                </a:solidFill>
                <a:latin typeface="Avenir Next"/>
                <a:ea typeface="Avenir Next"/>
                <a:cs typeface="Avenir Next"/>
              </a:defRPr>
            </a:defPPr>
          </a:lstStyle>
          <a:p xmlns:a="http://schemas.openxmlformats.org/drawingml/2006/main">
            <a:pPr algn="l">
              <a:defRPr sz="1425" b="0">
                <a:solidFill>
                  <a:srgbClr val="746B79"/>
                </a:solidFill>
                <a:latin typeface="Avenir Next"/>
                <a:ea typeface="Avenir Next"/>
                <a:cs typeface="Avenir Next"/>
              </a:defRPr>
            </a:pPr>
            <a:r>
              <a:rPr sz="1425" b="0">
                <a:solidFill>
                  <a:srgbClr val="746B79"/>
                </a:solidFill>
                <a:latin typeface="Avenir Next"/>
                <a:ea typeface="Avenir Next"/>
                <a:cs typeface="Avenir Next"/>
              </a:rPr>
              <a:t>A clear brief and thoughtful logistics make it easier to bring your best work.</a:t>
            </a:r>
          </a:p>
        </p:txBody>
      </p:sp>
      <p:sp>
        <p:nvSpPr>
          <p:cNvPr id="4" name="footer-rule-7">
            <a:extLst xmlns:a="http://schemas.openxmlformats.org/drawingml/2006/main">
              <a:ext uri="{FF2B5EF4-FFF2-40B4-BE49-F238E27FC236}">
                <a16:creationId xmlns:a16="http://schemas.microsoft.com/office/drawing/2014/main" id="{0BC1FF49-2F34-4CA7-8550-9363720C439F}"/>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E7E0E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6D1F98E-35EA-4E5B-943D-3FA0356CE5ED}"/>
              </a:ext>
            </a:extLst>
          </p:cNvPr>
          <p:cNvSpPr>
            <a:spLocks xmlns:a="http://schemas.openxmlformats.org/drawingml/2006/main" noGrp="1"/>
          </p:cNvSpPr>
          <p:nvPr/>
        </p:nvSpPr>
        <p:spPr>
          <a:xfrm xmlns:a="http://schemas.openxmlformats.org/drawingml/2006/main">
            <a:off x="609600" y="6553200"/>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1">
                <a:solidFill>
                  <a:srgbClr val="746B79"/>
                </a:solidFill>
                <a:latin typeface="Avenir Next"/>
                <a:ea typeface="Avenir Next"/>
                <a:cs typeface="Avenir Next"/>
              </a:defRPr>
            </a:defPPr>
          </a:lstStyle>
          <a:p xmlns:a="http://schemas.openxmlformats.org/drawingml/2006/main">
            <a:pPr algn="l">
              <a:defRPr sz="825" b="1">
                <a:solidFill>
                  <a:srgbClr val="746B79"/>
                </a:solidFill>
                <a:latin typeface="Avenir Next"/>
                <a:ea typeface="Avenir Next"/>
                <a:cs typeface="Avenir Next"/>
              </a:defRPr>
            </a:pPr>
            <a:r>
              <a:rPr sz="825" b="1">
                <a:solidFill>
                  <a:srgbClr val="746B79"/>
                </a:solidFill>
                <a:latin typeface="Avenir Next"/>
                <a:ea typeface="Avenir Next"/>
                <a:cs typeface="Avenir Next"/>
              </a:rPr>
              <a:t>BEYOND CODE 2027  /  SPEAKER INVITATION</a:t>
            </a:r>
          </a:p>
        </p:txBody>
      </p:sp>
      <p:sp>
        <p:nvSpPr>
          <p:cNvPr id="6" name="">
            <a:extLst xmlns:a="http://schemas.openxmlformats.org/drawingml/2006/main">
              <a:ext uri="{FF2B5EF4-FFF2-40B4-BE49-F238E27FC236}">
                <a16:creationId xmlns:a16="http://schemas.microsoft.com/office/drawing/2014/main" id="{B4F0C8CB-723A-434F-B2B6-046C79310935}"/>
              </a:ext>
            </a:extLst>
          </p:cNvPr>
          <p:cNvSpPr>
            <a:spLocks xmlns:a="http://schemas.openxmlformats.org/drawingml/2006/main" noGrp="1"/>
          </p:cNvSpPr>
          <p:nvPr/>
        </p:nvSpPr>
        <p:spPr>
          <a:xfrm xmlns:a="http://schemas.openxmlformats.org/drawingml/2006/main">
            <a:off x="10572750" y="6543675"/>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1">
                <a:solidFill>
                  <a:srgbClr val="746B79"/>
                </a:solidFill>
                <a:latin typeface="Avenir Next"/>
                <a:ea typeface="Avenir Next"/>
                <a:cs typeface="Avenir Next"/>
              </a:defRPr>
            </a:defPPr>
          </a:lstStyle>
          <a:p xmlns:a="http://schemas.openxmlformats.org/drawingml/2006/main">
            <a:pPr algn="r">
              <a:defRPr sz="900" b="1">
                <a:solidFill>
                  <a:srgbClr val="746B79"/>
                </a:solidFill>
                <a:latin typeface="Avenir Next"/>
                <a:ea typeface="Avenir Next"/>
                <a:cs typeface="Avenir Next"/>
              </a:defRPr>
            </a:pPr>
            <a:r>
              <a:rPr sz="900" b="1">
                <a:solidFill>
                  <a:srgbClr val="746B79"/>
                </a:solidFill>
                <a:latin typeface="Avenir Next"/>
                <a:ea typeface="Avenir Next"/>
                <a:cs typeface="Avenir Next"/>
              </a:rPr>
              <a:t>07  /  09</a:t>
            </a:r>
          </a:p>
        </p:txBody>
      </p:sp>
      <p:sp>
        <p:nvSpPr>
          <p:cNvPr id="7" name="speaker-brief-panel">
            <a:extLst xmlns:a="http://schemas.openxmlformats.org/drawingml/2006/main">
              <a:ext uri="{FF2B5EF4-FFF2-40B4-BE49-F238E27FC236}">
                <a16:creationId xmlns:a16="http://schemas.microsoft.com/office/drawing/2014/main" id="{F267C32E-725B-4F5A-96AD-BA3955C2240D}"/>
              </a:ext>
            </a:extLst>
          </p:cNvPr>
          <p:cNvSpPr>
            <a:spLocks xmlns:a="http://schemas.openxmlformats.org/drawingml/2006/main" noGrp="1"/>
          </p:cNvSpPr>
          <p:nvPr/>
        </p:nvSpPr>
        <p:spPr>
          <a:xfrm xmlns:a="http://schemas.openxmlformats.org/drawingml/2006/main">
            <a:off x="609600" y="2247900"/>
            <a:ext cx="5219700" cy="3638550"/>
          </a:xfrm>
          <a:prstGeom xmlns:a="http://schemas.openxmlformats.org/drawingml/2006/main" prst="roundRect">
            <a:avLst>
              <a:gd name="adj" fmla="val 5236"/>
            </a:avLst>
          </a:prstGeom>
          <a:solidFill xmlns:a="http://schemas.openxmlformats.org/drawingml/2006/main">
            <a:srgbClr val="FFFFFF"/>
          </a:solidFill>
          <a:ln xmlns:a="http://schemas.openxmlformats.org/drawingml/2006/main" w="0">
            <a:noFill/>
            <a:prstDash val="solid"/>
          </a:ln>
        </p:spPr>
      </p:sp>
      <p:sp>
        <p:nvSpPr>
          <p:cNvPr id="8" name="speaker-brief-accent">
            <a:extLst xmlns:a="http://schemas.openxmlformats.org/drawingml/2006/main">
              <a:ext uri="{FF2B5EF4-FFF2-40B4-BE49-F238E27FC236}">
                <a16:creationId xmlns:a16="http://schemas.microsoft.com/office/drawing/2014/main" id="{9F7035E1-BE4E-443E-9BDA-81F01DABA26C}"/>
              </a:ext>
            </a:extLst>
          </p:cNvPr>
          <p:cNvSpPr>
            <a:spLocks xmlns:a="http://schemas.openxmlformats.org/drawingml/2006/main" noGrp="1"/>
          </p:cNvSpPr>
          <p:nvPr/>
        </p:nvSpPr>
        <p:spPr>
          <a:xfrm xmlns:a="http://schemas.openxmlformats.org/drawingml/2006/main">
            <a:off x="609600" y="2247900"/>
            <a:ext cx="5219700" cy="66675"/>
          </a:xfrm>
          <a:prstGeom xmlns:a="http://schemas.openxmlformats.org/drawingml/2006/main" prst="roundRect">
            <a:avLst>
              <a:gd name="adj" fmla="val 50000"/>
            </a:avLst>
          </a:prstGeom>
          <a:solidFill xmlns:a="http://schemas.openxmlformats.org/drawingml/2006/main">
            <a:srgbClr val="9B7AC7"/>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132E192-999E-4498-AF48-BEDB8E8A2C2E}"/>
              </a:ext>
            </a:extLst>
          </p:cNvPr>
          <p:cNvSpPr>
            <a:spLocks xmlns:a="http://schemas.openxmlformats.org/drawingml/2006/main" noGrp="1"/>
          </p:cNvSpPr>
          <p:nvPr/>
        </p:nvSpPr>
        <p:spPr>
          <a:xfrm xmlns:a="http://schemas.openxmlformats.org/drawingml/2006/main">
            <a:off x="866775" y="2552700"/>
            <a:ext cx="4476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7354A4"/>
                </a:solidFill>
                <a:latin typeface="Avenir Next"/>
                <a:ea typeface="Avenir Next"/>
                <a:cs typeface="Avenir Next"/>
              </a:defRPr>
            </a:defPPr>
          </a:lstStyle>
          <a:p xmlns:a="http://schemas.openxmlformats.org/drawingml/2006/main">
            <a:pPr algn="l">
              <a:defRPr sz="900" b="1">
                <a:solidFill>
                  <a:srgbClr val="7354A4"/>
                </a:solidFill>
                <a:latin typeface="Avenir Next"/>
                <a:ea typeface="Avenir Next"/>
                <a:cs typeface="Avenir Next"/>
              </a:defRPr>
            </a:pPr>
            <a:r>
              <a:rPr sz="900" b="1">
                <a:solidFill>
                  <a:srgbClr val="7354A4"/>
                </a:solidFill>
                <a:latin typeface="Avenir Next"/>
                <a:ea typeface="Avenir Next"/>
                <a:cs typeface="Avenir Next"/>
              </a:rPr>
              <a:t>WHAT MAKES A STRONG SESSION</a:t>
            </a:r>
          </a:p>
        </p:txBody>
      </p:sp>
      <p:sp>
        <p:nvSpPr>
          <p:cNvPr id="10" name="">
            <a:extLst xmlns:a="http://schemas.openxmlformats.org/drawingml/2006/main">
              <a:ext uri="{FF2B5EF4-FFF2-40B4-BE49-F238E27FC236}">
                <a16:creationId xmlns:a16="http://schemas.microsoft.com/office/drawing/2014/main" id="{588AD802-EDF7-4D67-AB38-658B41BB56FD}"/>
              </a:ext>
            </a:extLst>
          </p:cNvPr>
          <p:cNvSpPr>
            <a:spLocks xmlns:a="http://schemas.openxmlformats.org/drawingml/2006/main" noGrp="1"/>
          </p:cNvSpPr>
          <p:nvPr/>
        </p:nvSpPr>
        <p:spPr>
          <a:xfrm xmlns:a="http://schemas.openxmlformats.org/drawingml/2006/main">
            <a:off x="866775" y="2924175"/>
            <a:ext cx="4381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025" b="1">
                <a:solidFill>
                  <a:srgbClr val="261A2C"/>
                </a:solidFill>
                <a:latin typeface="Avenir Next"/>
                <a:ea typeface="Avenir Next"/>
                <a:cs typeface="Avenir Next"/>
              </a:defRPr>
            </a:defPPr>
          </a:lstStyle>
          <a:p xmlns:a="http://schemas.openxmlformats.org/drawingml/2006/main">
            <a:pPr algn="l">
              <a:defRPr sz="2025" b="1">
                <a:solidFill>
                  <a:srgbClr val="261A2C"/>
                </a:solidFill>
                <a:latin typeface="Avenir Next"/>
                <a:ea typeface="Avenir Next"/>
                <a:cs typeface="Avenir Next"/>
              </a:defRPr>
            </a:pPr>
            <a:r>
              <a:rPr sz="2025" b="1">
                <a:solidFill>
                  <a:srgbClr val="261A2C"/>
                </a:solidFill>
                <a:latin typeface="Avenir Next"/>
                <a:ea typeface="Avenir Next"/>
                <a:cs typeface="Avenir Next"/>
              </a:rPr>
              <a:t>Bring the work behind the work.</a:t>
            </a:r>
          </a:p>
        </p:txBody>
      </p:sp>
      <p:sp>
        <p:nvSpPr>
          <p:cNvPr id="11" name="brief-dot-1">
            <a:extLst xmlns:a="http://schemas.openxmlformats.org/drawingml/2006/main">
              <a:ext uri="{FF2B5EF4-FFF2-40B4-BE49-F238E27FC236}">
                <a16:creationId xmlns:a16="http://schemas.microsoft.com/office/drawing/2014/main" id="{A5499237-FC59-4D7D-9244-FFC4F3A96A87}"/>
              </a:ext>
            </a:extLst>
          </p:cNvPr>
          <p:cNvSpPr>
            <a:spLocks xmlns:a="http://schemas.openxmlformats.org/drawingml/2006/main" noGrp="1"/>
          </p:cNvSpPr>
          <p:nvPr/>
        </p:nvSpPr>
        <p:spPr>
          <a:xfrm xmlns:a="http://schemas.openxmlformats.org/drawingml/2006/main">
            <a:off x="876300" y="3790950"/>
            <a:ext cx="95250" cy="95250"/>
          </a:xfrm>
          <a:prstGeom xmlns:a="http://schemas.openxmlformats.org/drawingml/2006/main" prst="ellipse">
            <a:avLst/>
          </a:prstGeom>
          <a:solidFill xmlns:a="http://schemas.openxmlformats.org/drawingml/2006/main">
            <a:srgbClr val="9B7AC7"/>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CA82FA54-6C4A-4115-AEAC-85596155C351}"/>
              </a:ext>
            </a:extLst>
          </p:cNvPr>
          <p:cNvSpPr>
            <a:spLocks xmlns:a="http://schemas.openxmlformats.org/drawingml/2006/main" noGrp="1"/>
          </p:cNvSpPr>
          <p:nvPr/>
        </p:nvSpPr>
        <p:spPr>
          <a:xfrm xmlns:a="http://schemas.openxmlformats.org/drawingml/2006/main">
            <a:off x="1104900" y="3714750"/>
            <a:ext cx="4171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261A2C"/>
                </a:solidFill>
                <a:latin typeface="Avenir Next"/>
                <a:ea typeface="Avenir Next"/>
                <a:cs typeface="Avenir Next"/>
              </a:defRPr>
            </a:defPPr>
          </a:lstStyle>
          <a:p xmlns:a="http://schemas.openxmlformats.org/drawingml/2006/main">
            <a:pPr algn="l">
              <a:defRPr sz="1200" b="0">
                <a:solidFill>
                  <a:srgbClr val="261A2C"/>
                </a:solidFill>
                <a:latin typeface="Avenir Next"/>
                <a:ea typeface="Avenir Next"/>
                <a:cs typeface="Avenir Next"/>
              </a:defRPr>
            </a:pPr>
            <a:r>
              <a:rPr sz="1200" b="0">
                <a:solidFill>
                  <a:srgbClr val="261A2C"/>
                </a:solidFill>
                <a:latin typeface="Avenir Next"/>
                <a:ea typeface="Avenir Next"/>
                <a:cs typeface="Avenir Next"/>
              </a:rPr>
              <a:t>Real examples, numbers, stories and mistakes</a:t>
            </a:r>
          </a:p>
        </p:txBody>
      </p:sp>
      <p:sp>
        <p:nvSpPr>
          <p:cNvPr id="13" name="brief-dot-2">
            <a:extLst xmlns:a="http://schemas.openxmlformats.org/drawingml/2006/main">
              <a:ext uri="{FF2B5EF4-FFF2-40B4-BE49-F238E27FC236}">
                <a16:creationId xmlns:a16="http://schemas.microsoft.com/office/drawing/2014/main" id="{4A586C7C-B9CE-4628-B6AC-AF9F14F1A73D}"/>
              </a:ext>
            </a:extLst>
          </p:cNvPr>
          <p:cNvSpPr>
            <a:spLocks xmlns:a="http://schemas.openxmlformats.org/drawingml/2006/main" noGrp="1"/>
          </p:cNvSpPr>
          <p:nvPr/>
        </p:nvSpPr>
        <p:spPr>
          <a:xfrm xmlns:a="http://schemas.openxmlformats.org/drawingml/2006/main">
            <a:off x="876300" y="4314825"/>
            <a:ext cx="95250" cy="95250"/>
          </a:xfrm>
          <a:prstGeom xmlns:a="http://schemas.openxmlformats.org/drawingml/2006/main" prst="ellipse">
            <a:avLst/>
          </a:prstGeom>
          <a:solidFill xmlns:a="http://schemas.openxmlformats.org/drawingml/2006/main">
            <a:srgbClr val="AEE8C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02DF539-B8A8-4D2B-9518-FF85C4084B0B}"/>
              </a:ext>
            </a:extLst>
          </p:cNvPr>
          <p:cNvSpPr>
            <a:spLocks xmlns:a="http://schemas.openxmlformats.org/drawingml/2006/main" noGrp="1"/>
          </p:cNvSpPr>
          <p:nvPr/>
        </p:nvSpPr>
        <p:spPr>
          <a:xfrm xmlns:a="http://schemas.openxmlformats.org/drawingml/2006/main">
            <a:off x="1104900" y="4238625"/>
            <a:ext cx="4171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261A2C"/>
                </a:solidFill>
                <a:latin typeface="Avenir Next"/>
                <a:ea typeface="Avenir Next"/>
                <a:cs typeface="Avenir Next"/>
              </a:defRPr>
            </a:defPPr>
          </a:lstStyle>
          <a:p xmlns:a="http://schemas.openxmlformats.org/drawingml/2006/main">
            <a:pPr algn="l">
              <a:defRPr sz="1200" b="0">
                <a:solidFill>
                  <a:srgbClr val="261A2C"/>
                </a:solidFill>
                <a:latin typeface="Avenir Next"/>
                <a:ea typeface="Avenir Next"/>
                <a:cs typeface="Avenir Next"/>
              </a:defRPr>
            </a:pPr>
            <a:r>
              <a:rPr sz="1200" b="0">
                <a:solidFill>
                  <a:srgbClr val="261A2C"/>
                </a:solidFill>
                <a:latin typeface="Avenir Next"/>
                <a:ea typeface="Avenir Next"/>
                <a:cs typeface="Avenir Next"/>
              </a:rPr>
              <a:t>No more than 10 slides; teach rather than pitch</a:t>
            </a:r>
          </a:p>
        </p:txBody>
      </p:sp>
      <p:sp>
        <p:nvSpPr>
          <p:cNvPr id="15" name="brief-dot-3">
            <a:extLst xmlns:a="http://schemas.openxmlformats.org/drawingml/2006/main">
              <a:ext uri="{FF2B5EF4-FFF2-40B4-BE49-F238E27FC236}">
                <a16:creationId xmlns:a16="http://schemas.microsoft.com/office/drawing/2014/main" id="{13DA2A70-BC3C-4D21-BE0F-20F7BF97D2AE}"/>
              </a:ext>
            </a:extLst>
          </p:cNvPr>
          <p:cNvSpPr>
            <a:spLocks xmlns:a="http://schemas.openxmlformats.org/drawingml/2006/main" noGrp="1"/>
          </p:cNvSpPr>
          <p:nvPr/>
        </p:nvSpPr>
        <p:spPr>
          <a:xfrm xmlns:a="http://schemas.openxmlformats.org/drawingml/2006/main">
            <a:off x="876300" y="4838700"/>
            <a:ext cx="95250" cy="95250"/>
          </a:xfrm>
          <a:prstGeom xmlns:a="http://schemas.openxmlformats.org/drawingml/2006/main" prst="ellipse">
            <a:avLst/>
          </a:prstGeom>
          <a:solidFill xmlns:a="http://schemas.openxmlformats.org/drawingml/2006/main">
            <a:srgbClr val="9B7AC7"/>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0C66530-CFE8-476E-BD38-A60381157E81}"/>
              </a:ext>
            </a:extLst>
          </p:cNvPr>
          <p:cNvSpPr>
            <a:spLocks xmlns:a="http://schemas.openxmlformats.org/drawingml/2006/main" noGrp="1"/>
          </p:cNvSpPr>
          <p:nvPr/>
        </p:nvSpPr>
        <p:spPr>
          <a:xfrm xmlns:a="http://schemas.openxmlformats.org/drawingml/2006/main">
            <a:off x="1104900" y="4762500"/>
            <a:ext cx="4171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0">
                <a:solidFill>
                  <a:srgbClr val="261A2C"/>
                </a:solidFill>
                <a:latin typeface="Avenir Next"/>
                <a:ea typeface="Avenir Next"/>
                <a:cs typeface="Avenir Next"/>
              </a:defRPr>
            </a:defPPr>
          </a:lstStyle>
          <a:p xmlns:a="http://schemas.openxmlformats.org/drawingml/2006/main">
            <a:pPr algn="l">
              <a:defRPr sz="1200" b="0">
                <a:solidFill>
                  <a:srgbClr val="261A2C"/>
                </a:solidFill>
                <a:latin typeface="Avenir Next"/>
                <a:ea typeface="Avenir Next"/>
                <a:cs typeface="Avenir Next"/>
              </a:defRPr>
            </a:pPr>
            <a:r>
              <a:rPr sz="1200" b="0">
                <a:solidFill>
                  <a:srgbClr val="261A2C"/>
                </a:solidFill>
                <a:latin typeface="Avenir Next"/>
                <a:ea typeface="Avenir Next"/>
                <a:cs typeface="Avenir Next"/>
              </a:rPr>
              <a:t>Stay for questions and the networking hour</a:t>
            </a:r>
          </a:p>
        </p:txBody>
      </p:sp>
      <p:sp>
        <p:nvSpPr>
          <p:cNvPr id="17" name="organizer-support-panel">
            <a:extLst xmlns:a="http://schemas.openxmlformats.org/drawingml/2006/main">
              <a:ext uri="{FF2B5EF4-FFF2-40B4-BE49-F238E27FC236}">
                <a16:creationId xmlns:a16="http://schemas.microsoft.com/office/drawing/2014/main" id="{F846ED6B-0D43-4E4E-8161-52D8FC19AB22}"/>
              </a:ext>
            </a:extLst>
          </p:cNvPr>
          <p:cNvSpPr>
            <a:spLocks xmlns:a="http://schemas.openxmlformats.org/drawingml/2006/main" noGrp="1"/>
          </p:cNvSpPr>
          <p:nvPr/>
        </p:nvSpPr>
        <p:spPr>
          <a:xfrm xmlns:a="http://schemas.openxmlformats.org/drawingml/2006/main">
            <a:off x="6096000" y="2247900"/>
            <a:ext cx="5486400" cy="3638550"/>
          </a:xfrm>
          <a:prstGeom xmlns:a="http://schemas.openxmlformats.org/drawingml/2006/main" prst="roundRect">
            <a:avLst>
              <a:gd name="adj" fmla="val 5236"/>
            </a:avLst>
          </a:prstGeom>
          <a:solidFill xmlns:a="http://schemas.openxmlformats.org/drawingml/2006/main">
            <a:srgbClr val="F0EAF6"/>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C97FE685-1499-43A2-A5D4-403924D416D7}"/>
              </a:ext>
            </a:extLst>
          </p:cNvPr>
          <p:cNvSpPr>
            <a:spLocks xmlns:a="http://schemas.openxmlformats.org/drawingml/2006/main" noGrp="1"/>
          </p:cNvSpPr>
          <p:nvPr/>
        </p:nvSpPr>
        <p:spPr>
          <a:xfrm xmlns:a="http://schemas.openxmlformats.org/drawingml/2006/main">
            <a:off x="6372225" y="2552700"/>
            <a:ext cx="466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7354A4"/>
                </a:solidFill>
                <a:latin typeface="Avenir Next"/>
                <a:ea typeface="Avenir Next"/>
                <a:cs typeface="Avenir Next"/>
              </a:defRPr>
            </a:defPPr>
          </a:lstStyle>
          <a:p xmlns:a="http://schemas.openxmlformats.org/drawingml/2006/main">
            <a:pPr algn="l">
              <a:defRPr sz="900" b="1">
                <a:solidFill>
                  <a:srgbClr val="7354A4"/>
                </a:solidFill>
                <a:latin typeface="Avenir Next"/>
                <a:ea typeface="Avenir Next"/>
                <a:cs typeface="Avenir Next"/>
              </a:defRPr>
            </a:pPr>
            <a:r>
              <a:rPr sz="900" b="1">
                <a:solidFill>
                  <a:srgbClr val="7354A4"/>
                </a:solidFill>
                <a:latin typeface="Avenir Next"/>
                <a:ea typeface="Avenir Next"/>
                <a:cs typeface="Avenir Next"/>
              </a:rPr>
              <a:t>WHAT THE ORGANIZERS PROVIDE</a:t>
            </a:r>
          </a:p>
        </p:txBody>
      </p:sp>
      <p:sp>
        <p:nvSpPr>
          <p:cNvPr id="19" name="support-icon-1">
            <a:extLst xmlns:a="http://schemas.openxmlformats.org/drawingml/2006/main">
              <a:ext uri="{FF2B5EF4-FFF2-40B4-BE49-F238E27FC236}">
                <a16:creationId xmlns:a16="http://schemas.microsoft.com/office/drawing/2014/main" id="{69A4B817-EC7E-4C6F-B0B4-A060BC34B46E}"/>
              </a:ext>
            </a:extLst>
          </p:cNvPr>
          <p:cNvSpPr>
            <a:spLocks xmlns:a="http://schemas.openxmlformats.org/drawingml/2006/main" noGrp="1"/>
          </p:cNvSpPr>
          <p:nvPr/>
        </p:nvSpPr>
        <p:spPr>
          <a:xfrm xmlns:a="http://schemas.openxmlformats.org/drawingml/2006/main">
            <a:off x="6381750" y="2962275"/>
            <a:ext cx="266700" cy="2667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C5CB2BE-B425-4376-BB32-3A7BB23B4AED}"/>
              </a:ext>
            </a:extLst>
          </p:cNvPr>
          <p:cNvSpPr>
            <a:spLocks xmlns:a="http://schemas.openxmlformats.org/drawingml/2006/main" noGrp="1"/>
          </p:cNvSpPr>
          <p:nvPr/>
        </p:nvSpPr>
        <p:spPr>
          <a:xfrm xmlns:a="http://schemas.openxmlformats.org/drawingml/2006/main">
            <a:off x="6438900" y="3038475"/>
            <a:ext cx="1714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675" b="1">
                <a:solidFill>
                  <a:srgbClr val="7354A4"/>
                </a:solidFill>
                <a:latin typeface="Avenir Next"/>
                <a:ea typeface="Avenir Next"/>
                <a:cs typeface="Avenir Next"/>
              </a:defRPr>
            </a:defPPr>
          </a:lstStyle>
          <a:p xmlns:a="http://schemas.openxmlformats.org/drawingml/2006/main">
            <a:pPr algn="l">
              <a:defRPr sz="675" b="1">
                <a:solidFill>
                  <a:srgbClr val="7354A4"/>
                </a:solidFill>
                <a:latin typeface="Avenir Next"/>
                <a:ea typeface="Avenir Next"/>
                <a:cs typeface="Avenir Next"/>
              </a:defRPr>
            </a:pPr>
            <a:r>
              <a:rPr sz="675" b="1">
                <a:solidFill>
                  <a:srgbClr val="7354A4"/>
                </a:solidFill>
                <a:latin typeface="Avenir Next"/>
                <a:ea typeface="Avenir Next"/>
                <a:cs typeface="Avenir Next"/>
              </a:rPr>
              <a:t>01</a:t>
            </a:r>
          </a:p>
        </p:txBody>
      </p:sp>
      <p:sp>
        <p:nvSpPr>
          <p:cNvPr id="21" name="">
            <a:extLst xmlns:a="http://schemas.openxmlformats.org/drawingml/2006/main">
              <a:ext uri="{FF2B5EF4-FFF2-40B4-BE49-F238E27FC236}">
                <a16:creationId xmlns:a16="http://schemas.microsoft.com/office/drawing/2014/main" id="{0674FA00-CBE8-4FFF-B9F4-A4FAE6AA16D0}"/>
              </a:ext>
            </a:extLst>
          </p:cNvPr>
          <p:cNvSpPr>
            <a:spLocks xmlns:a="http://schemas.openxmlformats.org/drawingml/2006/main" noGrp="1"/>
          </p:cNvSpPr>
          <p:nvPr/>
        </p:nvSpPr>
        <p:spPr>
          <a:xfrm xmlns:a="http://schemas.openxmlformats.org/drawingml/2006/main">
            <a:off x="6800850" y="2943225"/>
            <a:ext cx="4438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0">
                <a:solidFill>
                  <a:srgbClr val="261A2C"/>
                </a:solidFill>
                <a:latin typeface="Avenir Next"/>
                <a:ea typeface="Avenir Next"/>
                <a:cs typeface="Avenir Next"/>
              </a:defRPr>
            </a:defPPr>
          </a:lstStyle>
          <a:p xmlns:a="http://schemas.openxmlformats.org/drawingml/2006/main">
            <a:pPr algn="l">
              <a:defRPr sz="1125" b="0">
                <a:solidFill>
                  <a:srgbClr val="261A2C"/>
                </a:solidFill>
                <a:latin typeface="Avenir Next"/>
                <a:ea typeface="Avenir Next"/>
                <a:cs typeface="Avenir Next"/>
              </a:defRPr>
            </a:pPr>
            <a:r>
              <a:rPr sz="1125" b="0">
                <a:solidFill>
                  <a:srgbClr val="261A2C"/>
                </a:solidFill>
                <a:latin typeface="Avenir Next"/>
                <a:ea typeface="Avenir Next"/>
                <a:cs typeface="Avenir Next"/>
              </a:rPr>
              <a:t>Transport support or honorarium, agreed individually</a:t>
            </a:r>
          </a:p>
        </p:txBody>
      </p:sp>
      <p:sp>
        <p:nvSpPr>
          <p:cNvPr id="22" name="support-icon-2">
            <a:extLst xmlns:a="http://schemas.openxmlformats.org/drawingml/2006/main">
              <a:ext uri="{FF2B5EF4-FFF2-40B4-BE49-F238E27FC236}">
                <a16:creationId xmlns:a16="http://schemas.microsoft.com/office/drawing/2014/main" id="{22C96BD6-613E-48CB-875C-6E1913854FBE}"/>
              </a:ext>
            </a:extLst>
          </p:cNvPr>
          <p:cNvSpPr>
            <a:spLocks xmlns:a="http://schemas.openxmlformats.org/drawingml/2006/main" noGrp="1"/>
          </p:cNvSpPr>
          <p:nvPr/>
        </p:nvSpPr>
        <p:spPr>
          <a:xfrm xmlns:a="http://schemas.openxmlformats.org/drawingml/2006/main">
            <a:off x="6381750" y="3467100"/>
            <a:ext cx="266700" cy="2667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1FD2D0D-1811-46DB-B4D8-29BAF819D4C1}"/>
              </a:ext>
            </a:extLst>
          </p:cNvPr>
          <p:cNvSpPr>
            <a:spLocks xmlns:a="http://schemas.openxmlformats.org/drawingml/2006/main" noGrp="1"/>
          </p:cNvSpPr>
          <p:nvPr/>
        </p:nvSpPr>
        <p:spPr>
          <a:xfrm xmlns:a="http://schemas.openxmlformats.org/drawingml/2006/main">
            <a:off x="6438900" y="3543300"/>
            <a:ext cx="1714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675" b="1">
                <a:solidFill>
                  <a:srgbClr val="7354A4"/>
                </a:solidFill>
                <a:latin typeface="Avenir Next"/>
                <a:ea typeface="Avenir Next"/>
                <a:cs typeface="Avenir Next"/>
              </a:defRPr>
            </a:defPPr>
          </a:lstStyle>
          <a:p xmlns:a="http://schemas.openxmlformats.org/drawingml/2006/main">
            <a:pPr algn="l">
              <a:defRPr sz="675" b="1">
                <a:solidFill>
                  <a:srgbClr val="7354A4"/>
                </a:solidFill>
                <a:latin typeface="Avenir Next"/>
                <a:ea typeface="Avenir Next"/>
                <a:cs typeface="Avenir Next"/>
              </a:defRPr>
            </a:pPr>
            <a:r>
              <a:rPr sz="675" b="1">
                <a:solidFill>
                  <a:srgbClr val="7354A4"/>
                </a:solidFill>
                <a:latin typeface="Avenir Next"/>
                <a:ea typeface="Avenir Next"/>
                <a:cs typeface="Avenir Next"/>
              </a:rPr>
              <a:t>02</a:t>
            </a:r>
          </a:p>
        </p:txBody>
      </p:sp>
      <p:sp>
        <p:nvSpPr>
          <p:cNvPr id="24" name="">
            <a:extLst xmlns:a="http://schemas.openxmlformats.org/drawingml/2006/main">
              <a:ext uri="{FF2B5EF4-FFF2-40B4-BE49-F238E27FC236}">
                <a16:creationId xmlns:a16="http://schemas.microsoft.com/office/drawing/2014/main" id="{E7833303-6FEB-4721-BDAD-80B53FB06839}"/>
              </a:ext>
            </a:extLst>
          </p:cNvPr>
          <p:cNvSpPr>
            <a:spLocks xmlns:a="http://schemas.openxmlformats.org/drawingml/2006/main" noGrp="1"/>
          </p:cNvSpPr>
          <p:nvPr/>
        </p:nvSpPr>
        <p:spPr>
          <a:xfrm xmlns:a="http://schemas.openxmlformats.org/drawingml/2006/main">
            <a:off x="6800850" y="3448050"/>
            <a:ext cx="4438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0">
                <a:solidFill>
                  <a:srgbClr val="261A2C"/>
                </a:solidFill>
                <a:latin typeface="Avenir Next"/>
                <a:ea typeface="Avenir Next"/>
                <a:cs typeface="Avenir Next"/>
              </a:defRPr>
            </a:defPPr>
          </a:lstStyle>
          <a:p xmlns:a="http://schemas.openxmlformats.org/drawingml/2006/main">
            <a:pPr algn="l">
              <a:defRPr sz="1125" b="0">
                <a:solidFill>
                  <a:srgbClr val="261A2C"/>
                </a:solidFill>
                <a:latin typeface="Avenir Next"/>
                <a:ea typeface="Avenir Next"/>
                <a:cs typeface="Avenir Next"/>
              </a:defRPr>
            </a:pPr>
            <a:r>
              <a:rPr sz="1125" b="0">
                <a:solidFill>
                  <a:srgbClr val="261A2C"/>
                </a:solidFill>
                <a:latin typeface="Avenir Next"/>
                <a:ea typeface="Avenir Next"/>
                <a:cs typeface="Avenir Next"/>
              </a:rPr>
              <a:t>Lodging for speakers travelling from outside Ibadan</a:t>
            </a:r>
          </a:p>
        </p:txBody>
      </p:sp>
      <p:sp>
        <p:nvSpPr>
          <p:cNvPr id="25" name="support-icon-3">
            <a:extLst xmlns:a="http://schemas.openxmlformats.org/drawingml/2006/main">
              <a:ext uri="{FF2B5EF4-FFF2-40B4-BE49-F238E27FC236}">
                <a16:creationId xmlns:a16="http://schemas.microsoft.com/office/drawing/2014/main" id="{612AD308-3532-40E1-9D47-A0B9740DD065}"/>
              </a:ext>
            </a:extLst>
          </p:cNvPr>
          <p:cNvSpPr>
            <a:spLocks xmlns:a="http://schemas.openxmlformats.org/drawingml/2006/main" noGrp="1"/>
          </p:cNvSpPr>
          <p:nvPr/>
        </p:nvSpPr>
        <p:spPr>
          <a:xfrm xmlns:a="http://schemas.openxmlformats.org/drawingml/2006/main">
            <a:off x="6381750" y="3971925"/>
            <a:ext cx="266700" cy="2667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5D105EBF-A955-45C7-8FD1-0A6C9A299199}"/>
              </a:ext>
            </a:extLst>
          </p:cNvPr>
          <p:cNvSpPr>
            <a:spLocks xmlns:a="http://schemas.openxmlformats.org/drawingml/2006/main" noGrp="1"/>
          </p:cNvSpPr>
          <p:nvPr/>
        </p:nvSpPr>
        <p:spPr>
          <a:xfrm xmlns:a="http://schemas.openxmlformats.org/drawingml/2006/main">
            <a:off x="6438900" y="4048125"/>
            <a:ext cx="1714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675" b="1">
                <a:solidFill>
                  <a:srgbClr val="7354A4"/>
                </a:solidFill>
                <a:latin typeface="Avenir Next"/>
                <a:ea typeface="Avenir Next"/>
                <a:cs typeface="Avenir Next"/>
              </a:defRPr>
            </a:defPPr>
          </a:lstStyle>
          <a:p xmlns:a="http://schemas.openxmlformats.org/drawingml/2006/main">
            <a:pPr algn="l">
              <a:defRPr sz="675" b="1">
                <a:solidFill>
                  <a:srgbClr val="7354A4"/>
                </a:solidFill>
                <a:latin typeface="Avenir Next"/>
                <a:ea typeface="Avenir Next"/>
                <a:cs typeface="Avenir Next"/>
              </a:defRPr>
            </a:pPr>
            <a:r>
              <a:rPr sz="675" b="1">
                <a:solidFill>
                  <a:srgbClr val="7354A4"/>
                </a:solidFill>
                <a:latin typeface="Avenir Next"/>
                <a:ea typeface="Avenir Next"/>
                <a:cs typeface="Avenir Next"/>
              </a:rPr>
              <a:t>03</a:t>
            </a:r>
          </a:p>
        </p:txBody>
      </p:sp>
      <p:sp>
        <p:nvSpPr>
          <p:cNvPr id="27" name="">
            <a:extLst xmlns:a="http://schemas.openxmlformats.org/drawingml/2006/main">
              <a:ext uri="{FF2B5EF4-FFF2-40B4-BE49-F238E27FC236}">
                <a16:creationId xmlns:a16="http://schemas.microsoft.com/office/drawing/2014/main" id="{A75FE129-07FA-4145-BA4B-AD01445CB555}"/>
              </a:ext>
            </a:extLst>
          </p:cNvPr>
          <p:cNvSpPr>
            <a:spLocks xmlns:a="http://schemas.openxmlformats.org/drawingml/2006/main" noGrp="1"/>
          </p:cNvSpPr>
          <p:nvPr/>
        </p:nvSpPr>
        <p:spPr>
          <a:xfrm xmlns:a="http://schemas.openxmlformats.org/drawingml/2006/main">
            <a:off x="6800850" y="3952875"/>
            <a:ext cx="4438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0">
                <a:solidFill>
                  <a:srgbClr val="261A2C"/>
                </a:solidFill>
                <a:latin typeface="Avenir Next"/>
                <a:ea typeface="Avenir Next"/>
                <a:cs typeface="Avenir Next"/>
              </a:defRPr>
            </a:defPPr>
          </a:lstStyle>
          <a:p xmlns:a="http://schemas.openxmlformats.org/drawingml/2006/main">
            <a:pPr algn="l">
              <a:defRPr sz="1125" b="0">
                <a:solidFill>
                  <a:srgbClr val="261A2C"/>
                </a:solidFill>
                <a:latin typeface="Avenir Next"/>
                <a:ea typeface="Avenir Next"/>
                <a:cs typeface="Avenir Next"/>
              </a:defRPr>
            </a:pPr>
            <a:r>
              <a:rPr sz="1125" b="0">
                <a:solidFill>
                  <a:srgbClr val="261A2C"/>
                </a:solidFill>
                <a:latin typeface="Avenir Next"/>
                <a:ea typeface="Avenir Next"/>
                <a:cs typeface="Avenir Next"/>
              </a:rPr>
              <a:t>Reserved seat, meals and refreshments</a:t>
            </a:r>
          </a:p>
        </p:txBody>
      </p:sp>
      <p:sp>
        <p:nvSpPr>
          <p:cNvPr id="28" name="support-icon-4">
            <a:extLst xmlns:a="http://schemas.openxmlformats.org/drawingml/2006/main">
              <a:ext uri="{FF2B5EF4-FFF2-40B4-BE49-F238E27FC236}">
                <a16:creationId xmlns:a16="http://schemas.microsoft.com/office/drawing/2014/main" id="{1F5A75F5-EC18-466F-B00A-2E9FCF8654A3}"/>
              </a:ext>
            </a:extLst>
          </p:cNvPr>
          <p:cNvSpPr>
            <a:spLocks xmlns:a="http://schemas.openxmlformats.org/drawingml/2006/main" noGrp="1"/>
          </p:cNvSpPr>
          <p:nvPr/>
        </p:nvSpPr>
        <p:spPr>
          <a:xfrm xmlns:a="http://schemas.openxmlformats.org/drawingml/2006/main">
            <a:off x="6381750" y="4476750"/>
            <a:ext cx="266700" cy="266700"/>
          </a:xfrm>
          <a:prstGeom xmlns:a="http://schemas.openxmlformats.org/drawingml/2006/main" prst="roundRect">
            <a:avLst>
              <a:gd name="adj" fmla="val 28571"/>
            </a:avLst>
          </a:prstGeom>
          <a:solidFill xmlns:a="http://schemas.openxmlformats.org/drawingml/2006/main">
            <a:srgbClr val="FFFFFF"/>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B705F9AC-561F-4999-B225-9625793A8E25}"/>
              </a:ext>
            </a:extLst>
          </p:cNvPr>
          <p:cNvSpPr>
            <a:spLocks xmlns:a="http://schemas.openxmlformats.org/drawingml/2006/main" noGrp="1"/>
          </p:cNvSpPr>
          <p:nvPr/>
        </p:nvSpPr>
        <p:spPr>
          <a:xfrm xmlns:a="http://schemas.openxmlformats.org/drawingml/2006/main">
            <a:off x="6438900" y="4552950"/>
            <a:ext cx="1714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675" b="1">
                <a:solidFill>
                  <a:srgbClr val="7354A4"/>
                </a:solidFill>
                <a:latin typeface="Avenir Next"/>
                <a:ea typeface="Avenir Next"/>
                <a:cs typeface="Avenir Next"/>
              </a:defRPr>
            </a:defPPr>
          </a:lstStyle>
          <a:p xmlns:a="http://schemas.openxmlformats.org/drawingml/2006/main">
            <a:pPr algn="l">
              <a:defRPr sz="675" b="1">
                <a:solidFill>
                  <a:srgbClr val="7354A4"/>
                </a:solidFill>
                <a:latin typeface="Avenir Next"/>
                <a:ea typeface="Avenir Next"/>
                <a:cs typeface="Avenir Next"/>
              </a:defRPr>
            </a:pPr>
            <a:r>
              <a:rPr sz="675" b="1">
                <a:solidFill>
                  <a:srgbClr val="7354A4"/>
                </a:solidFill>
                <a:latin typeface="Avenir Next"/>
                <a:ea typeface="Avenir Next"/>
                <a:cs typeface="Avenir Next"/>
              </a:rPr>
              <a:t>04</a:t>
            </a:r>
          </a:p>
        </p:txBody>
      </p:sp>
      <p:sp>
        <p:nvSpPr>
          <p:cNvPr id="30" name="">
            <a:extLst xmlns:a="http://schemas.openxmlformats.org/drawingml/2006/main">
              <a:ext uri="{FF2B5EF4-FFF2-40B4-BE49-F238E27FC236}">
                <a16:creationId xmlns:a16="http://schemas.microsoft.com/office/drawing/2014/main" id="{5C58FE14-BCAF-41C4-8B73-E7382DB2E2BD}"/>
              </a:ext>
            </a:extLst>
          </p:cNvPr>
          <p:cNvSpPr>
            <a:spLocks xmlns:a="http://schemas.openxmlformats.org/drawingml/2006/main" noGrp="1"/>
          </p:cNvSpPr>
          <p:nvPr/>
        </p:nvSpPr>
        <p:spPr>
          <a:xfrm xmlns:a="http://schemas.openxmlformats.org/drawingml/2006/main">
            <a:off x="6800850" y="4457700"/>
            <a:ext cx="4438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0">
                <a:solidFill>
                  <a:srgbClr val="261A2C"/>
                </a:solidFill>
                <a:latin typeface="Avenir Next"/>
                <a:ea typeface="Avenir Next"/>
                <a:cs typeface="Avenir Next"/>
              </a:defRPr>
            </a:defPPr>
          </a:lstStyle>
          <a:p xmlns:a="http://schemas.openxmlformats.org/drawingml/2006/main">
            <a:pPr algn="l">
              <a:defRPr sz="1125" b="0">
                <a:solidFill>
                  <a:srgbClr val="261A2C"/>
                </a:solidFill>
                <a:latin typeface="Avenir Next"/>
                <a:ea typeface="Avenir Next"/>
                <a:cs typeface="Avenir Next"/>
              </a:defRPr>
            </a:pPr>
            <a:r>
              <a:rPr sz="1125" b="0">
                <a:solidFill>
                  <a:srgbClr val="261A2C"/>
                </a:solidFill>
                <a:latin typeface="Avenir Next"/>
                <a:ea typeface="Avenir Next"/>
                <a:cs typeface="Avenir Next"/>
              </a:rPr>
              <a:t>Professional photos/video and speaker spotlight</a:t>
            </a:r>
          </a:p>
        </p:txBody>
      </p:sp>
      <p:sp>
        <p:nvSpPr>
          <p:cNvPr id="31" name="support-icon-5">
            <a:extLst xmlns:a="http://schemas.openxmlformats.org/drawingml/2006/main">
              <a:ext uri="{FF2B5EF4-FFF2-40B4-BE49-F238E27FC236}">
                <a16:creationId xmlns:a16="http://schemas.microsoft.com/office/drawing/2014/main" id="{4ECC3D22-BA4A-4383-8F79-CA744AAAC50C}"/>
              </a:ext>
            </a:extLst>
          </p:cNvPr>
          <p:cNvSpPr>
            <a:spLocks xmlns:a="http://schemas.openxmlformats.org/drawingml/2006/main" noGrp="1"/>
          </p:cNvSpPr>
          <p:nvPr/>
        </p:nvSpPr>
        <p:spPr>
          <a:xfrm xmlns:a="http://schemas.openxmlformats.org/drawingml/2006/main">
            <a:off x="6381750" y="4981575"/>
            <a:ext cx="266700" cy="266700"/>
          </a:xfrm>
          <a:prstGeom xmlns:a="http://schemas.openxmlformats.org/drawingml/2006/main" prst="roundRect">
            <a:avLst>
              <a:gd name="adj" fmla="val 28571"/>
            </a:avLst>
          </a:prstGeom>
          <a:solidFill xmlns:a="http://schemas.openxmlformats.org/drawingml/2006/main">
            <a:srgbClr val="DDF3E9"/>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5699EFE3-D2F8-42A5-9AEA-D641CBF23E2F}"/>
              </a:ext>
            </a:extLst>
          </p:cNvPr>
          <p:cNvSpPr>
            <a:spLocks xmlns:a="http://schemas.openxmlformats.org/drawingml/2006/main" noGrp="1"/>
          </p:cNvSpPr>
          <p:nvPr/>
        </p:nvSpPr>
        <p:spPr>
          <a:xfrm xmlns:a="http://schemas.openxmlformats.org/drawingml/2006/main">
            <a:off x="6438900" y="5057775"/>
            <a:ext cx="171450" cy="142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675" b="1">
                <a:solidFill>
                  <a:srgbClr val="7354A4"/>
                </a:solidFill>
                <a:latin typeface="Avenir Next"/>
                <a:ea typeface="Avenir Next"/>
                <a:cs typeface="Avenir Next"/>
              </a:defRPr>
            </a:defPPr>
          </a:lstStyle>
          <a:p xmlns:a="http://schemas.openxmlformats.org/drawingml/2006/main">
            <a:pPr algn="l">
              <a:defRPr sz="675" b="1">
                <a:solidFill>
                  <a:srgbClr val="7354A4"/>
                </a:solidFill>
                <a:latin typeface="Avenir Next"/>
                <a:ea typeface="Avenir Next"/>
                <a:cs typeface="Avenir Next"/>
              </a:defRPr>
            </a:pPr>
            <a:r>
              <a:rPr sz="675" b="1">
                <a:solidFill>
                  <a:srgbClr val="7354A4"/>
                </a:solidFill>
                <a:latin typeface="Avenir Next"/>
                <a:ea typeface="Avenir Next"/>
                <a:cs typeface="Avenir Next"/>
              </a:rPr>
              <a:t>05</a:t>
            </a:r>
          </a:p>
        </p:txBody>
      </p:sp>
      <p:sp>
        <p:nvSpPr>
          <p:cNvPr id="33" name="">
            <a:extLst xmlns:a="http://schemas.openxmlformats.org/drawingml/2006/main">
              <a:ext uri="{FF2B5EF4-FFF2-40B4-BE49-F238E27FC236}">
                <a16:creationId xmlns:a16="http://schemas.microsoft.com/office/drawing/2014/main" id="{697C79AD-6AE8-46D0-AB08-28D20CCBCEB8}"/>
              </a:ext>
            </a:extLst>
          </p:cNvPr>
          <p:cNvSpPr>
            <a:spLocks xmlns:a="http://schemas.openxmlformats.org/drawingml/2006/main" noGrp="1"/>
          </p:cNvSpPr>
          <p:nvPr/>
        </p:nvSpPr>
        <p:spPr>
          <a:xfrm xmlns:a="http://schemas.openxmlformats.org/drawingml/2006/main">
            <a:off x="6800850" y="4962525"/>
            <a:ext cx="44386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0">
                <a:solidFill>
                  <a:srgbClr val="261A2C"/>
                </a:solidFill>
                <a:latin typeface="Avenir Next"/>
                <a:ea typeface="Avenir Next"/>
                <a:cs typeface="Avenir Next"/>
              </a:defRPr>
            </a:defPPr>
          </a:lstStyle>
          <a:p xmlns:a="http://schemas.openxmlformats.org/drawingml/2006/main">
            <a:pPr algn="l">
              <a:defRPr sz="1125" b="0">
                <a:solidFill>
                  <a:srgbClr val="261A2C"/>
                </a:solidFill>
                <a:latin typeface="Avenir Next"/>
                <a:ea typeface="Avenir Next"/>
                <a:cs typeface="Avenir Next"/>
              </a:defRPr>
            </a:pPr>
            <a:r>
              <a:rPr sz="1125" b="0">
                <a:solidFill>
                  <a:srgbClr val="261A2C"/>
                </a:solidFill>
                <a:latin typeface="Avenir Next"/>
                <a:ea typeface="Avenir Next"/>
                <a:cs typeface="Avenir Next"/>
              </a:rPr>
              <a:t>Clear brief and a 30-minute prep call</a:t>
            </a:r>
          </a:p>
        </p:txBody>
      </p:sp>
    </p:spTree>
    <p:extLst>
      <p:ext uri="{BB962C8B-B14F-4D97-AF65-F5344CB8AC3E}">
        <p14:creationId xmlns:p14="http://schemas.microsoft.com/office/powerpoint/2010/main" val="522691313"/>
      </p:ext>
    </p:extLst>
  </p:cSld>
</p:sld>
</file>

<file path=ppt/slides/slide8.xml><?xml version="1.0" encoding="utf-8"?>
<p:sld xmlns:p="http://schemas.openxmlformats.org/presentationml/2006/main">
  <p:cSld>
    <p:bg>
      <p:bgPr>
        <a:solidFill xmlns:a="http://schemas.openxmlformats.org/drawingml/2006/main">
          <a:srgbClr val="FAF8FC"/>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B134E7AD-4363-45C2-B974-3500271623F1}"/>
              </a:ext>
            </a:extLst>
          </p:cNvPr>
          <p:cNvSpPr>
            <a:spLocks xmlns:a="http://schemas.openxmlformats.org/drawingml/2006/main" noGrp="1"/>
          </p:cNvSpPr>
          <p:nvPr/>
        </p:nvSpPr>
        <p:spPr>
          <a:xfrm xmlns:a="http://schemas.openxmlformats.org/drawingml/2006/main">
            <a:off x="609600" y="457200"/>
            <a:ext cx="6667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7354A4"/>
                </a:solidFill>
                <a:latin typeface="Avenir Next"/>
                <a:ea typeface="Avenir Next"/>
                <a:cs typeface="Avenir Next"/>
              </a:defRPr>
            </a:defPPr>
          </a:lstStyle>
          <a:p xmlns:a="http://schemas.openxmlformats.org/drawingml/2006/main">
            <a:pPr algn="l">
              <a:defRPr sz="900" b="1">
                <a:solidFill>
                  <a:srgbClr val="7354A4"/>
                </a:solidFill>
                <a:latin typeface="Avenir Next"/>
                <a:ea typeface="Avenir Next"/>
                <a:cs typeface="Avenir Next"/>
              </a:defRPr>
            </a:pPr>
            <a:r>
              <a:rPr sz="900" b="1">
                <a:solidFill>
                  <a:srgbClr val="7354A4"/>
                </a:solidFill>
                <a:latin typeface="Avenir Next"/>
                <a:ea typeface="Avenir Next"/>
                <a:cs typeface="Avenir Next"/>
              </a:rPr>
              <a:t>THE PATH TO THE DAY</a:t>
            </a:r>
          </a:p>
        </p:txBody>
      </p:sp>
      <p:sp>
        <p:nvSpPr>
          <p:cNvPr id="2" name="">
            <a:extLst xmlns:a="http://schemas.openxmlformats.org/drawingml/2006/main">
              <a:ext uri="{FF2B5EF4-FFF2-40B4-BE49-F238E27FC236}">
                <a16:creationId xmlns:a16="http://schemas.microsoft.com/office/drawing/2014/main" id="{57B610C5-8527-4CE9-A93C-5D37F9F157C9}"/>
              </a:ext>
            </a:extLst>
          </p:cNvPr>
          <p:cNvSpPr>
            <a:spLocks xmlns:a="http://schemas.openxmlformats.org/drawingml/2006/main" noGrp="1"/>
          </p:cNvSpPr>
          <p:nvPr/>
        </p:nvSpPr>
        <p:spPr>
          <a:xfrm xmlns:a="http://schemas.openxmlformats.org/drawingml/2006/main">
            <a:off x="609600" y="809625"/>
            <a:ext cx="10858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150" b="1">
                <a:solidFill>
                  <a:srgbClr val="261A2C"/>
                </a:solidFill>
                <a:latin typeface="Avenir Next"/>
                <a:ea typeface="Avenir Next"/>
                <a:cs typeface="Avenir Next"/>
              </a:defRPr>
            </a:defPPr>
          </a:lstStyle>
          <a:p xmlns:a="http://schemas.openxmlformats.org/drawingml/2006/main">
            <a:pPr algn="l">
              <a:defRPr sz="3150" b="1">
                <a:solidFill>
                  <a:srgbClr val="261A2C"/>
                </a:solidFill>
                <a:latin typeface="Avenir Next"/>
                <a:ea typeface="Avenir Next"/>
                <a:cs typeface="Avenir Next"/>
              </a:defRPr>
            </a:pPr>
            <a:r>
              <a:rPr sz="3150" b="1">
                <a:solidFill>
                  <a:srgbClr val="261A2C"/>
                </a:solidFill>
                <a:latin typeface="Avenir Next"/>
                <a:ea typeface="Avenir Next"/>
                <a:cs typeface="Avenir Next"/>
              </a:rPr>
              <a:t>A clear timeline, from invitation to clips.</a:t>
            </a:r>
          </a:p>
        </p:txBody>
      </p:sp>
      <p:sp>
        <p:nvSpPr>
          <p:cNvPr id="3" name="">
            <a:extLst xmlns:a="http://schemas.openxmlformats.org/drawingml/2006/main">
              <a:ext uri="{FF2B5EF4-FFF2-40B4-BE49-F238E27FC236}">
                <a16:creationId xmlns:a16="http://schemas.microsoft.com/office/drawing/2014/main" id="{3C098755-6104-465F-A3FA-B68C5BD494FE}"/>
              </a:ext>
            </a:extLst>
          </p:cNvPr>
          <p:cNvSpPr>
            <a:spLocks xmlns:a="http://schemas.openxmlformats.org/drawingml/2006/main" noGrp="1"/>
          </p:cNvSpPr>
          <p:nvPr/>
        </p:nvSpPr>
        <p:spPr>
          <a:xfrm xmlns:a="http://schemas.openxmlformats.org/drawingml/2006/main">
            <a:off x="628650" y="1524000"/>
            <a:ext cx="10287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425" b="0">
                <a:solidFill>
                  <a:srgbClr val="746B79"/>
                </a:solidFill>
                <a:latin typeface="Avenir Next"/>
                <a:ea typeface="Avenir Next"/>
                <a:cs typeface="Avenir Next"/>
              </a:defRPr>
            </a:defPPr>
          </a:lstStyle>
          <a:p xmlns:a="http://schemas.openxmlformats.org/drawingml/2006/main">
            <a:pPr algn="l">
              <a:defRPr sz="1425" b="0">
                <a:solidFill>
                  <a:srgbClr val="746B79"/>
                </a:solidFill>
                <a:latin typeface="Avenir Next"/>
                <a:ea typeface="Avenir Next"/>
                <a:cs typeface="Avenir Next"/>
              </a:defRPr>
            </a:pPr>
            <a:r>
              <a:rPr sz="1425" b="0">
                <a:solidFill>
                  <a:srgbClr val="746B79"/>
                </a:solidFill>
                <a:latin typeface="Avenir Next"/>
                <a:ea typeface="Avenir Next"/>
                <a:cs typeface="Avenir Next"/>
              </a:rPr>
              <a:t>The team will help you prepare well ahead of the event.</a:t>
            </a:r>
          </a:p>
        </p:txBody>
      </p:sp>
      <p:sp>
        <p:nvSpPr>
          <p:cNvPr id="4" name="footer-rule-8">
            <a:extLst xmlns:a="http://schemas.openxmlformats.org/drawingml/2006/main">
              <a:ext uri="{FF2B5EF4-FFF2-40B4-BE49-F238E27FC236}">
                <a16:creationId xmlns:a16="http://schemas.microsoft.com/office/drawing/2014/main" id="{B4FB7C0B-1ECA-41BE-B505-7303F537036C}"/>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E7E0EC"/>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6131BBD-E5BA-46B4-BF7D-563DA7330101}"/>
              </a:ext>
            </a:extLst>
          </p:cNvPr>
          <p:cNvSpPr>
            <a:spLocks xmlns:a="http://schemas.openxmlformats.org/drawingml/2006/main" noGrp="1"/>
          </p:cNvSpPr>
          <p:nvPr/>
        </p:nvSpPr>
        <p:spPr>
          <a:xfrm xmlns:a="http://schemas.openxmlformats.org/drawingml/2006/main">
            <a:off x="609600" y="6553200"/>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1">
                <a:solidFill>
                  <a:srgbClr val="746B79"/>
                </a:solidFill>
                <a:latin typeface="Avenir Next"/>
                <a:ea typeface="Avenir Next"/>
                <a:cs typeface="Avenir Next"/>
              </a:defRPr>
            </a:defPPr>
          </a:lstStyle>
          <a:p xmlns:a="http://schemas.openxmlformats.org/drawingml/2006/main">
            <a:pPr algn="l">
              <a:defRPr sz="825" b="1">
                <a:solidFill>
                  <a:srgbClr val="746B79"/>
                </a:solidFill>
                <a:latin typeface="Avenir Next"/>
                <a:ea typeface="Avenir Next"/>
                <a:cs typeface="Avenir Next"/>
              </a:defRPr>
            </a:pPr>
            <a:r>
              <a:rPr sz="825" b="1">
                <a:solidFill>
                  <a:srgbClr val="746B79"/>
                </a:solidFill>
                <a:latin typeface="Avenir Next"/>
                <a:ea typeface="Avenir Next"/>
                <a:cs typeface="Avenir Next"/>
              </a:rPr>
              <a:t>BEYOND CODE 2027  /  SPEAKER INVITATION</a:t>
            </a:r>
          </a:p>
        </p:txBody>
      </p:sp>
      <p:sp>
        <p:nvSpPr>
          <p:cNvPr id="6" name="">
            <a:extLst xmlns:a="http://schemas.openxmlformats.org/drawingml/2006/main">
              <a:ext uri="{FF2B5EF4-FFF2-40B4-BE49-F238E27FC236}">
                <a16:creationId xmlns:a16="http://schemas.microsoft.com/office/drawing/2014/main" id="{4C28467B-A873-47F8-94D8-6068CC57731F}"/>
              </a:ext>
            </a:extLst>
          </p:cNvPr>
          <p:cNvSpPr>
            <a:spLocks xmlns:a="http://schemas.openxmlformats.org/drawingml/2006/main" noGrp="1"/>
          </p:cNvSpPr>
          <p:nvPr/>
        </p:nvSpPr>
        <p:spPr>
          <a:xfrm xmlns:a="http://schemas.openxmlformats.org/drawingml/2006/main">
            <a:off x="10572750" y="6543675"/>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1">
                <a:solidFill>
                  <a:srgbClr val="746B79"/>
                </a:solidFill>
                <a:latin typeface="Avenir Next"/>
                <a:ea typeface="Avenir Next"/>
                <a:cs typeface="Avenir Next"/>
              </a:defRPr>
            </a:defPPr>
          </a:lstStyle>
          <a:p xmlns:a="http://schemas.openxmlformats.org/drawingml/2006/main">
            <a:pPr algn="r">
              <a:defRPr sz="900" b="1">
                <a:solidFill>
                  <a:srgbClr val="746B79"/>
                </a:solidFill>
                <a:latin typeface="Avenir Next"/>
                <a:ea typeface="Avenir Next"/>
                <a:cs typeface="Avenir Next"/>
              </a:defRPr>
            </a:pPr>
            <a:r>
              <a:rPr sz="900" b="1">
                <a:solidFill>
                  <a:srgbClr val="746B79"/>
                </a:solidFill>
                <a:latin typeface="Avenir Next"/>
                <a:ea typeface="Avenir Next"/>
                <a:cs typeface="Avenir Next"/>
              </a:rPr>
              <a:t>08  /  09</a:t>
            </a:r>
          </a:p>
        </p:txBody>
      </p:sp>
      <p:sp>
        <p:nvSpPr>
          <p:cNvPr id="7" name="timeline-step-1">
            <a:extLst xmlns:a="http://schemas.openxmlformats.org/drawingml/2006/main">
              <a:ext uri="{FF2B5EF4-FFF2-40B4-BE49-F238E27FC236}">
                <a16:creationId xmlns:a16="http://schemas.microsoft.com/office/drawing/2014/main" id="{F554121D-93E6-48B3-B087-5241941848F6}"/>
              </a:ext>
            </a:extLst>
          </p:cNvPr>
          <p:cNvSpPr>
            <a:spLocks xmlns:a="http://schemas.openxmlformats.org/drawingml/2006/main" noGrp="1"/>
          </p:cNvSpPr>
          <p:nvPr/>
        </p:nvSpPr>
        <p:spPr>
          <a:xfrm xmlns:a="http://schemas.openxmlformats.org/drawingml/2006/main">
            <a:off x="609600" y="2381250"/>
            <a:ext cx="2476500" cy="1304925"/>
          </a:xfrm>
          <a:prstGeom xmlns:a="http://schemas.openxmlformats.org/drawingml/2006/main" prst="roundRect">
            <a:avLst>
              <a:gd name="adj" fmla="val 11679"/>
            </a:avLst>
          </a:prstGeom>
          <a:solidFill xmlns:a="http://schemas.openxmlformats.org/drawingml/2006/main">
            <a:srgbClr val="FFFFFF"/>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FDB04C9-E50C-4B58-92CE-F2F41EB53135}"/>
              </a:ext>
            </a:extLst>
          </p:cNvPr>
          <p:cNvSpPr>
            <a:spLocks xmlns:a="http://schemas.openxmlformats.org/drawingml/2006/main" noGrp="1"/>
          </p:cNvSpPr>
          <p:nvPr/>
        </p:nvSpPr>
        <p:spPr>
          <a:xfrm xmlns:a="http://schemas.openxmlformats.org/drawingml/2006/main">
            <a:off x="800100" y="255270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1">
                <a:solidFill>
                  <a:srgbClr val="7354A4"/>
                </a:solidFill>
                <a:latin typeface="Avenir Next"/>
                <a:ea typeface="Avenir Next"/>
                <a:cs typeface="Avenir Next"/>
              </a:defRPr>
            </a:defPPr>
          </a:lstStyle>
          <a:p xmlns:a="http://schemas.openxmlformats.org/drawingml/2006/main">
            <a:pPr algn="l">
              <a:defRPr sz="825" b="1">
                <a:solidFill>
                  <a:srgbClr val="7354A4"/>
                </a:solidFill>
                <a:latin typeface="Avenir Next"/>
                <a:ea typeface="Avenir Next"/>
                <a:cs typeface="Avenir Next"/>
              </a:defRPr>
            </a:pPr>
            <a:r>
              <a:rPr sz="825" b="1">
                <a:solidFill>
                  <a:srgbClr val="7354A4"/>
                </a:solidFill>
                <a:latin typeface="Avenir Next"/>
                <a:ea typeface="Avenir Next"/>
                <a:cs typeface="Avenir Next"/>
              </a:rPr>
              <a:t>NOV–DEC 2026</a:t>
            </a:r>
          </a:p>
        </p:txBody>
      </p:sp>
      <p:sp>
        <p:nvSpPr>
          <p:cNvPr id="9" name="">
            <a:extLst xmlns:a="http://schemas.openxmlformats.org/drawingml/2006/main">
              <a:ext uri="{FF2B5EF4-FFF2-40B4-BE49-F238E27FC236}">
                <a16:creationId xmlns:a16="http://schemas.microsoft.com/office/drawing/2014/main" id="{CB2DC7B4-E019-4B3D-B627-ADFA98A3EDFA}"/>
              </a:ext>
            </a:extLst>
          </p:cNvPr>
          <p:cNvSpPr>
            <a:spLocks xmlns:a="http://schemas.openxmlformats.org/drawingml/2006/main" noGrp="1"/>
          </p:cNvSpPr>
          <p:nvPr/>
        </p:nvSpPr>
        <p:spPr>
          <a:xfrm xmlns:a="http://schemas.openxmlformats.org/drawingml/2006/main">
            <a:off x="800100" y="284797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1">
                <a:solidFill>
                  <a:srgbClr val="261A2C"/>
                </a:solidFill>
                <a:latin typeface="Avenir Next"/>
                <a:ea typeface="Avenir Next"/>
                <a:cs typeface="Avenir Next"/>
              </a:defRPr>
            </a:defPPr>
          </a:lstStyle>
          <a:p xmlns:a="http://schemas.openxmlformats.org/drawingml/2006/main">
            <a:pPr algn="l">
              <a:defRPr sz="1500" b="1">
                <a:solidFill>
                  <a:srgbClr val="261A2C"/>
                </a:solidFill>
                <a:latin typeface="Avenir Next"/>
                <a:ea typeface="Avenir Next"/>
                <a:cs typeface="Avenir Next"/>
              </a:defRPr>
            </a:pPr>
            <a:r>
              <a:rPr sz="1500" b="1">
                <a:solidFill>
                  <a:srgbClr val="261A2C"/>
                </a:solidFill>
                <a:latin typeface="Avenir Next"/>
                <a:ea typeface="Avenir Next"/>
                <a:cs typeface="Avenir Next"/>
              </a:rPr>
              <a:t>Invitations</a:t>
            </a:r>
          </a:p>
        </p:txBody>
      </p:sp>
      <p:sp>
        <p:nvSpPr>
          <p:cNvPr id="10" name="">
            <a:extLst xmlns:a="http://schemas.openxmlformats.org/drawingml/2006/main">
              <a:ext uri="{FF2B5EF4-FFF2-40B4-BE49-F238E27FC236}">
                <a16:creationId xmlns:a16="http://schemas.microsoft.com/office/drawing/2014/main" id="{D17608D1-3A91-46B4-B58C-7B1241A6976C}"/>
              </a:ext>
            </a:extLst>
          </p:cNvPr>
          <p:cNvSpPr>
            <a:spLocks xmlns:a="http://schemas.openxmlformats.org/drawingml/2006/main" noGrp="1"/>
          </p:cNvSpPr>
          <p:nvPr/>
        </p:nvSpPr>
        <p:spPr>
          <a:xfrm xmlns:a="http://schemas.openxmlformats.org/drawingml/2006/main">
            <a:off x="800100" y="32194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0">
                <a:solidFill>
                  <a:srgbClr val="746B79"/>
                </a:solidFill>
                <a:latin typeface="Avenir Next"/>
                <a:ea typeface="Avenir Next"/>
                <a:cs typeface="Avenir Next"/>
              </a:defRPr>
            </a:defPPr>
          </a:lstStyle>
          <a:p xmlns:a="http://schemas.openxmlformats.org/drawingml/2006/main">
            <a:pPr algn="l">
              <a:defRPr sz="975" b="0">
                <a:solidFill>
                  <a:srgbClr val="746B79"/>
                </a:solidFill>
                <a:latin typeface="Avenir Next"/>
                <a:ea typeface="Avenir Next"/>
                <a:cs typeface="Avenir Next"/>
              </a:defRPr>
            </a:pPr>
            <a:r>
              <a:rPr sz="975" b="0">
                <a:solidFill>
                  <a:srgbClr val="746B79"/>
                </a:solidFill>
                <a:latin typeface="Avenir Next"/>
                <a:ea typeface="Avenir Next"/>
                <a:cs typeface="Avenir Next"/>
              </a:rPr>
              <a:t>Speaker invitations sent</a:t>
            </a:r>
          </a:p>
        </p:txBody>
      </p:sp>
      <p:sp>
        <p:nvSpPr>
          <p:cNvPr id="11" name="timeline-node-1">
            <a:extLst xmlns:a="http://schemas.openxmlformats.org/drawingml/2006/main">
              <a:ext uri="{FF2B5EF4-FFF2-40B4-BE49-F238E27FC236}">
                <a16:creationId xmlns:a16="http://schemas.microsoft.com/office/drawing/2014/main" id="{2BBA128C-48B0-499F-A81C-1C1BFF4F1B18}"/>
              </a:ext>
            </a:extLst>
          </p:cNvPr>
          <p:cNvSpPr>
            <a:spLocks xmlns:a="http://schemas.openxmlformats.org/drawingml/2006/main" noGrp="1"/>
          </p:cNvSpPr>
          <p:nvPr/>
        </p:nvSpPr>
        <p:spPr>
          <a:xfrm xmlns:a="http://schemas.openxmlformats.org/drawingml/2006/main">
            <a:off x="800100" y="2286000"/>
            <a:ext cx="85725" cy="85725"/>
          </a:xfrm>
          <a:prstGeom xmlns:a="http://schemas.openxmlformats.org/drawingml/2006/main" prst="ellipse">
            <a:avLst/>
          </a:prstGeom>
          <a:solidFill xmlns:a="http://schemas.openxmlformats.org/drawingml/2006/main">
            <a:srgbClr val="9B7AC7"/>
          </a:solidFill>
          <a:ln xmlns:a="http://schemas.openxmlformats.org/drawingml/2006/main" w="0">
            <a:noFill/>
            <a:prstDash val="solid"/>
          </a:ln>
        </p:spPr>
      </p:sp>
      <p:sp>
        <p:nvSpPr>
          <p:cNvPr id="12" name="timeline-step-2">
            <a:extLst xmlns:a="http://schemas.openxmlformats.org/drawingml/2006/main">
              <a:ext uri="{FF2B5EF4-FFF2-40B4-BE49-F238E27FC236}">
                <a16:creationId xmlns:a16="http://schemas.microsoft.com/office/drawing/2014/main" id="{309D0DF2-CB05-498A-BEA4-C15085EA49B5}"/>
              </a:ext>
            </a:extLst>
          </p:cNvPr>
          <p:cNvSpPr>
            <a:spLocks xmlns:a="http://schemas.openxmlformats.org/drawingml/2006/main" noGrp="1"/>
          </p:cNvSpPr>
          <p:nvPr/>
        </p:nvSpPr>
        <p:spPr>
          <a:xfrm xmlns:a="http://schemas.openxmlformats.org/drawingml/2006/main">
            <a:off x="3371850" y="2381250"/>
            <a:ext cx="2476500" cy="1304925"/>
          </a:xfrm>
          <a:prstGeom xmlns:a="http://schemas.openxmlformats.org/drawingml/2006/main" prst="roundRect">
            <a:avLst>
              <a:gd name="adj" fmla="val 11679"/>
            </a:avLst>
          </a:prstGeom>
          <a:solidFill xmlns:a="http://schemas.openxmlformats.org/drawingml/2006/main">
            <a:srgbClr val="FFFF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6450FCEE-2AAD-47AE-B4F0-581D79626725}"/>
              </a:ext>
            </a:extLst>
          </p:cNvPr>
          <p:cNvSpPr>
            <a:spLocks xmlns:a="http://schemas.openxmlformats.org/drawingml/2006/main" noGrp="1"/>
          </p:cNvSpPr>
          <p:nvPr/>
        </p:nvSpPr>
        <p:spPr>
          <a:xfrm xmlns:a="http://schemas.openxmlformats.org/drawingml/2006/main">
            <a:off x="3562350" y="255270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1">
                <a:solidFill>
                  <a:srgbClr val="7354A4"/>
                </a:solidFill>
                <a:latin typeface="Avenir Next"/>
                <a:ea typeface="Avenir Next"/>
                <a:cs typeface="Avenir Next"/>
              </a:defRPr>
            </a:defPPr>
          </a:lstStyle>
          <a:p xmlns:a="http://schemas.openxmlformats.org/drawingml/2006/main">
            <a:pPr algn="l">
              <a:defRPr sz="825" b="1">
                <a:solidFill>
                  <a:srgbClr val="7354A4"/>
                </a:solidFill>
                <a:latin typeface="Avenir Next"/>
                <a:ea typeface="Avenir Next"/>
                <a:cs typeface="Avenir Next"/>
              </a:defRPr>
            </a:pPr>
            <a:r>
              <a:rPr sz="825" b="1">
                <a:solidFill>
                  <a:srgbClr val="7354A4"/>
                </a:solidFill>
                <a:latin typeface="Avenir Next"/>
                <a:ea typeface="Avenir Next"/>
                <a:cs typeface="Avenir Next"/>
              </a:rPr>
              <a:t>15 JAN 2027</a:t>
            </a:r>
          </a:p>
        </p:txBody>
      </p:sp>
      <p:sp>
        <p:nvSpPr>
          <p:cNvPr id="14" name="">
            <a:extLst xmlns:a="http://schemas.openxmlformats.org/drawingml/2006/main">
              <a:ext uri="{FF2B5EF4-FFF2-40B4-BE49-F238E27FC236}">
                <a16:creationId xmlns:a16="http://schemas.microsoft.com/office/drawing/2014/main" id="{EA0CCEBF-3A78-47CB-8846-EE8EB1FCC3C5}"/>
              </a:ext>
            </a:extLst>
          </p:cNvPr>
          <p:cNvSpPr>
            <a:spLocks xmlns:a="http://schemas.openxmlformats.org/drawingml/2006/main" noGrp="1"/>
          </p:cNvSpPr>
          <p:nvPr/>
        </p:nvSpPr>
        <p:spPr>
          <a:xfrm xmlns:a="http://schemas.openxmlformats.org/drawingml/2006/main">
            <a:off x="3562350" y="284797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1">
                <a:solidFill>
                  <a:srgbClr val="261A2C"/>
                </a:solidFill>
                <a:latin typeface="Avenir Next"/>
                <a:ea typeface="Avenir Next"/>
                <a:cs typeface="Avenir Next"/>
              </a:defRPr>
            </a:defPPr>
          </a:lstStyle>
          <a:p xmlns:a="http://schemas.openxmlformats.org/drawingml/2006/main">
            <a:pPr algn="l">
              <a:defRPr sz="1500" b="1">
                <a:solidFill>
                  <a:srgbClr val="261A2C"/>
                </a:solidFill>
                <a:latin typeface="Avenir Next"/>
                <a:ea typeface="Avenir Next"/>
                <a:cs typeface="Avenir Next"/>
              </a:defRPr>
            </a:pPr>
            <a:r>
              <a:rPr sz="1500" b="1">
                <a:solidFill>
                  <a:srgbClr val="261A2C"/>
                </a:solidFill>
                <a:latin typeface="Avenir Next"/>
                <a:ea typeface="Avenir Next"/>
                <a:cs typeface="Avenir Next"/>
              </a:rPr>
              <a:t>Confirm</a:t>
            </a:r>
          </a:p>
        </p:txBody>
      </p:sp>
      <p:sp>
        <p:nvSpPr>
          <p:cNvPr id="15" name="">
            <a:extLst xmlns:a="http://schemas.openxmlformats.org/drawingml/2006/main">
              <a:ext uri="{FF2B5EF4-FFF2-40B4-BE49-F238E27FC236}">
                <a16:creationId xmlns:a16="http://schemas.microsoft.com/office/drawing/2014/main" id="{C1A96B23-4EF2-4E1C-B793-7AF8F126E2E0}"/>
              </a:ext>
            </a:extLst>
          </p:cNvPr>
          <p:cNvSpPr>
            <a:spLocks xmlns:a="http://schemas.openxmlformats.org/drawingml/2006/main" noGrp="1"/>
          </p:cNvSpPr>
          <p:nvPr/>
        </p:nvSpPr>
        <p:spPr>
          <a:xfrm xmlns:a="http://schemas.openxmlformats.org/drawingml/2006/main">
            <a:off x="3562350" y="32194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0">
                <a:solidFill>
                  <a:srgbClr val="746B79"/>
                </a:solidFill>
                <a:latin typeface="Avenir Next"/>
                <a:ea typeface="Avenir Next"/>
                <a:cs typeface="Avenir Next"/>
              </a:defRPr>
            </a:defPPr>
          </a:lstStyle>
          <a:p xmlns:a="http://schemas.openxmlformats.org/drawingml/2006/main">
            <a:pPr algn="l">
              <a:defRPr sz="975" b="0">
                <a:solidFill>
                  <a:srgbClr val="746B79"/>
                </a:solidFill>
                <a:latin typeface="Avenir Next"/>
                <a:ea typeface="Avenir Next"/>
                <a:cs typeface="Avenir Next"/>
              </a:defRPr>
            </a:pPr>
            <a:r>
              <a:rPr sz="975" b="0">
                <a:solidFill>
                  <a:srgbClr val="746B79"/>
                </a:solidFill>
                <a:latin typeface="Avenir Next"/>
                <a:ea typeface="Avenir Next"/>
                <a:cs typeface="Avenir Next"/>
              </a:rPr>
              <a:t>Speaker confirmations due</a:t>
            </a:r>
          </a:p>
        </p:txBody>
      </p:sp>
      <p:sp>
        <p:nvSpPr>
          <p:cNvPr id="16" name="timeline-node-2">
            <a:extLst xmlns:a="http://schemas.openxmlformats.org/drawingml/2006/main">
              <a:ext uri="{FF2B5EF4-FFF2-40B4-BE49-F238E27FC236}">
                <a16:creationId xmlns:a16="http://schemas.microsoft.com/office/drawing/2014/main" id="{D4B03017-7D94-4970-901A-50D910DC517C}"/>
              </a:ext>
            </a:extLst>
          </p:cNvPr>
          <p:cNvSpPr>
            <a:spLocks xmlns:a="http://schemas.openxmlformats.org/drawingml/2006/main" noGrp="1"/>
          </p:cNvSpPr>
          <p:nvPr/>
        </p:nvSpPr>
        <p:spPr>
          <a:xfrm xmlns:a="http://schemas.openxmlformats.org/drawingml/2006/main">
            <a:off x="3562350" y="2286000"/>
            <a:ext cx="85725" cy="85725"/>
          </a:xfrm>
          <a:prstGeom xmlns:a="http://schemas.openxmlformats.org/drawingml/2006/main" prst="ellipse">
            <a:avLst/>
          </a:prstGeom>
          <a:solidFill xmlns:a="http://schemas.openxmlformats.org/drawingml/2006/main">
            <a:srgbClr val="9B7AC7"/>
          </a:solidFill>
          <a:ln xmlns:a="http://schemas.openxmlformats.org/drawingml/2006/main" w="0">
            <a:noFill/>
            <a:prstDash val="solid"/>
          </a:ln>
        </p:spPr>
      </p:sp>
      <p:sp>
        <p:nvSpPr>
          <p:cNvPr id="17" name="timeline-step-3">
            <a:extLst xmlns:a="http://schemas.openxmlformats.org/drawingml/2006/main">
              <a:ext uri="{FF2B5EF4-FFF2-40B4-BE49-F238E27FC236}">
                <a16:creationId xmlns:a16="http://schemas.microsoft.com/office/drawing/2014/main" id="{468193B7-C907-49D8-9CCF-57BF788D0B83}"/>
              </a:ext>
            </a:extLst>
          </p:cNvPr>
          <p:cNvSpPr>
            <a:spLocks xmlns:a="http://schemas.openxmlformats.org/drawingml/2006/main" noGrp="1"/>
          </p:cNvSpPr>
          <p:nvPr/>
        </p:nvSpPr>
        <p:spPr>
          <a:xfrm xmlns:a="http://schemas.openxmlformats.org/drawingml/2006/main">
            <a:off x="6134100" y="2381250"/>
            <a:ext cx="2476500" cy="1304925"/>
          </a:xfrm>
          <a:prstGeom xmlns:a="http://schemas.openxmlformats.org/drawingml/2006/main" prst="roundRect">
            <a:avLst>
              <a:gd name="adj" fmla="val 11679"/>
            </a:avLst>
          </a:prstGeom>
          <a:solidFill xmlns:a="http://schemas.openxmlformats.org/drawingml/2006/main">
            <a:srgbClr val="FFFF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3069F82-45B6-45AA-9AC9-ED336548BDC3}"/>
              </a:ext>
            </a:extLst>
          </p:cNvPr>
          <p:cNvSpPr>
            <a:spLocks xmlns:a="http://schemas.openxmlformats.org/drawingml/2006/main" noGrp="1"/>
          </p:cNvSpPr>
          <p:nvPr/>
        </p:nvSpPr>
        <p:spPr>
          <a:xfrm xmlns:a="http://schemas.openxmlformats.org/drawingml/2006/main">
            <a:off x="6324600" y="255270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1">
                <a:solidFill>
                  <a:srgbClr val="7354A4"/>
                </a:solidFill>
                <a:latin typeface="Avenir Next"/>
                <a:ea typeface="Avenir Next"/>
                <a:cs typeface="Avenir Next"/>
              </a:defRPr>
            </a:defPPr>
          </a:lstStyle>
          <a:p xmlns:a="http://schemas.openxmlformats.org/drawingml/2006/main">
            <a:pPr algn="l">
              <a:defRPr sz="825" b="1">
                <a:solidFill>
                  <a:srgbClr val="7354A4"/>
                </a:solidFill>
                <a:latin typeface="Avenir Next"/>
                <a:ea typeface="Avenir Next"/>
                <a:cs typeface="Avenir Next"/>
              </a:defRPr>
            </a:pPr>
            <a:r>
              <a:rPr sz="825" b="1">
                <a:solidFill>
                  <a:srgbClr val="7354A4"/>
                </a:solidFill>
                <a:latin typeface="Avenir Next"/>
                <a:ea typeface="Avenir Next"/>
                <a:cs typeface="Avenir Next"/>
              </a:rPr>
              <a:t>JAN–FEB 2027</a:t>
            </a:r>
          </a:p>
        </p:txBody>
      </p:sp>
      <p:sp>
        <p:nvSpPr>
          <p:cNvPr id="19" name="">
            <a:extLst xmlns:a="http://schemas.openxmlformats.org/drawingml/2006/main">
              <a:ext uri="{FF2B5EF4-FFF2-40B4-BE49-F238E27FC236}">
                <a16:creationId xmlns:a16="http://schemas.microsoft.com/office/drawing/2014/main" id="{EAC24A4C-2A90-4A2F-900D-1E0BEF47FF00}"/>
              </a:ext>
            </a:extLst>
          </p:cNvPr>
          <p:cNvSpPr>
            <a:spLocks xmlns:a="http://schemas.openxmlformats.org/drawingml/2006/main" noGrp="1"/>
          </p:cNvSpPr>
          <p:nvPr/>
        </p:nvSpPr>
        <p:spPr>
          <a:xfrm xmlns:a="http://schemas.openxmlformats.org/drawingml/2006/main">
            <a:off x="6324600" y="284797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1">
                <a:solidFill>
                  <a:srgbClr val="261A2C"/>
                </a:solidFill>
                <a:latin typeface="Avenir Next"/>
                <a:ea typeface="Avenir Next"/>
                <a:cs typeface="Avenir Next"/>
              </a:defRPr>
            </a:defPPr>
          </a:lstStyle>
          <a:p xmlns:a="http://schemas.openxmlformats.org/drawingml/2006/main">
            <a:pPr algn="l">
              <a:defRPr sz="1500" b="1">
                <a:solidFill>
                  <a:srgbClr val="261A2C"/>
                </a:solidFill>
                <a:latin typeface="Avenir Next"/>
                <a:ea typeface="Avenir Next"/>
                <a:cs typeface="Avenir Next"/>
              </a:defRPr>
            </a:pPr>
            <a:r>
              <a:rPr sz="1500" b="1">
                <a:solidFill>
                  <a:srgbClr val="261A2C"/>
                </a:solidFill>
                <a:latin typeface="Avenir Next"/>
                <a:ea typeface="Avenir Next"/>
                <a:cs typeface="Avenir Next"/>
              </a:rPr>
              <a:t>Announce</a:t>
            </a:r>
          </a:p>
        </p:txBody>
      </p:sp>
      <p:sp>
        <p:nvSpPr>
          <p:cNvPr id="20" name="">
            <a:extLst xmlns:a="http://schemas.openxmlformats.org/drawingml/2006/main">
              <a:ext uri="{FF2B5EF4-FFF2-40B4-BE49-F238E27FC236}">
                <a16:creationId xmlns:a16="http://schemas.microsoft.com/office/drawing/2014/main" id="{8415D7E4-2FA8-40A4-A499-BCA132C94256}"/>
              </a:ext>
            </a:extLst>
          </p:cNvPr>
          <p:cNvSpPr>
            <a:spLocks xmlns:a="http://schemas.openxmlformats.org/drawingml/2006/main" noGrp="1"/>
          </p:cNvSpPr>
          <p:nvPr/>
        </p:nvSpPr>
        <p:spPr>
          <a:xfrm xmlns:a="http://schemas.openxmlformats.org/drawingml/2006/main">
            <a:off x="6324600" y="32194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0">
                <a:solidFill>
                  <a:srgbClr val="746B79"/>
                </a:solidFill>
                <a:latin typeface="Avenir Next"/>
                <a:ea typeface="Avenir Next"/>
                <a:cs typeface="Avenir Next"/>
              </a:defRPr>
            </a:defPPr>
          </a:lstStyle>
          <a:p xmlns:a="http://schemas.openxmlformats.org/drawingml/2006/main">
            <a:pPr algn="l">
              <a:defRPr sz="975" b="0">
                <a:solidFill>
                  <a:srgbClr val="746B79"/>
                </a:solidFill>
                <a:latin typeface="Avenir Next"/>
                <a:ea typeface="Avenir Next"/>
                <a:cs typeface="Avenir Next"/>
              </a:defRPr>
            </a:pPr>
            <a:r>
              <a:rPr sz="975" b="0">
                <a:solidFill>
                  <a:srgbClr val="746B79"/>
                </a:solidFill>
                <a:latin typeface="Avenir Next"/>
                <a:ea typeface="Avenir Next"/>
                <a:cs typeface="Avenir Next"/>
              </a:rPr>
              <a:t>Speaker announcements</a:t>
            </a:r>
          </a:p>
        </p:txBody>
      </p:sp>
      <p:sp>
        <p:nvSpPr>
          <p:cNvPr id="21" name="timeline-node-3">
            <a:extLst xmlns:a="http://schemas.openxmlformats.org/drawingml/2006/main">
              <a:ext uri="{FF2B5EF4-FFF2-40B4-BE49-F238E27FC236}">
                <a16:creationId xmlns:a16="http://schemas.microsoft.com/office/drawing/2014/main" id="{49184069-52AC-4B7F-9FAA-FEDFF5364FF1}"/>
              </a:ext>
            </a:extLst>
          </p:cNvPr>
          <p:cNvSpPr>
            <a:spLocks xmlns:a="http://schemas.openxmlformats.org/drawingml/2006/main" noGrp="1"/>
          </p:cNvSpPr>
          <p:nvPr/>
        </p:nvSpPr>
        <p:spPr>
          <a:xfrm xmlns:a="http://schemas.openxmlformats.org/drawingml/2006/main">
            <a:off x="6324600" y="2286000"/>
            <a:ext cx="85725" cy="85725"/>
          </a:xfrm>
          <a:prstGeom xmlns:a="http://schemas.openxmlformats.org/drawingml/2006/main" prst="ellipse">
            <a:avLst/>
          </a:prstGeom>
          <a:solidFill xmlns:a="http://schemas.openxmlformats.org/drawingml/2006/main">
            <a:srgbClr val="9B7AC7"/>
          </a:solidFill>
          <a:ln xmlns:a="http://schemas.openxmlformats.org/drawingml/2006/main" w="0">
            <a:noFill/>
            <a:prstDash val="solid"/>
          </a:ln>
        </p:spPr>
      </p:sp>
      <p:sp>
        <p:nvSpPr>
          <p:cNvPr id="22" name="timeline-step-4">
            <a:extLst xmlns:a="http://schemas.openxmlformats.org/drawingml/2006/main">
              <a:ext uri="{FF2B5EF4-FFF2-40B4-BE49-F238E27FC236}">
                <a16:creationId xmlns:a16="http://schemas.microsoft.com/office/drawing/2014/main" id="{81AE2617-8631-46A1-9A2D-B1ACCC55778A}"/>
              </a:ext>
            </a:extLst>
          </p:cNvPr>
          <p:cNvSpPr>
            <a:spLocks xmlns:a="http://schemas.openxmlformats.org/drawingml/2006/main" noGrp="1"/>
          </p:cNvSpPr>
          <p:nvPr/>
        </p:nvSpPr>
        <p:spPr>
          <a:xfrm xmlns:a="http://schemas.openxmlformats.org/drawingml/2006/main">
            <a:off x="8896350" y="2381250"/>
            <a:ext cx="2476500" cy="1304925"/>
          </a:xfrm>
          <a:prstGeom xmlns:a="http://schemas.openxmlformats.org/drawingml/2006/main" prst="roundRect">
            <a:avLst>
              <a:gd name="adj" fmla="val 11679"/>
            </a:avLst>
          </a:prstGeom>
          <a:solidFill xmlns:a="http://schemas.openxmlformats.org/drawingml/2006/main">
            <a:srgbClr val="FFFF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3A489D20-BA4B-4E1F-9562-EF1E361F09E1}"/>
              </a:ext>
            </a:extLst>
          </p:cNvPr>
          <p:cNvSpPr>
            <a:spLocks xmlns:a="http://schemas.openxmlformats.org/drawingml/2006/main" noGrp="1"/>
          </p:cNvSpPr>
          <p:nvPr/>
        </p:nvSpPr>
        <p:spPr>
          <a:xfrm xmlns:a="http://schemas.openxmlformats.org/drawingml/2006/main">
            <a:off x="9086850" y="2552700"/>
            <a:ext cx="2095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1">
                <a:solidFill>
                  <a:srgbClr val="7354A4"/>
                </a:solidFill>
                <a:latin typeface="Avenir Next"/>
                <a:ea typeface="Avenir Next"/>
                <a:cs typeface="Avenir Next"/>
              </a:defRPr>
            </a:defPPr>
          </a:lstStyle>
          <a:p xmlns:a="http://schemas.openxmlformats.org/drawingml/2006/main">
            <a:pPr algn="l">
              <a:defRPr sz="825" b="1">
                <a:solidFill>
                  <a:srgbClr val="7354A4"/>
                </a:solidFill>
                <a:latin typeface="Avenir Next"/>
                <a:ea typeface="Avenir Next"/>
                <a:cs typeface="Avenir Next"/>
              </a:defRPr>
            </a:pPr>
            <a:r>
              <a:rPr sz="825" b="1">
                <a:solidFill>
                  <a:srgbClr val="7354A4"/>
                </a:solidFill>
                <a:latin typeface="Avenir Next"/>
                <a:ea typeface="Avenir Next"/>
                <a:cs typeface="Avenir Next"/>
              </a:rPr>
              <a:t>EARLY MAR</a:t>
            </a:r>
          </a:p>
        </p:txBody>
      </p:sp>
      <p:sp>
        <p:nvSpPr>
          <p:cNvPr id="24" name="">
            <a:extLst xmlns:a="http://schemas.openxmlformats.org/drawingml/2006/main">
              <a:ext uri="{FF2B5EF4-FFF2-40B4-BE49-F238E27FC236}">
                <a16:creationId xmlns:a16="http://schemas.microsoft.com/office/drawing/2014/main" id="{A3D9B922-D77A-4224-9E70-2849CC221902}"/>
              </a:ext>
            </a:extLst>
          </p:cNvPr>
          <p:cNvSpPr>
            <a:spLocks xmlns:a="http://schemas.openxmlformats.org/drawingml/2006/main" noGrp="1"/>
          </p:cNvSpPr>
          <p:nvPr/>
        </p:nvSpPr>
        <p:spPr>
          <a:xfrm xmlns:a="http://schemas.openxmlformats.org/drawingml/2006/main">
            <a:off x="9086850" y="2847975"/>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1">
                <a:solidFill>
                  <a:srgbClr val="261A2C"/>
                </a:solidFill>
                <a:latin typeface="Avenir Next"/>
                <a:ea typeface="Avenir Next"/>
                <a:cs typeface="Avenir Next"/>
              </a:defRPr>
            </a:defPPr>
          </a:lstStyle>
          <a:p xmlns:a="http://schemas.openxmlformats.org/drawingml/2006/main">
            <a:pPr algn="l">
              <a:defRPr sz="1500" b="1">
                <a:solidFill>
                  <a:srgbClr val="261A2C"/>
                </a:solidFill>
                <a:latin typeface="Avenir Next"/>
                <a:ea typeface="Avenir Next"/>
                <a:cs typeface="Avenir Next"/>
              </a:defRPr>
            </a:pPr>
            <a:r>
              <a:rPr sz="1500" b="1">
                <a:solidFill>
                  <a:srgbClr val="261A2C"/>
                </a:solidFill>
                <a:latin typeface="Avenir Next"/>
                <a:ea typeface="Avenir Next"/>
                <a:cs typeface="Avenir Next"/>
              </a:rPr>
              <a:t>Prepare</a:t>
            </a:r>
          </a:p>
        </p:txBody>
      </p:sp>
      <p:sp>
        <p:nvSpPr>
          <p:cNvPr id="25" name="">
            <a:extLst xmlns:a="http://schemas.openxmlformats.org/drawingml/2006/main">
              <a:ext uri="{FF2B5EF4-FFF2-40B4-BE49-F238E27FC236}">
                <a16:creationId xmlns:a16="http://schemas.microsoft.com/office/drawing/2014/main" id="{B22A46C5-71E4-42D5-AF83-AEF02D8970F0}"/>
              </a:ext>
            </a:extLst>
          </p:cNvPr>
          <p:cNvSpPr>
            <a:spLocks xmlns:a="http://schemas.openxmlformats.org/drawingml/2006/main" noGrp="1"/>
          </p:cNvSpPr>
          <p:nvPr/>
        </p:nvSpPr>
        <p:spPr>
          <a:xfrm xmlns:a="http://schemas.openxmlformats.org/drawingml/2006/main">
            <a:off x="9086850" y="3219450"/>
            <a:ext cx="209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0">
                <a:solidFill>
                  <a:srgbClr val="746B79"/>
                </a:solidFill>
                <a:latin typeface="Avenir Next"/>
                <a:ea typeface="Avenir Next"/>
                <a:cs typeface="Avenir Next"/>
              </a:defRPr>
            </a:defPPr>
          </a:lstStyle>
          <a:p xmlns:a="http://schemas.openxmlformats.org/drawingml/2006/main">
            <a:pPr algn="l">
              <a:defRPr sz="975" b="0">
                <a:solidFill>
                  <a:srgbClr val="746B79"/>
                </a:solidFill>
                <a:latin typeface="Avenir Next"/>
                <a:ea typeface="Avenir Next"/>
                <a:cs typeface="Avenir Next"/>
              </a:defRPr>
            </a:pPr>
            <a:r>
              <a:rPr sz="975" b="0">
                <a:solidFill>
                  <a:srgbClr val="746B79"/>
                </a:solidFill>
                <a:latin typeface="Avenir Next"/>
                <a:ea typeface="Avenir Next"/>
                <a:cs typeface="Avenir Next"/>
              </a:rPr>
              <a:t>30-minute prep call</a:t>
            </a:r>
          </a:p>
        </p:txBody>
      </p:sp>
      <p:sp>
        <p:nvSpPr>
          <p:cNvPr id="26" name="timeline-node-4">
            <a:extLst xmlns:a="http://schemas.openxmlformats.org/drawingml/2006/main">
              <a:ext uri="{FF2B5EF4-FFF2-40B4-BE49-F238E27FC236}">
                <a16:creationId xmlns:a16="http://schemas.microsoft.com/office/drawing/2014/main" id="{7A5F9D16-2F32-4B75-9EC3-8BC2755A7991}"/>
              </a:ext>
            </a:extLst>
          </p:cNvPr>
          <p:cNvSpPr>
            <a:spLocks xmlns:a="http://schemas.openxmlformats.org/drawingml/2006/main" noGrp="1"/>
          </p:cNvSpPr>
          <p:nvPr/>
        </p:nvSpPr>
        <p:spPr>
          <a:xfrm xmlns:a="http://schemas.openxmlformats.org/drawingml/2006/main">
            <a:off x="9086850" y="2286000"/>
            <a:ext cx="85725" cy="85725"/>
          </a:xfrm>
          <a:prstGeom xmlns:a="http://schemas.openxmlformats.org/drawingml/2006/main" prst="ellipse">
            <a:avLst/>
          </a:prstGeom>
          <a:solidFill xmlns:a="http://schemas.openxmlformats.org/drawingml/2006/main">
            <a:srgbClr val="9B7AC7"/>
          </a:solidFill>
          <a:ln xmlns:a="http://schemas.openxmlformats.org/drawingml/2006/main" w="0">
            <a:noFill/>
            <a:prstDash val="solid"/>
          </a:ln>
        </p:spPr>
      </p:sp>
      <p:sp>
        <p:nvSpPr>
          <p:cNvPr id="27" name="timeline-step-5">
            <a:extLst xmlns:a="http://schemas.openxmlformats.org/drawingml/2006/main">
              <a:ext uri="{FF2B5EF4-FFF2-40B4-BE49-F238E27FC236}">
                <a16:creationId xmlns:a16="http://schemas.microsoft.com/office/drawing/2014/main" id="{A41F3F6F-D676-40AC-AE3C-F27F83F31554}"/>
              </a:ext>
            </a:extLst>
          </p:cNvPr>
          <p:cNvSpPr>
            <a:spLocks xmlns:a="http://schemas.openxmlformats.org/drawingml/2006/main" noGrp="1"/>
          </p:cNvSpPr>
          <p:nvPr/>
        </p:nvSpPr>
        <p:spPr>
          <a:xfrm xmlns:a="http://schemas.openxmlformats.org/drawingml/2006/main">
            <a:off x="609600" y="4095750"/>
            <a:ext cx="2857500" cy="1304925"/>
          </a:xfrm>
          <a:prstGeom xmlns:a="http://schemas.openxmlformats.org/drawingml/2006/main" prst="roundRect">
            <a:avLst>
              <a:gd name="adj" fmla="val 11679"/>
            </a:avLst>
          </a:prstGeom>
          <a:solidFill xmlns:a="http://schemas.openxmlformats.org/drawingml/2006/main">
            <a:srgbClr val="FFFFFF"/>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6EC2811F-C39C-45ED-B94F-01D190A0F501}"/>
              </a:ext>
            </a:extLst>
          </p:cNvPr>
          <p:cNvSpPr>
            <a:spLocks xmlns:a="http://schemas.openxmlformats.org/drawingml/2006/main" noGrp="1"/>
          </p:cNvSpPr>
          <p:nvPr/>
        </p:nvSpPr>
        <p:spPr>
          <a:xfrm xmlns:a="http://schemas.openxmlformats.org/drawingml/2006/main">
            <a:off x="800100" y="426720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1">
                <a:solidFill>
                  <a:srgbClr val="7354A4"/>
                </a:solidFill>
                <a:latin typeface="Avenir Next"/>
                <a:ea typeface="Avenir Next"/>
                <a:cs typeface="Avenir Next"/>
              </a:defRPr>
            </a:defPPr>
          </a:lstStyle>
          <a:p xmlns:a="http://schemas.openxmlformats.org/drawingml/2006/main">
            <a:pPr algn="l">
              <a:defRPr sz="825" b="1">
                <a:solidFill>
                  <a:srgbClr val="7354A4"/>
                </a:solidFill>
                <a:latin typeface="Avenir Next"/>
                <a:ea typeface="Avenir Next"/>
                <a:cs typeface="Avenir Next"/>
              </a:defRPr>
            </a:pPr>
            <a:r>
              <a:rPr sz="825" b="1">
                <a:solidFill>
                  <a:srgbClr val="7354A4"/>
                </a:solidFill>
                <a:latin typeface="Avenir Next"/>
                <a:ea typeface="Avenir Next"/>
                <a:cs typeface="Avenir Next"/>
              </a:rPr>
              <a:t>20 MAR 2027</a:t>
            </a:r>
          </a:p>
        </p:txBody>
      </p:sp>
      <p:sp>
        <p:nvSpPr>
          <p:cNvPr id="29" name="">
            <a:extLst xmlns:a="http://schemas.openxmlformats.org/drawingml/2006/main">
              <a:ext uri="{FF2B5EF4-FFF2-40B4-BE49-F238E27FC236}">
                <a16:creationId xmlns:a16="http://schemas.microsoft.com/office/drawing/2014/main" id="{91A32A6F-CF1A-4C3A-AFCC-44A9EED7C37F}"/>
              </a:ext>
            </a:extLst>
          </p:cNvPr>
          <p:cNvSpPr>
            <a:spLocks xmlns:a="http://schemas.openxmlformats.org/drawingml/2006/main" noGrp="1"/>
          </p:cNvSpPr>
          <p:nvPr/>
        </p:nvSpPr>
        <p:spPr>
          <a:xfrm xmlns:a="http://schemas.openxmlformats.org/drawingml/2006/main">
            <a:off x="800100" y="456247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1">
                <a:solidFill>
                  <a:srgbClr val="261A2C"/>
                </a:solidFill>
                <a:latin typeface="Avenir Next"/>
                <a:ea typeface="Avenir Next"/>
                <a:cs typeface="Avenir Next"/>
              </a:defRPr>
            </a:defPPr>
          </a:lstStyle>
          <a:p xmlns:a="http://schemas.openxmlformats.org/drawingml/2006/main">
            <a:pPr algn="l">
              <a:defRPr sz="1500" b="1">
                <a:solidFill>
                  <a:srgbClr val="261A2C"/>
                </a:solidFill>
                <a:latin typeface="Avenir Next"/>
                <a:ea typeface="Avenir Next"/>
                <a:cs typeface="Avenir Next"/>
              </a:defRPr>
            </a:pPr>
            <a:r>
              <a:rPr sz="1500" b="1">
                <a:solidFill>
                  <a:srgbClr val="261A2C"/>
                </a:solidFill>
                <a:latin typeface="Avenir Next"/>
                <a:ea typeface="Avenir Next"/>
                <a:cs typeface="Avenir Next"/>
              </a:rPr>
              <a:t>Materials</a:t>
            </a:r>
          </a:p>
        </p:txBody>
      </p:sp>
      <p:sp>
        <p:nvSpPr>
          <p:cNvPr id="30" name="">
            <a:extLst xmlns:a="http://schemas.openxmlformats.org/drawingml/2006/main">
              <a:ext uri="{FF2B5EF4-FFF2-40B4-BE49-F238E27FC236}">
                <a16:creationId xmlns:a16="http://schemas.microsoft.com/office/drawing/2014/main" id="{7D1D86B2-18FE-430F-A424-8989845DABB0}"/>
              </a:ext>
            </a:extLst>
          </p:cNvPr>
          <p:cNvSpPr>
            <a:spLocks xmlns:a="http://schemas.openxmlformats.org/drawingml/2006/main" noGrp="1"/>
          </p:cNvSpPr>
          <p:nvPr/>
        </p:nvSpPr>
        <p:spPr>
          <a:xfrm xmlns:a="http://schemas.openxmlformats.org/drawingml/2006/main">
            <a:off x="800100" y="49339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0">
                <a:solidFill>
                  <a:srgbClr val="746B79"/>
                </a:solidFill>
                <a:latin typeface="Avenir Next"/>
                <a:ea typeface="Avenir Next"/>
                <a:cs typeface="Avenir Next"/>
              </a:defRPr>
            </a:defPPr>
          </a:lstStyle>
          <a:p xmlns:a="http://schemas.openxmlformats.org/drawingml/2006/main">
            <a:pPr algn="l">
              <a:defRPr sz="975" b="0">
                <a:solidFill>
                  <a:srgbClr val="746B79"/>
                </a:solidFill>
                <a:latin typeface="Avenir Next"/>
                <a:ea typeface="Avenir Next"/>
                <a:cs typeface="Avenir Next"/>
              </a:defRPr>
            </a:pPr>
            <a:r>
              <a:rPr sz="975" b="0">
                <a:solidFill>
                  <a:srgbClr val="746B79"/>
                </a:solidFill>
                <a:latin typeface="Avenir Next"/>
                <a:ea typeface="Avenir Next"/>
                <a:cs typeface="Avenir Next"/>
              </a:rPr>
              <a:t>Final slides and materials due</a:t>
            </a:r>
          </a:p>
        </p:txBody>
      </p:sp>
      <p:sp>
        <p:nvSpPr>
          <p:cNvPr id="31" name="timeline-node-5">
            <a:extLst xmlns:a="http://schemas.openxmlformats.org/drawingml/2006/main">
              <a:ext uri="{FF2B5EF4-FFF2-40B4-BE49-F238E27FC236}">
                <a16:creationId xmlns:a16="http://schemas.microsoft.com/office/drawing/2014/main" id="{9AC20578-86DA-47EB-BD68-8B31754F782F}"/>
              </a:ext>
            </a:extLst>
          </p:cNvPr>
          <p:cNvSpPr>
            <a:spLocks xmlns:a="http://schemas.openxmlformats.org/drawingml/2006/main" noGrp="1"/>
          </p:cNvSpPr>
          <p:nvPr/>
        </p:nvSpPr>
        <p:spPr>
          <a:xfrm xmlns:a="http://schemas.openxmlformats.org/drawingml/2006/main">
            <a:off x="800100" y="4000500"/>
            <a:ext cx="85725" cy="85725"/>
          </a:xfrm>
          <a:prstGeom xmlns:a="http://schemas.openxmlformats.org/drawingml/2006/main" prst="ellipse">
            <a:avLst/>
          </a:prstGeom>
          <a:solidFill xmlns:a="http://schemas.openxmlformats.org/drawingml/2006/main">
            <a:srgbClr val="9B7AC7"/>
          </a:solidFill>
          <a:ln xmlns:a="http://schemas.openxmlformats.org/drawingml/2006/main" w="0">
            <a:noFill/>
            <a:prstDash val="solid"/>
          </a:ln>
        </p:spPr>
      </p:sp>
      <p:sp>
        <p:nvSpPr>
          <p:cNvPr id="32" name="timeline-step-6">
            <a:extLst xmlns:a="http://schemas.openxmlformats.org/drawingml/2006/main">
              <a:ext uri="{FF2B5EF4-FFF2-40B4-BE49-F238E27FC236}">
                <a16:creationId xmlns:a16="http://schemas.microsoft.com/office/drawing/2014/main" id="{BF41E828-6B3B-4C0E-9ADA-FEFC4848BA12}"/>
              </a:ext>
            </a:extLst>
          </p:cNvPr>
          <p:cNvSpPr>
            <a:spLocks xmlns:a="http://schemas.openxmlformats.org/drawingml/2006/main" noGrp="1"/>
          </p:cNvSpPr>
          <p:nvPr/>
        </p:nvSpPr>
        <p:spPr>
          <a:xfrm xmlns:a="http://schemas.openxmlformats.org/drawingml/2006/main">
            <a:off x="4610100" y="4095750"/>
            <a:ext cx="2857500" cy="1304925"/>
          </a:xfrm>
          <a:prstGeom xmlns:a="http://schemas.openxmlformats.org/drawingml/2006/main" prst="roundRect">
            <a:avLst>
              <a:gd name="adj" fmla="val 11679"/>
            </a:avLst>
          </a:prstGeom>
          <a:solidFill xmlns:a="http://schemas.openxmlformats.org/drawingml/2006/main">
            <a:srgbClr val="FFFFFF"/>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8B7EE826-85BD-4E05-BB78-8497542F81DF}"/>
              </a:ext>
            </a:extLst>
          </p:cNvPr>
          <p:cNvSpPr>
            <a:spLocks xmlns:a="http://schemas.openxmlformats.org/drawingml/2006/main" noGrp="1"/>
          </p:cNvSpPr>
          <p:nvPr/>
        </p:nvSpPr>
        <p:spPr>
          <a:xfrm xmlns:a="http://schemas.openxmlformats.org/drawingml/2006/main">
            <a:off x="4800600" y="426720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1">
                <a:solidFill>
                  <a:srgbClr val="7354A4"/>
                </a:solidFill>
                <a:latin typeface="Avenir Next"/>
                <a:ea typeface="Avenir Next"/>
                <a:cs typeface="Avenir Next"/>
              </a:defRPr>
            </a:defPPr>
          </a:lstStyle>
          <a:p xmlns:a="http://schemas.openxmlformats.org/drawingml/2006/main">
            <a:pPr algn="l">
              <a:defRPr sz="825" b="1">
                <a:solidFill>
                  <a:srgbClr val="7354A4"/>
                </a:solidFill>
                <a:latin typeface="Avenir Next"/>
                <a:ea typeface="Avenir Next"/>
                <a:cs typeface="Avenir Next"/>
              </a:defRPr>
            </a:pPr>
            <a:r>
              <a:rPr sz="825" b="1">
                <a:solidFill>
                  <a:srgbClr val="7354A4"/>
                </a:solidFill>
                <a:latin typeface="Avenir Next"/>
                <a:ea typeface="Avenir Next"/>
                <a:cs typeface="Avenir Next"/>
              </a:rPr>
              <a:t>27 MAR 2027</a:t>
            </a:r>
          </a:p>
        </p:txBody>
      </p:sp>
      <p:sp>
        <p:nvSpPr>
          <p:cNvPr id="34" name="">
            <a:extLst xmlns:a="http://schemas.openxmlformats.org/drawingml/2006/main">
              <a:ext uri="{FF2B5EF4-FFF2-40B4-BE49-F238E27FC236}">
                <a16:creationId xmlns:a16="http://schemas.microsoft.com/office/drawing/2014/main" id="{E011C0F1-F5AA-4BEF-A94E-44EE9543A615}"/>
              </a:ext>
            </a:extLst>
          </p:cNvPr>
          <p:cNvSpPr>
            <a:spLocks xmlns:a="http://schemas.openxmlformats.org/drawingml/2006/main" noGrp="1"/>
          </p:cNvSpPr>
          <p:nvPr/>
        </p:nvSpPr>
        <p:spPr>
          <a:xfrm xmlns:a="http://schemas.openxmlformats.org/drawingml/2006/main">
            <a:off x="4800600" y="456247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1">
                <a:solidFill>
                  <a:srgbClr val="261A2C"/>
                </a:solidFill>
                <a:latin typeface="Avenir Next"/>
                <a:ea typeface="Avenir Next"/>
                <a:cs typeface="Avenir Next"/>
              </a:defRPr>
            </a:defPPr>
          </a:lstStyle>
          <a:p xmlns:a="http://schemas.openxmlformats.org/drawingml/2006/main">
            <a:pPr algn="l">
              <a:defRPr sz="1500" b="1">
                <a:solidFill>
                  <a:srgbClr val="261A2C"/>
                </a:solidFill>
                <a:latin typeface="Avenir Next"/>
                <a:ea typeface="Avenir Next"/>
                <a:cs typeface="Avenir Next"/>
              </a:defRPr>
            </a:pPr>
            <a:r>
              <a:rPr sz="1500" b="1">
                <a:solidFill>
                  <a:srgbClr val="261A2C"/>
                </a:solidFill>
                <a:latin typeface="Avenir Next"/>
                <a:ea typeface="Avenir Next"/>
                <a:cs typeface="Avenir Next"/>
              </a:rPr>
              <a:t>Event day</a:t>
            </a:r>
          </a:p>
        </p:txBody>
      </p:sp>
      <p:sp>
        <p:nvSpPr>
          <p:cNvPr id="35" name="">
            <a:extLst xmlns:a="http://schemas.openxmlformats.org/drawingml/2006/main">
              <a:ext uri="{FF2B5EF4-FFF2-40B4-BE49-F238E27FC236}">
                <a16:creationId xmlns:a16="http://schemas.microsoft.com/office/drawing/2014/main" id="{7C18A47B-AA87-46F5-BC38-F9E9FE1B9874}"/>
              </a:ext>
            </a:extLst>
          </p:cNvPr>
          <p:cNvSpPr>
            <a:spLocks xmlns:a="http://schemas.openxmlformats.org/drawingml/2006/main" noGrp="1"/>
          </p:cNvSpPr>
          <p:nvPr/>
        </p:nvSpPr>
        <p:spPr>
          <a:xfrm xmlns:a="http://schemas.openxmlformats.org/drawingml/2006/main">
            <a:off x="4800600" y="49339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0">
                <a:solidFill>
                  <a:srgbClr val="746B79"/>
                </a:solidFill>
                <a:latin typeface="Avenir Next"/>
                <a:ea typeface="Avenir Next"/>
                <a:cs typeface="Avenir Next"/>
              </a:defRPr>
            </a:defPPr>
          </a:lstStyle>
          <a:p xmlns:a="http://schemas.openxmlformats.org/drawingml/2006/main">
            <a:pPr algn="l">
              <a:defRPr sz="975" b="0">
                <a:solidFill>
                  <a:srgbClr val="746B79"/>
                </a:solidFill>
                <a:latin typeface="Avenir Next"/>
                <a:ea typeface="Avenir Next"/>
                <a:cs typeface="Avenir Next"/>
              </a:defRPr>
            </a:pPr>
            <a:r>
              <a:rPr sz="975" b="0">
                <a:solidFill>
                  <a:srgbClr val="746B79"/>
                </a:solidFill>
                <a:latin typeface="Avenir Next"/>
                <a:ea typeface="Avenir Next"/>
                <a:cs typeface="Avenir Next"/>
              </a:rPr>
              <a:t>Beyond Code in Ibadan</a:t>
            </a:r>
          </a:p>
        </p:txBody>
      </p:sp>
      <p:sp>
        <p:nvSpPr>
          <p:cNvPr id="36" name="timeline-node-6">
            <a:extLst xmlns:a="http://schemas.openxmlformats.org/drawingml/2006/main">
              <a:ext uri="{FF2B5EF4-FFF2-40B4-BE49-F238E27FC236}">
                <a16:creationId xmlns:a16="http://schemas.microsoft.com/office/drawing/2014/main" id="{BAC12E46-DDB7-498C-8616-D4015BE9E4D8}"/>
              </a:ext>
            </a:extLst>
          </p:cNvPr>
          <p:cNvSpPr>
            <a:spLocks xmlns:a="http://schemas.openxmlformats.org/drawingml/2006/main" noGrp="1"/>
          </p:cNvSpPr>
          <p:nvPr/>
        </p:nvSpPr>
        <p:spPr>
          <a:xfrm xmlns:a="http://schemas.openxmlformats.org/drawingml/2006/main">
            <a:off x="4800600" y="4000500"/>
            <a:ext cx="85725" cy="85725"/>
          </a:xfrm>
          <a:prstGeom xmlns:a="http://schemas.openxmlformats.org/drawingml/2006/main" prst="ellipse">
            <a:avLst/>
          </a:prstGeom>
          <a:solidFill xmlns:a="http://schemas.openxmlformats.org/drawingml/2006/main">
            <a:srgbClr val="AEE8CE"/>
          </a:solidFill>
          <a:ln xmlns:a="http://schemas.openxmlformats.org/drawingml/2006/main" w="0">
            <a:noFill/>
            <a:prstDash val="solid"/>
          </a:ln>
        </p:spPr>
      </p:sp>
      <p:sp>
        <p:nvSpPr>
          <p:cNvPr id="37" name="timeline-step-7">
            <a:extLst xmlns:a="http://schemas.openxmlformats.org/drawingml/2006/main">
              <a:ext uri="{FF2B5EF4-FFF2-40B4-BE49-F238E27FC236}">
                <a16:creationId xmlns:a16="http://schemas.microsoft.com/office/drawing/2014/main" id="{14F726BD-4E18-4403-B254-F7C458BE3E6C}"/>
              </a:ext>
            </a:extLst>
          </p:cNvPr>
          <p:cNvSpPr>
            <a:spLocks xmlns:a="http://schemas.openxmlformats.org/drawingml/2006/main" noGrp="1"/>
          </p:cNvSpPr>
          <p:nvPr/>
        </p:nvSpPr>
        <p:spPr>
          <a:xfrm xmlns:a="http://schemas.openxmlformats.org/drawingml/2006/main">
            <a:off x="8610600" y="4095750"/>
            <a:ext cx="2857500" cy="1304925"/>
          </a:xfrm>
          <a:prstGeom xmlns:a="http://schemas.openxmlformats.org/drawingml/2006/main" prst="roundRect">
            <a:avLst>
              <a:gd name="adj" fmla="val 11679"/>
            </a:avLst>
          </a:prstGeom>
          <a:solidFill xmlns:a="http://schemas.openxmlformats.org/drawingml/2006/main">
            <a:srgbClr val="FFFFFF"/>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921E02D5-CC3A-4755-AEE1-50388BEA2C43}"/>
              </a:ext>
            </a:extLst>
          </p:cNvPr>
          <p:cNvSpPr>
            <a:spLocks xmlns:a="http://schemas.openxmlformats.org/drawingml/2006/main" noGrp="1"/>
          </p:cNvSpPr>
          <p:nvPr/>
        </p:nvSpPr>
        <p:spPr>
          <a:xfrm xmlns:a="http://schemas.openxmlformats.org/drawingml/2006/main">
            <a:off x="8801100" y="4267200"/>
            <a:ext cx="2476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1">
                <a:solidFill>
                  <a:srgbClr val="7354A4"/>
                </a:solidFill>
                <a:latin typeface="Avenir Next"/>
                <a:ea typeface="Avenir Next"/>
                <a:cs typeface="Avenir Next"/>
              </a:defRPr>
            </a:defPPr>
          </a:lstStyle>
          <a:p xmlns:a="http://schemas.openxmlformats.org/drawingml/2006/main">
            <a:pPr algn="l">
              <a:defRPr sz="825" b="1">
                <a:solidFill>
                  <a:srgbClr val="7354A4"/>
                </a:solidFill>
                <a:latin typeface="Avenir Next"/>
                <a:ea typeface="Avenir Next"/>
                <a:cs typeface="Avenir Next"/>
              </a:defRPr>
            </a:pPr>
            <a:r>
              <a:rPr sz="825" b="1">
                <a:solidFill>
                  <a:srgbClr val="7354A4"/>
                </a:solidFill>
                <a:latin typeface="Avenir Next"/>
                <a:ea typeface="Avenir Next"/>
                <a:cs typeface="Avenir Next"/>
              </a:rPr>
              <a:t>APR 2027</a:t>
            </a:r>
          </a:p>
        </p:txBody>
      </p:sp>
      <p:sp>
        <p:nvSpPr>
          <p:cNvPr id="39" name="">
            <a:extLst xmlns:a="http://schemas.openxmlformats.org/drawingml/2006/main">
              <a:ext uri="{FF2B5EF4-FFF2-40B4-BE49-F238E27FC236}">
                <a16:creationId xmlns:a16="http://schemas.microsoft.com/office/drawing/2014/main" id="{9FF61490-27BC-4A02-BE40-8842DD68BD54}"/>
              </a:ext>
            </a:extLst>
          </p:cNvPr>
          <p:cNvSpPr>
            <a:spLocks xmlns:a="http://schemas.openxmlformats.org/drawingml/2006/main" noGrp="1"/>
          </p:cNvSpPr>
          <p:nvPr/>
        </p:nvSpPr>
        <p:spPr>
          <a:xfrm xmlns:a="http://schemas.openxmlformats.org/drawingml/2006/main">
            <a:off x="8801100" y="4562475"/>
            <a:ext cx="2476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500" b="1">
                <a:solidFill>
                  <a:srgbClr val="261A2C"/>
                </a:solidFill>
                <a:latin typeface="Avenir Next"/>
                <a:ea typeface="Avenir Next"/>
                <a:cs typeface="Avenir Next"/>
              </a:defRPr>
            </a:defPPr>
          </a:lstStyle>
          <a:p xmlns:a="http://schemas.openxmlformats.org/drawingml/2006/main">
            <a:pPr algn="l">
              <a:defRPr sz="1500" b="1">
                <a:solidFill>
                  <a:srgbClr val="261A2C"/>
                </a:solidFill>
                <a:latin typeface="Avenir Next"/>
                <a:ea typeface="Avenir Next"/>
                <a:cs typeface="Avenir Next"/>
              </a:defRPr>
            </a:pPr>
            <a:r>
              <a:rPr sz="1500" b="1">
                <a:solidFill>
                  <a:srgbClr val="261A2C"/>
                </a:solidFill>
                <a:latin typeface="Avenir Next"/>
                <a:ea typeface="Avenir Next"/>
                <a:cs typeface="Avenir Next"/>
              </a:rPr>
              <a:t>Share</a:t>
            </a:r>
          </a:p>
        </p:txBody>
      </p:sp>
      <p:sp>
        <p:nvSpPr>
          <p:cNvPr id="40" name="">
            <a:extLst xmlns:a="http://schemas.openxmlformats.org/drawingml/2006/main">
              <a:ext uri="{FF2B5EF4-FFF2-40B4-BE49-F238E27FC236}">
                <a16:creationId xmlns:a16="http://schemas.microsoft.com/office/drawing/2014/main" id="{FC8D302C-4A43-415B-9F28-D4471734BF1D}"/>
              </a:ext>
            </a:extLst>
          </p:cNvPr>
          <p:cNvSpPr>
            <a:spLocks xmlns:a="http://schemas.openxmlformats.org/drawingml/2006/main" noGrp="1"/>
          </p:cNvSpPr>
          <p:nvPr/>
        </p:nvSpPr>
        <p:spPr>
          <a:xfrm xmlns:a="http://schemas.openxmlformats.org/drawingml/2006/main">
            <a:off x="8801100" y="4933950"/>
            <a:ext cx="2476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75" b="0">
                <a:solidFill>
                  <a:srgbClr val="746B79"/>
                </a:solidFill>
                <a:latin typeface="Avenir Next"/>
                <a:ea typeface="Avenir Next"/>
                <a:cs typeface="Avenir Next"/>
              </a:defRPr>
            </a:defPPr>
          </a:lstStyle>
          <a:p xmlns:a="http://schemas.openxmlformats.org/drawingml/2006/main">
            <a:pPr algn="l">
              <a:defRPr sz="975" b="0">
                <a:solidFill>
                  <a:srgbClr val="746B79"/>
                </a:solidFill>
                <a:latin typeface="Avenir Next"/>
                <a:ea typeface="Avenir Next"/>
                <a:cs typeface="Avenir Next"/>
              </a:defRPr>
            </a:pPr>
            <a:r>
              <a:rPr sz="975" b="0">
                <a:solidFill>
                  <a:srgbClr val="746B79"/>
                </a:solidFill>
                <a:latin typeface="Avenir Next"/>
                <a:ea typeface="Avenir Next"/>
                <a:cs typeface="Avenir Next"/>
              </a:rPr>
              <a:t>Session clips released</a:t>
            </a:r>
          </a:p>
        </p:txBody>
      </p:sp>
      <p:sp>
        <p:nvSpPr>
          <p:cNvPr id="41" name="timeline-node-7">
            <a:extLst xmlns:a="http://schemas.openxmlformats.org/drawingml/2006/main">
              <a:ext uri="{FF2B5EF4-FFF2-40B4-BE49-F238E27FC236}">
                <a16:creationId xmlns:a16="http://schemas.microsoft.com/office/drawing/2014/main" id="{D462362C-8221-4737-B0C6-7529788D512C}"/>
              </a:ext>
            </a:extLst>
          </p:cNvPr>
          <p:cNvSpPr>
            <a:spLocks xmlns:a="http://schemas.openxmlformats.org/drawingml/2006/main" noGrp="1"/>
          </p:cNvSpPr>
          <p:nvPr/>
        </p:nvSpPr>
        <p:spPr>
          <a:xfrm xmlns:a="http://schemas.openxmlformats.org/drawingml/2006/main">
            <a:off x="8801100" y="4000500"/>
            <a:ext cx="85725" cy="85725"/>
          </a:xfrm>
          <a:prstGeom xmlns:a="http://schemas.openxmlformats.org/drawingml/2006/main" prst="ellipse">
            <a:avLst/>
          </a:prstGeom>
          <a:solidFill xmlns:a="http://schemas.openxmlformats.org/drawingml/2006/main">
            <a:srgbClr val="9B7AC7"/>
          </a:solidFill>
          <a:ln xmlns:a="http://schemas.openxmlformats.org/drawingml/2006/main" w="0">
            <a:noFill/>
            <a:prstDash val="solid"/>
          </a:ln>
        </p:spPr>
      </p:sp>
      <p:sp>
        <p:nvSpPr>
          <p:cNvPr id="42" name="timeline-connector">
            <a:extLst xmlns:a="http://schemas.openxmlformats.org/drawingml/2006/main">
              <a:ext uri="{FF2B5EF4-FFF2-40B4-BE49-F238E27FC236}">
                <a16:creationId xmlns:a16="http://schemas.microsoft.com/office/drawing/2014/main" id="{AD5CC71D-5C8C-4365-8745-B6EA48AD5B35}"/>
              </a:ext>
            </a:extLst>
          </p:cNvPr>
          <p:cNvSpPr>
            <a:spLocks xmlns:a="http://schemas.openxmlformats.org/drawingml/2006/main" noGrp="1"/>
          </p:cNvSpPr>
          <p:nvPr/>
        </p:nvSpPr>
        <p:spPr>
          <a:xfrm xmlns:a="http://schemas.openxmlformats.org/drawingml/2006/main">
            <a:off x="800100" y="3848100"/>
            <a:ext cx="10572750" cy="19050"/>
          </a:xfrm>
          <a:prstGeom xmlns:a="http://schemas.openxmlformats.org/drawingml/2006/main" prst="rect">
            <a:avLst/>
          </a:prstGeom>
          <a:solidFill xmlns:a="http://schemas.openxmlformats.org/drawingml/2006/main">
            <a:srgbClr val="E7E0EC"/>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DE94361E-296A-43AF-8C8F-3420A7793365}"/>
              </a:ext>
            </a:extLst>
          </p:cNvPr>
          <p:cNvSpPr>
            <a:spLocks xmlns:a="http://schemas.openxmlformats.org/drawingml/2006/main" noGrp="1"/>
          </p:cNvSpPr>
          <p:nvPr/>
        </p:nvSpPr>
        <p:spPr>
          <a:xfrm xmlns:a="http://schemas.openxmlformats.org/drawingml/2006/main">
            <a:off x="628650" y="5686425"/>
            <a:ext cx="10287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00" b="1">
                <a:solidFill>
                  <a:srgbClr val="7354A4"/>
                </a:solidFill>
                <a:latin typeface="Avenir Next"/>
                <a:ea typeface="Avenir Next"/>
                <a:cs typeface="Avenir Next"/>
              </a:defRPr>
            </a:defPPr>
          </a:lstStyle>
          <a:p xmlns:a="http://schemas.openxmlformats.org/drawingml/2006/main">
            <a:pPr algn="l">
              <a:defRPr sz="1200" b="1">
                <a:solidFill>
                  <a:srgbClr val="7354A4"/>
                </a:solidFill>
                <a:latin typeface="Avenir Next"/>
                <a:ea typeface="Avenir Next"/>
                <a:cs typeface="Avenir Next"/>
              </a:defRPr>
            </a:pPr>
            <a:r>
              <a:rPr sz="1200" b="1">
                <a:solidFill>
                  <a:srgbClr val="7354A4"/>
                </a:solidFill>
                <a:latin typeface="Avenir Next"/>
                <a:ea typeface="Avenir Next"/>
                <a:cs typeface="Avenir Next"/>
              </a:rPr>
              <a:t>A 30-minute call in early March gets the session aligned before final materials are due.</a:t>
            </a:r>
          </a:p>
        </p:txBody>
      </p:sp>
    </p:spTree>
    <p:extLst>
      <p:ext uri="{BB962C8B-B14F-4D97-AF65-F5344CB8AC3E}">
        <p14:creationId xmlns:p14="http://schemas.microsoft.com/office/powerpoint/2010/main" val="641131075"/>
      </p:ext>
    </p:extLst>
  </p:cSld>
</p:sld>
</file>

<file path=ppt/slides/slide9.xml><?xml version="1.0" encoding="utf-8"?>
<p:sld xmlns:p="http://schemas.openxmlformats.org/presentationml/2006/main">
  <p:cSld>
    <p:bg>
      <p:bgPr>
        <a:solidFill xmlns:a="http://schemas.openxmlformats.org/drawingml/2006/main">
          <a:srgbClr val="281532"/>
        </a:solidFill>
      </p:bgPr>
    </p:bg>
    <p:spTree>
      <p:nvGrpSpPr>
        <p:cNvPr id="1" name=""/>
        <p:cNvGrpSpPr/>
        <p:nvPr/>
      </p:nvGrpSpPr>
      <p:grpSpPr>
        <a:xfrm xmlns:a="http://schemas.openxmlformats.org/drawingml/2006/main"/>
      </p:grpSpPr>
      <p:sp>
        <p:nvSpPr>
          <p:cNvPr id="29" name="closing-left-field">
            <a:extLst xmlns:a="http://schemas.openxmlformats.org/drawingml/2006/main">
              <a:ext uri="{FF2B5EF4-FFF2-40B4-BE49-F238E27FC236}">
                <a16:creationId xmlns:a16="http://schemas.microsoft.com/office/drawing/2014/main" id="{9FCF3C9F-8BBD-4580-9886-8C2809403D5F}"/>
              </a:ext>
            </a:extLst>
          </p:cNvPr>
          <p:cNvSpPr>
            <a:spLocks xmlns:a="http://schemas.openxmlformats.org/drawingml/2006/main" noGrp="1"/>
          </p:cNvSpPr>
          <p:nvPr/>
        </p:nvSpPr>
        <p:spPr>
          <a:xfrm xmlns:a="http://schemas.openxmlformats.org/drawingml/2006/main">
            <a:off x="0" y="0"/>
            <a:ext cx="5143500" cy="6858000"/>
          </a:xfrm>
          <a:prstGeom xmlns:a="http://schemas.openxmlformats.org/drawingml/2006/main" prst="rect">
            <a:avLst/>
          </a:prstGeom>
          <a:gradFill xmlns:a="http://schemas.openxmlformats.org/drawingml/2006/main">
            <a:gsLst>
              <a:gs pos="0">
                <a:srgbClr val="281532"/>
              </a:gs>
              <a:gs pos="100000">
                <a:srgbClr val="3D2055"/>
              </a:gs>
            </a:gsLst>
            <a:lin ang="0"/>
          </a:gradFill>
          <a:ln xmlns:a="http://schemas.openxmlformats.org/drawingml/2006/main" w="0">
            <a:noFill/>
            <a:prstDash val="solid"/>
          </a:ln>
        </p:spPr>
      </p:sp>
      <p:sp>
        <p:nvSpPr>
          <p:cNvPr id="2" name="closing-orbit">
            <a:extLst xmlns:a="http://schemas.openxmlformats.org/drawingml/2006/main">
              <a:ext uri="{FF2B5EF4-FFF2-40B4-BE49-F238E27FC236}">
                <a16:creationId xmlns:a16="http://schemas.microsoft.com/office/drawing/2014/main" id="{90C03724-49B9-46B4-A6CA-90DB50D7C23F}"/>
              </a:ext>
            </a:extLst>
          </p:cNvPr>
          <p:cNvSpPr>
            <a:spLocks xmlns:a="http://schemas.openxmlformats.org/drawingml/2006/main" noGrp="1"/>
          </p:cNvSpPr>
          <p:nvPr/>
        </p:nvSpPr>
        <p:spPr>
          <a:xfrm xmlns:a="http://schemas.openxmlformats.org/drawingml/2006/main">
            <a:off x="3905250" y="781050"/>
            <a:ext cx="2762250" cy="2762250"/>
          </a:xfrm>
          <a:prstGeom xmlns:a="http://schemas.openxmlformats.org/drawingml/2006/main" prst="ellipse">
            <a:avLst/>
          </a:prstGeom>
          <a:gradFill xmlns:a="http://schemas.openxmlformats.org/drawingml/2006/main">
            <a:gsLst>
              <a:gs pos="0">
                <a:srgbClr val="AEE8CE">
                  <a:alpha val="30000"/>
                </a:srgbClr>
              </a:gs>
              <a:gs pos="72000">
                <a:srgbClr val="AEE8CE">
                  <a:alpha val="0"/>
                </a:srgbClr>
              </a:gs>
            </a:gsLst>
            <a:path path="shape"/>
          </a:gradFill>
          <a:ln xmlns:a="http://schemas.openxmlformats.org/drawingml/2006/main" w="0">
            <a:noFill/>
            <a:prstDash val="solid"/>
          </a:ln>
        </p:spPr>
      </p:sp>
      <p:sp>
        <p:nvSpPr>
          <p:cNvPr id="3" name="closing-brand-mark">
            <a:extLst xmlns:a="http://schemas.openxmlformats.org/drawingml/2006/main">
              <a:ext uri="{FF2B5EF4-FFF2-40B4-BE49-F238E27FC236}">
                <a16:creationId xmlns:a16="http://schemas.microsoft.com/office/drawing/2014/main" id="{79567B15-D2CC-467E-992E-7C6010176C43}"/>
              </a:ext>
            </a:extLst>
          </p:cNvPr>
          <p:cNvSpPr>
            <a:spLocks xmlns:a="http://schemas.openxmlformats.org/drawingml/2006/main" noGrp="1"/>
          </p:cNvSpPr>
          <p:nvPr/>
        </p:nvSpPr>
        <p:spPr>
          <a:xfrm xmlns:a="http://schemas.openxmlformats.org/drawingml/2006/main">
            <a:off x="609600" y="609600"/>
            <a:ext cx="400050" cy="47625"/>
          </a:xfrm>
          <a:prstGeom xmlns:a="http://schemas.openxmlformats.org/drawingml/2006/main" prst="roundRect">
            <a:avLst>
              <a:gd name="adj" fmla="val 50000"/>
            </a:avLst>
          </a:prstGeom>
          <a:solidFill xmlns:a="http://schemas.openxmlformats.org/drawingml/2006/main">
            <a:srgbClr val="AEE8CE"/>
          </a:solidFill>
          <a:ln xmlns:a="http://schemas.openxmlformats.org/drawingml/2006/main" w="0">
            <a:noFill/>
            <a:prstDash val="solid"/>
          </a:ln>
        </p:spPr>
      </p:sp>
      <p:sp>
        <p:nvSpPr>
          <p:cNvPr id="4" name="">
            <a:extLst xmlns:a="http://schemas.openxmlformats.org/drawingml/2006/main">
              <a:ext uri="{FF2B5EF4-FFF2-40B4-BE49-F238E27FC236}">
                <a16:creationId xmlns:a16="http://schemas.microsoft.com/office/drawing/2014/main" id="{F350E4E7-402B-4123-9423-FB66E3AC2099}"/>
              </a:ext>
            </a:extLst>
          </p:cNvPr>
          <p:cNvSpPr>
            <a:spLocks xmlns:a="http://schemas.openxmlformats.org/drawingml/2006/main" noGrp="1"/>
          </p:cNvSpPr>
          <p:nvPr/>
        </p:nvSpPr>
        <p:spPr>
          <a:xfrm xmlns:a="http://schemas.openxmlformats.org/drawingml/2006/main">
            <a:off x="609600" y="838200"/>
            <a:ext cx="4000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1">
                <a:solidFill>
                  <a:srgbClr val="FFFFFF"/>
                </a:solidFill>
                <a:latin typeface="Avenir Next"/>
                <a:ea typeface="Avenir Next"/>
                <a:cs typeface="Avenir Next"/>
              </a:defRPr>
            </a:defPPr>
          </a:lstStyle>
          <a:p xmlns:a="http://schemas.openxmlformats.org/drawingml/2006/main">
            <a:pPr algn="l">
              <a:defRPr sz="1125" b="1">
                <a:solidFill>
                  <a:srgbClr val="FFFFFF"/>
                </a:solidFill>
                <a:latin typeface="Avenir Next"/>
                <a:ea typeface="Avenir Next"/>
                <a:cs typeface="Avenir Next"/>
              </a:defRPr>
            </a:pPr>
            <a:r>
              <a:rPr sz="1125" b="1">
                <a:solidFill>
                  <a:srgbClr val="FFFFFF"/>
                </a:solidFill>
                <a:latin typeface="Avenir Next"/>
                <a:ea typeface="Avenir Next"/>
                <a:cs typeface="Avenir Next"/>
              </a:rPr>
              <a:t>BEYOND CODE 2027</a:t>
            </a:r>
          </a:p>
        </p:txBody>
      </p:sp>
      <p:sp>
        <p:nvSpPr>
          <p:cNvPr id="5" name="">
            <a:extLst xmlns:a="http://schemas.openxmlformats.org/drawingml/2006/main">
              <a:ext uri="{FF2B5EF4-FFF2-40B4-BE49-F238E27FC236}">
                <a16:creationId xmlns:a16="http://schemas.microsoft.com/office/drawing/2014/main" id="{D0C83145-2D30-4AB7-9B72-59DD520D69D1}"/>
              </a:ext>
            </a:extLst>
          </p:cNvPr>
          <p:cNvSpPr>
            <a:spLocks xmlns:a="http://schemas.openxmlformats.org/drawingml/2006/main" noGrp="1"/>
          </p:cNvSpPr>
          <p:nvPr/>
        </p:nvSpPr>
        <p:spPr>
          <a:xfrm xmlns:a="http://schemas.openxmlformats.org/drawingml/2006/main">
            <a:off x="609600" y="1733550"/>
            <a:ext cx="457200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3600" b="1">
                <a:solidFill>
                  <a:srgbClr val="FFFFFF"/>
                </a:solidFill>
                <a:latin typeface="Avenir Next"/>
                <a:ea typeface="Avenir Next"/>
                <a:cs typeface="Avenir Next"/>
              </a:defRPr>
            </a:defPPr>
          </a:lstStyle>
          <a:p xmlns:a="http://schemas.openxmlformats.org/drawingml/2006/main">
            <a:pPr algn="l">
              <a:defRPr sz="3600" b="1">
                <a:solidFill>
                  <a:srgbClr val="FFFFFF"/>
                </a:solidFill>
                <a:latin typeface="Avenir Next"/>
                <a:ea typeface="Avenir Next"/>
                <a:cs typeface="Avenir Next"/>
              </a:defRPr>
            </a:pPr>
            <a:r>
              <a:rPr sz="3600" b="1">
                <a:solidFill>
                  <a:srgbClr val="FFFFFF"/>
                </a:solidFill>
                <a:latin typeface="Avenir Next"/>
                <a:ea typeface="Avenir Next"/>
                <a:cs typeface="Avenir Next"/>
              </a:rPr>
              <a:t>Bring your</a:t>
            </a:r>
          </a:p>
          <a:p xmlns:a="http://schemas.openxmlformats.org/drawingml/2006/main">
            <a:pPr algn="l">
              <a:defRPr sz="3600" b="1">
                <a:solidFill>
                  <a:srgbClr val="FFFFFF"/>
                </a:solidFill>
                <a:latin typeface="Avenir Next"/>
                <a:ea typeface="Avenir Next"/>
                <a:cs typeface="Avenir Next"/>
              </a:defRPr>
            </a:pPr>
            <a:r>
              <a:rPr sz="3600" b="1">
                <a:solidFill>
                  <a:srgbClr val="FFFFFF"/>
                </a:solidFill>
                <a:latin typeface="Avenir Next"/>
                <a:ea typeface="Avenir Next"/>
                <a:cs typeface="Avenir Next"/>
              </a:rPr>
              <a:t>experience to</a:t>
            </a:r>
          </a:p>
          <a:p xmlns:a="http://schemas.openxmlformats.org/drawingml/2006/main">
            <a:pPr algn="l">
              <a:defRPr sz="3600" b="1">
                <a:solidFill>
                  <a:srgbClr val="FFFFFF"/>
                </a:solidFill>
                <a:latin typeface="Avenir Next"/>
                <a:ea typeface="Avenir Next"/>
                <a:cs typeface="Avenir Next"/>
              </a:defRPr>
            </a:pPr>
            <a:r>
              <a:rPr sz="3600" b="1">
                <a:solidFill>
                  <a:srgbClr val="FFFFFF"/>
                </a:solidFill>
                <a:latin typeface="Avenir Next"/>
                <a:ea typeface="Avenir Next"/>
                <a:cs typeface="Avenir Next"/>
              </a:rPr>
              <a:t>the room.</a:t>
            </a:r>
          </a:p>
        </p:txBody>
      </p:sp>
      <p:sp>
        <p:nvSpPr>
          <p:cNvPr id="6" name="">
            <a:extLst xmlns:a="http://schemas.openxmlformats.org/drawingml/2006/main">
              <a:ext uri="{FF2B5EF4-FFF2-40B4-BE49-F238E27FC236}">
                <a16:creationId xmlns:a16="http://schemas.microsoft.com/office/drawing/2014/main" id="{A7840B1C-D42C-4543-8C15-68512D47FEA1}"/>
              </a:ext>
            </a:extLst>
          </p:cNvPr>
          <p:cNvSpPr>
            <a:spLocks xmlns:a="http://schemas.openxmlformats.org/drawingml/2006/main" noGrp="1"/>
          </p:cNvSpPr>
          <p:nvPr/>
        </p:nvSpPr>
        <p:spPr>
          <a:xfrm xmlns:a="http://schemas.openxmlformats.org/drawingml/2006/main">
            <a:off x="628650" y="4495800"/>
            <a:ext cx="3714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350" b="1">
                <a:solidFill>
                  <a:srgbClr val="AEE8CE"/>
                </a:solidFill>
                <a:latin typeface="Avenir Next"/>
                <a:ea typeface="Avenir Next"/>
                <a:cs typeface="Avenir Next"/>
              </a:defRPr>
            </a:defPPr>
          </a:lstStyle>
          <a:p xmlns:a="http://schemas.openxmlformats.org/drawingml/2006/main">
            <a:pPr algn="l">
              <a:defRPr sz="1350" b="1">
                <a:solidFill>
                  <a:srgbClr val="AEE8CE"/>
                </a:solidFill>
                <a:latin typeface="Avenir Next"/>
                <a:ea typeface="Avenir Next"/>
                <a:cs typeface="Avenir Next"/>
              </a:defRPr>
            </a:pPr>
            <a:r>
              <a:rPr sz="1350" b="1">
                <a:solidFill>
                  <a:srgbClr val="AEE8CE"/>
                </a:solidFill>
                <a:latin typeface="Avenir Next"/>
                <a:ea typeface="Avenir Next"/>
                <a:cs typeface="Avenir Next"/>
              </a:rPr>
              <a:t>Sam  ·  Convener</a:t>
            </a:r>
          </a:p>
        </p:txBody>
      </p:sp>
      <p:sp>
        <p:nvSpPr>
          <p:cNvPr id="7" name="">
            <a:extLst xmlns:a="http://schemas.openxmlformats.org/drawingml/2006/main">
              <a:ext uri="{FF2B5EF4-FFF2-40B4-BE49-F238E27FC236}">
                <a16:creationId xmlns:a16="http://schemas.microsoft.com/office/drawing/2014/main" id="{9D530074-211B-4CFF-843A-6493DC65759F}"/>
              </a:ext>
            </a:extLst>
          </p:cNvPr>
          <p:cNvSpPr>
            <a:spLocks xmlns:a="http://schemas.openxmlformats.org/drawingml/2006/main" noGrp="1"/>
          </p:cNvSpPr>
          <p:nvPr/>
        </p:nvSpPr>
        <p:spPr>
          <a:xfrm xmlns:a="http://schemas.openxmlformats.org/drawingml/2006/main">
            <a:off x="628650" y="4905375"/>
            <a:ext cx="3810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125" b="0">
                <a:solidFill>
                  <a:srgbClr val="FFFFFF">
                    <a:alpha val="76000"/>
                  </a:srgbClr>
                </a:solidFill>
                <a:latin typeface="Avenir Next"/>
                <a:ea typeface="Avenir Next"/>
                <a:cs typeface="Avenir Next"/>
              </a:defRPr>
            </a:defPPr>
          </a:lstStyle>
          <a:p xmlns:a="http://schemas.openxmlformats.org/drawingml/2006/main">
            <a:pPr algn="l">
              <a:defRPr sz="1125" b="0">
                <a:solidFill>
                  <a:srgbClr val="FFFFFF">
                    <a:alpha val="76000"/>
                  </a:srgbClr>
                </a:solidFill>
                <a:latin typeface="Avenir Next"/>
                <a:ea typeface="Avenir Next"/>
                <a:cs typeface="Avenir Next"/>
              </a:defRPr>
            </a:pPr>
            <a:r>
              <a:rPr sz="1125" b="0">
                <a:solidFill>
                  <a:srgbClr val="FFFFFF">
                    <a:alpha val="76000"/>
                  </a:srgbClr>
                </a:solidFill>
                <a:latin typeface="Avenir Next"/>
                <a:ea typeface="Avenir Next"/>
                <a:cs typeface="Avenir Next"/>
              </a:rPr>
              <a:t>Saturday 27 March 2027  ·  Ibadan</a:t>
            </a:r>
          </a:p>
        </p:txBody>
      </p:sp>
      <p:sp>
        <p:nvSpPr>
          <p:cNvPr id="8" name="reply-panel">
            <a:extLst xmlns:a="http://schemas.openxmlformats.org/drawingml/2006/main">
              <a:ext uri="{FF2B5EF4-FFF2-40B4-BE49-F238E27FC236}">
                <a16:creationId xmlns:a16="http://schemas.microsoft.com/office/drawing/2014/main" id="{BF35A193-ED10-43BB-B3A0-7D2589B01DBF}"/>
              </a:ext>
            </a:extLst>
          </p:cNvPr>
          <p:cNvSpPr>
            <a:spLocks xmlns:a="http://schemas.openxmlformats.org/drawingml/2006/main" noGrp="1"/>
          </p:cNvSpPr>
          <p:nvPr/>
        </p:nvSpPr>
        <p:spPr>
          <a:xfrm xmlns:a="http://schemas.openxmlformats.org/drawingml/2006/main">
            <a:off x="5486400" y="800100"/>
            <a:ext cx="6096000" cy="5181600"/>
          </a:xfrm>
          <a:prstGeom xmlns:a="http://schemas.openxmlformats.org/drawingml/2006/main" prst="roundRect">
            <a:avLst>
              <a:gd name="adj" fmla="val 4044"/>
            </a:avLst>
          </a:prstGeom>
          <a:solidFill xmlns:a="http://schemas.openxmlformats.org/drawingml/2006/main">
            <a:srgbClr val="FFFFFF"/>
          </a:solidFill>
          <a:ln xmlns:a="http://schemas.openxmlformats.org/drawingml/2006/main" w="0">
            <a:noFill/>
            <a:prstDash val="solid"/>
          </a:ln>
        </p:spPr>
      </p:sp>
      <p:sp>
        <p:nvSpPr>
          <p:cNvPr id="9" name="pill-to-confirm-your-session">
            <a:extLst xmlns:a="http://schemas.openxmlformats.org/drawingml/2006/main">
              <a:ext uri="{FF2B5EF4-FFF2-40B4-BE49-F238E27FC236}">
                <a16:creationId xmlns:a16="http://schemas.microsoft.com/office/drawing/2014/main" id="{928A3852-93BC-4BB6-88A9-177C3C9C30EE}"/>
              </a:ext>
            </a:extLst>
          </p:cNvPr>
          <p:cNvSpPr>
            <a:spLocks xmlns:a="http://schemas.openxmlformats.org/drawingml/2006/main" noGrp="1"/>
          </p:cNvSpPr>
          <p:nvPr/>
        </p:nvSpPr>
        <p:spPr>
          <a:xfrm xmlns:a="http://schemas.openxmlformats.org/drawingml/2006/main">
            <a:off x="5810250" y="1114425"/>
            <a:ext cx="2228850" cy="285750"/>
          </a:xfrm>
          <a:prstGeom xmlns:a="http://schemas.openxmlformats.org/drawingml/2006/main" prst="roundRect">
            <a:avLst>
              <a:gd name="adj" fmla="val 50000"/>
            </a:avLst>
          </a:prstGeom>
          <a:solidFill xmlns:a="http://schemas.openxmlformats.org/drawingml/2006/main">
            <a:srgbClr val="F0EAF6"/>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222795FE-F675-462F-954B-35C437FED60A}"/>
              </a:ext>
            </a:extLst>
          </p:cNvPr>
          <p:cNvSpPr>
            <a:spLocks xmlns:a="http://schemas.openxmlformats.org/drawingml/2006/main" noGrp="1"/>
          </p:cNvSpPr>
          <p:nvPr/>
        </p:nvSpPr>
        <p:spPr>
          <a:xfrm xmlns:a="http://schemas.openxmlformats.org/drawingml/2006/main">
            <a:off x="5924550" y="1181100"/>
            <a:ext cx="20002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900" b="1">
                <a:solidFill>
                  <a:srgbClr val="7354A4"/>
                </a:solidFill>
                <a:latin typeface="Avenir Next"/>
                <a:ea typeface="Avenir Next"/>
                <a:cs typeface="Avenir Next"/>
              </a:defRPr>
            </a:defPPr>
          </a:lstStyle>
          <a:p xmlns:a="http://schemas.openxmlformats.org/drawingml/2006/main">
            <a:pPr algn="l">
              <a:defRPr sz="900" b="1">
                <a:solidFill>
                  <a:srgbClr val="7354A4"/>
                </a:solidFill>
                <a:latin typeface="Avenir Next"/>
                <a:ea typeface="Avenir Next"/>
                <a:cs typeface="Avenir Next"/>
              </a:defRPr>
            </a:pPr>
            <a:r>
              <a:rPr sz="900" b="1">
                <a:solidFill>
                  <a:srgbClr val="7354A4"/>
                </a:solidFill>
                <a:latin typeface="Avenir Next"/>
                <a:ea typeface="Avenir Next"/>
                <a:cs typeface="Avenir Next"/>
              </a:rPr>
              <a:t>TO CONFIRM YOUR SESSION</a:t>
            </a:r>
          </a:p>
        </p:txBody>
      </p:sp>
      <p:sp>
        <p:nvSpPr>
          <p:cNvPr id="11" name="">
            <a:extLst xmlns:a="http://schemas.openxmlformats.org/drawingml/2006/main">
              <a:ext uri="{FF2B5EF4-FFF2-40B4-BE49-F238E27FC236}">
                <a16:creationId xmlns:a16="http://schemas.microsoft.com/office/drawing/2014/main" id="{25D94030-2562-4226-A7D3-113393B554EE}"/>
              </a:ext>
            </a:extLst>
          </p:cNvPr>
          <p:cNvSpPr>
            <a:spLocks xmlns:a="http://schemas.openxmlformats.org/drawingml/2006/main" noGrp="1"/>
          </p:cNvSpPr>
          <p:nvPr/>
        </p:nvSpPr>
        <p:spPr>
          <a:xfrm xmlns:a="http://schemas.openxmlformats.org/drawingml/2006/main">
            <a:off x="5810250" y="1657350"/>
            <a:ext cx="5238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250" b="1">
                <a:solidFill>
                  <a:srgbClr val="261A2C"/>
                </a:solidFill>
                <a:latin typeface="Avenir Next"/>
                <a:ea typeface="Avenir Next"/>
                <a:cs typeface="Avenir Next"/>
              </a:defRPr>
            </a:defPPr>
          </a:lstStyle>
          <a:p xmlns:a="http://schemas.openxmlformats.org/drawingml/2006/main">
            <a:pPr algn="l">
              <a:defRPr sz="2250" b="1">
                <a:solidFill>
                  <a:srgbClr val="261A2C"/>
                </a:solidFill>
                <a:latin typeface="Avenir Next"/>
                <a:ea typeface="Avenir Next"/>
                <a:cs typeface="Avenir Next"/>
              </a:defRPr>
            </a:pPr>
            <a:r>
              <a:rPr sz="2250" b="1">
                <a:solidFill>
                  <a:srgbClr val="261A2C"/>
                </a:solidFill>
                <a:latin typeface="Avenir Next"/>
                <a:ea typeface="Avenir Next"/>
                <a:cs typeface="Avenir Next"/>
              </a:rPr>
              <a:t>Reply with four things</a:t>
            </a:r>
          </a:p>
        </p:txBody>
      </p:sp>
      <p:sp>
        <p:nvSpPr>
          <p:cNvPr id="12" name="reply-num-bg-1">
            <a:extLst xmlns:a="http://schemas.openxmlformats.org/drawingml/2006/main">
              <a:ext uri="{FF2B5EF4-FFF2-40B4-BE49-F238E27FC236}">
                <a16:creationId xmlns:a16="http://schemas.microsoft.com/office/drawing/2014/main" id="{0C50B502-8221-4E71-BC1A-0D94A52718B7}"/>
              </a:ext>
            </a:extLst>
          </p:cNvPr>
          <p:cNvSpPr>
            <a:spLocks xmlns:a="http://schemas.openxmlformats.org/drawingml/2006/main" noGrp="1"/>
          </p:cNvSpPr>
          <p:nvPr/>
        </p:nvSpPr>
        <p:spPr>
          <a:xfrm xmlns:a="http://schemas.openxmlformats.org/drawingml/2006/main">
            <a:off x="5829300" y="2314575"/>
            <a:ext cx="333375" cy="333375"/>
          </a:xfrm>
          <a:prstGeom xmlns:a="http://schemas.openxmlformats.org/drawingml/2006/main" prst="roundRect">
            <a:avLst>
              <a:gd name="adj" fmla="val 28571"/>
            </a:avLst>
          </a:prstGeom>
          <a:solidFill xmlns:a="http://schemas.openxmlformats.org/drawingml/2006/main">
            <a:srgbClr val="F0EAF6"/>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9B4D736-5AF5-41DF-8626-86B467D601CF}"/>
              </a:ext>
            </a:extLst>
          </p:cNvPr>
          <p:cNvSpPr>
            <a:spLocks xmlns:a="http://schemas.openxmlformats.org/drawingml/2006/main" noGrp="1"/>
          </p:cNvSpPr>
          <p:nvPr/>
        </p:nvSpPr>
        <p:spPr>
          <a:xfrm xmlns:a="http://schemas.openxmlformats.org/drawingml/2006/main">
            <a:off x="5905500" y="2400300"/>
            <a:ext cx="2095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750" b="1">
                <a:solidFill>
                  <a:srgbClr val="7354A4"/>
                </a:solidFill>
                <a:latin typeface="Avenir Next"/>
                <a:ea typeface="Avenir Next"/>
                <a:cs typeface="Avenir Next"/>
              </a:defRPr>
            </a:defPPr>
          </a:lstStyle>
          <a:p xmlns:a="http://schemas.openxmlformats.org/drawingml/2006/main">
            <a:pPr algn="l">
              <a:defRPr sz="750" b="1">
                <a:solidFill>
                  <a:srgbClr val="7354A4"/>
                </a:solidFill>
                <a:latin typeface="Avenir Next"/>
                <a:ea typeface="Avenir Next"/>
                <a:cs typeface="Avenir Next"/>
              </a:defRPr>
            </a:pPr>
            <a:r>
              <a:rPr sz="750" b="1">
                <a:solidFill>
                  <a:srgbClr val="7354A4"/>
                </a:solidFill>
                <a:latin typeface="Avenir Next"/>
                <a:ea typeface="Avenir Next"/>
                <a:cs typeface="Avenir Next"/>
              </a:rPr>
              <a:t>01</a:t>
            </a:r>
          </a:p>
        </p:txBody>
      </p:sp>
      <p:sp>
        <p:nvSpPr>
          <p:cNvPr id="14" name="">
            <a:extLst xmlns:a="http://schemas.openxmlformats.org/drawingml/2006/main">
              <a:ext uri="{FF2B5EF4-FFF2-40B4-BE49-F238E27FC236}">
                <a16:creationId xmlns:a16="http://schemas.microsoft.com/office/drawing/2014/main" id="{E247775B-8543-4260-8488-7EAE5BD6FDFD}"/>
              </a:ext>
            </a:extLst>
          </p:cNvPr>
          <p:cNvSpPr>
            <a:spLocks xmlns:a="http://schemas.openxmlformats.org/drawingml/2006/main" noGrp="1"/>
          </p:cNvSpPr>
          <p:nvPr/>
        </p:nvSpPr>
        <p:spPr>
          <a:xfrm xmlns:a="http://schemas.openxmlformats.org/drawingml/2006/main">
            <a:off x="6343650" y="2362200"/>
            <a:ext cx="4705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261A2C"/>
                </a:solidFill>
                <a:latin typeface="Avenir Next"/>
                <a:ea typeface="Avenir Next"/>
                <a:cs typeface="Avenir Next"/>
              </a:defRPr>
            </a:defPPr>
          </a:lstStyle>
          <a:p xmlns:a="http://schemas.openxmlformats.org/drawingml/2006/main">
            <a:pPr algn="l">
              <a:defRPr sz="1275" b="1">
                <a:solidFill>
                  <a:srgbClr val="261A2C"/>
                </a:solidFill>
                <a:latin typeface="Avenir Next"/>
                <a:ea typeface="Avenir Next"/>
                <a:cs typeface="Avenir Next"/>
              </a:defRPr>
            </a:pPr>
            <a:r>
              <a:rPr sz="1275" b="1">
                <a:solidFill>
                  <a:srgbClr val="261A2C"/>
                </a:solidFill>
                <a:latin typeface="Avenir Next"/>
                <a:ea typeface="Avenir Next"/>
                <a:cs typeface="Avenir Next"/>
              </a:rPr>
              <a:t>A short bio (about 80 words)</a:t>
            </a:r>
          </a:p>
        </p:txBody>
      </p:sp>
      <p:sp>
        <p:nvSpPr>
          <p:cNvPr id="15" name="reply-num-bg-2">
            <a:extLst xmlns:a="http://schemas.openxmlformats.org/drawingml/2006/main">
              <a:ext uri="{FF2B5EF4-FFF2-40B4-BE49-F238E27FC236}">
                <a16:creationId xmlns:a16="http://schemas.microsoft.com/office/drawing/2014/main" id="{BC5599CE-74EE-4646-830D-7CB8B156A7C0}"/>
              </a:ext>
            </a:extLst>
          </p:cNvPr>
          <p:cNvSpPr>
            <a:spLocks xmlns:a="http://schemas.openxmlformats.org/drawingml/2006/main" noGrp="1"/>
          </p:cNvSpPr>
          <p:nvPr/>
        </p:nvSpPr>
        <p:spPr>
          <a:xfrm xmlns:a="http://schemas.openxmlformats.org/drawingml/2006/main">
            <a:off x="5829300" y="2952750"/>
            <a:ext cx="333375" cy="333375"/>
          </a:xfrm>
          <a:prstGeom xmlns:a="http://schemas.openxmlformats.org/drawingml/2006/main" prst="roundRect">
            <a:avLst>
              <a:gd name="adj" fmla="val 28571"/>
            </a:avLst>
          </a:prstGeom>
          <a:solidFill xmlns:a="http://schemas.openxmlformats.org/drawingml/2006/main">
            <a:srgbClr val="F0EAF6"/>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7233DCA7-0FFD-43B9-94CF-35220D9315AF}"/>
              </a:ext>
            </a:extLst>
          </p:cNvPr>
          <p:cNvSpPr>
            <a:spLocks xmlns:a="http://schemas.openxmlformats.org/drawingml/2006/main" noGrp="1"/>
          </p:cNvSpPr>
          <p:nvPr/>
        </p:nvSpPr>
        <p:spPr>
          <a:xfrm xmlns:a="http://schemas.openxmlformats.org/drawingml/2006/main">
            <a:off x="5905500" y="3038475"/>
            <a:ext cx="2095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750" b="1">
                <a:solidFill>
                  <a:srgbClr val="7354A4"/>
                </a:solidFill>
                <a:latin typeface="Avenir Next"/>
                <a:ea typeface="Avenir Next"/>
                <a:cs typeface="Avenir Next"/>
              </a:defRPr>
            </a:defPPr>
          </a:lstStyle>
          <a:p xmlns:a="http://schemas.openxmlformats.org/drawingml/2006/main">
            <a:pPr algn="l">
              <a:defRPr sz="750" b="1">
                <a:solidFill>
                  <a:srgbClr val="7354A4"/>
                </a:solidFill>
                <a:latin typeface="Avenir Next"/>
                <a:ea typeface="Avenir Next"/>
                <a:cs typeface="Avenir Next"/>
              </a:defRPr>
            </a:pPr>
            <a:r>
              <a:rPr sz="750" b="1">
                <a:solidFill>
                  <a:srgbClr val="7354A4"/>
                </a:solidFill>
                <a:latin typeface="Avenir Next"/>
                <a:ea typeface="Avenir Next"/>
                <a:cs typeface="Avenir Next"/>
              </a:rPr>
              <a:t>02</a:t>
            </a:r>
          </a:p>
        </p:txBody>
      </p:sp>
      <p:sp>
        <p:nvSpPr>
          <p:cNvPr id="17" name="">
            <a:extLst xmlns:a="http://schemas.openxmlformats.org/drawingml/2006/main">
              <a:ext uri="{FF2B5EF4-FFF2-40B4-BE49-F238E27FC236}">
                <a16:creationId xmlns:a16="http://schemas.microsoft.com/office/drawing/2014/main" id="{479012F6-BBFB-4072-986B-CB70A8A1F6AA}"/>
              </a:ext>
            </a:extLst>
          </p:cNvPr>
          <p:cNvSpPr>
            <a:spLocks xmlns:a="http://schemas.openxmlformats.org/drawingml/2006/main" noGrp="1"/>
          </p:cNvSpPr>
          <p:nvPr/>
        </p:nvSpPr>
        <p:spPr>
          <a:xfrm xmlns:a="http://schemas.openxmlformats.org/drawingml/2006/main">
            <a:off x="6343650" y="3000375"/>
            <a:ext cx="4705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261A2C"/>
                </a:solidFill>
                <a:latin typeface="Avenir Next"/>
                <a:ea typeface="Avenir Next"/>
                <a:cs typeface="Avenir Next"/>
              </a:defRPr>
            </a:defPPr>
          </a:lstStyle>
          <a:p xmlns:a="http://schemas.openxmlformats.org/drawingml/2006/main">
            <a:pPr algn="l">
              <a:defRPr sz="1275" b="1">
                <a:solidFill>
                  <a:srgbClr val="261A2C"/>
                </a:solidFill>
                <a:latin typeface="Avenir Next"/>
                <a:ea typeface="Avenir Next"/>
                <a:cs typeface="Avenir Next"/>
              </a:defRPr>
            </a:pPr>
            <a:r>
              <a:rPr sz="1275" b="1">
                <a:solidFill>
                  <a:srgbClr val="261A2C"/>
                </a:solidFill>
                <a:latin typeface="Avenir Next"/>
                <a:ea typeface="Avenir Next"/>
                <a:cs typeface="Avenir Next"/>
              </a:rPr>
              <a:t>A high-resolution headshot</a:t>
            </a:r>
          </a:p>
        </p:txBody>
      </p:sp>
      <p:sp>
        <p:nvSpPr>
          <p:cNvPr id="18" name="reply-num-bg-3">
            <a:extLst xmlns:a="http://schemas.openxmlformats.org/drawingml/2006/main">
              <a:ext uri="{FF2B5EF4-FFF2-40B4-BE49-F238E27FC236}">
                <a16:creationId xmlns:a16="http://schemas.microsoft.com/office/drawing/2014/main" id="{7B895BD7-12CF-45A8-9D84-B5FAFC36A120}"/>
              </a:ext>
            </a:extLst>
          </p:cNvPr>
          <p:cNvSpPr>
            <a:spLocks xmlns:a="http://schemas.openxmlformats.org/drawingml/2006/main" noGrp="1"/>
          </p:cNvSpPr>
          <p:nvPr/>
        </p:nvSpPr>
        <p:spPr>
          <a:xfrm xmlns:a="http://schemas.openxmlformats.org/drawingml/2006/main">
            <a:off x="5829300" y="3590925"/>
            <a:ext cx="333375" cy="333375"/>
          </a:xfrm>
          <a:prstGeom xmlns:a="http://schemas.openxmlformats.org/drawingml/2006/main" prst="roundRect">
            <a:avLst>
              <a:gd name="adj" fmla="val 28571"/>
            </a:avLst>
          </a:prstGeom>
          <a:solidFill xmlns:a="http://schemas.openxmlformats.org/drawingml/2006/main">
            <a:srgbClr val="F0EAF6"/>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0918F5A5-35E2-46FD-B038-095B47E109E2}"/>
              </a:ext>
            </a:extLst>
          </p:cNvPr>
          <p:cNvSpPr>
            <a:spLocks xmlns:a="http://schemas.openxmlformats.org/drawingml/2006/main" noGrp="1"/>
          </p:cNvSpPr>
          <p:nvPr/>
        </p:nvSpPr>
        <p:spPr>
          <a:xfrm xmlns:a="http://schemas.openxmlformats.org/drawingml/2006/main">
            <a:off x="5905500" y="3676650"/>
            <a:ext cx="2095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750" b="1">
                <a:solidFill>
                  <a:srgbClr val="7354A4"/>
                </a:solidFill>
                <a:latin typeface="Avenir Next"/>
                <a:ea typeface="Avenir Next"/>
                <a:cs typeface="Avenir Next"/>
              </a:defRPr>
            </a:defPPr>
          </a:lstStyle>
          <a:p xmlns:a="http://schemas.openxmlformats.org/drawingml/2006/main">
            <a:pPr algn="l">
              <a:defRPr sz="750" b="1">
                <a:solidFill>
                  <a:srgbClr val="7354A4"/>
                </a:solidFill>
                <a:latin typeface="Avenir Next"/>
                <a:ea typeface="Avenir Next"/>
                <a:cs typeface="Avenir Next"/>
              </a:defRPr>
            </a:pPr>
            <a:r>
              <a:rPr sz="750" b="1">
                <a:solidFill>
                  <a:srgbClr val="7354A4"/>
                </a:solidFill>
                <a:latin typeface="Avenir Next"/>
                <a:ea typeface="Avenir Next"/>
                <a:cs typeface="Avenir Next"/>
              </a:rPr>
              <a:t>03</a:t>
            </a:r>
          </a:p>
        </p:txBody>
      </p:sp>
      <p:sp>
        <p:nvSpPr>
          <p:cNvPr id="20" name="">
            <a:extLst xmlns:a="http://schemas.openxmlformats.org/drawingml/2006/main">
              <a:ext uri="{FF2B5EF4-FFF2-40B4-BE49-F238E27FC236}">
                <a16:creationId xmlns:a16="http://schemas.microsoft.com/office/drawing/2014/main" id="{32C6786C-09FC-4201-97D6-C90B4D99025B}"/>
              </a:ext>
            </a:extLst>
          </p:cNvPr>
          <p:cNvSpPr>
            <a:spLocks xmlns:a="http://schemas.openxmlformats.org/drawingml/2006/main" noGrp="1"/>
          </p:cNvSpPr>
          <p:nvPr/>
        </p:nvSpPr>
        <p:spPr>
          <a:xfrm xmlns:a="http://schemas.openxmlformats.org/drawingml/2006/main">
            <a:off x="6343650" y="3638550"/>
            <a:ext cx="4705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261A2C"/>
                </a:solidFill>
                <a:latin typeface="Avenir Next"/>
                <a:ea typeface="Avenir Next"/>
                <a:cs typeface="Avenir Next"/>
              </a:defRPr>
            </a:defPPr>
          </a:lstStyle>
          <a:p xmlns:a="http://schemas.openxmlformats.org/drawingml/2006/main">
            <a:pPr algn="l">
              <a:defRPr sz="1275" b="1">
                <a:solidFill>
                  <a:srgbClr val="261A2C"/>
                </a:solidFill>
                <a:latin typeface="Avenir Next"/>
                <a:ea typeface="Avenir Next"/>
                <a:cs typeface="Avenir Next"/>
              </a:defRPr>
            </a:pPr>
            <a:r>
              <a:rPr sz="1275" b="1">
                <a:solidFill>
                  <a:srgbClr val="261A2C"/>
                </a:solidFill>
                <a:latin typeface="Avenir Next"/>
                <a:ea typeface="Avenir Next"/>
                <a:cs typeface="Avenir Next"/>
              </a:rPr>
              <a:t>Your session angle</a:t>
            </a:r>
          </a:p>
        </p:txBody>
      </p:sp>
      <p:sp>
        <p:nvSpPr>
          <p:cNvPr id="21" name="reply-num-bg-4">
            <a:extLst xmlns:a="http://schemas.openxmlformats.org/drawingml/2006/main">
              <a:ext uri="{FF2B5EF4-FFF2-40B4-BE49-F238E27FC236}">
                <a16:creationId xmlns:a16="http://schemas.microsoft.com/office/drawing/2014/main" id="{6E793B52-3328-41E3-9688-F561BAF8C217}"/>
              </a:ext>
            </a:extLst>
          </p:cNvPr>
          <p:cNvSpPr>
            <a:spLocks xmlns:a="http://schemas.openxmlformats.org/drawingml/2006/main" noGrp="1"/>
          </p:cNvSpPr>
          <p:nvPr/>
        </p:nvSpPr>
        <p:spPr>
          <a:xfrm xmlns:a="http://schemas.openxmlformats.org/drawingml/2006/main">
            <a:off x="5829300" y="4229100"/>
            <a:ext cx="333375" cy="333375"/>
          </a:xfrm>
          <a:prstGeom xmlns:a="http://schemas.openxmlformats.org/drawingml/2006/main" prst="roundRect">
            <a:avLst>
              <a:gd name="adj" fmla="val 28571"/>
            </a:avLst>
          </a:prstGeom>
          <a:solidFill xmlns:a="http://schemas.openxmlformats.org/drawingml/2006/main">
            <a:srgbClr val="DDF3E9"/>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CE49719-BDF2-4DD7-8303-826C67591D29}"/>
              </a:ext>
            </a:extLst>
          </p:cNvPr>
          <p:cNvSpPr>
            <a:spLocks xmlns:a="http://schemas.openxmlformats.org/drawingml/2006/main" noGrp="1"/>
          </p:cNvSpPr>
          <p:nvPr/>
        </p:nvSpPr>
        <p:spPr>
          <a:xfrm xmlns:a="http://schemas.openxmlformats.org/drawingml/2006/main">
            <a:off x="5905500" y="4314825"/>
            <a:ext cx="2095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750" b="1">
                <a:solidFill>
                  <a:srgbClr val="7354A4"/>
                </a:solidFill>
                <a:latin typeface="Avenir Next"/>
                <a:ea typeface="Avenir Next"/>
                <a:cs typeface="Avenir Next"/>
              </a:defRPr>
            </a:defPPr>
          </a:lstStyle>
          <a:p xmlns:a="http://schemas.openxmlformats.org/drawingml/2006/main">
            <a:pPr algn="l">
              <a:defRPr sz="750" b="1">
                <a:solidFill>
                  <a:srgbClr val="7354A4"/>
                </a:solidFill>
                <a:latin typeface="Avenir Next"/>
                <a:ea typeface="Avenir Next"/>
                <a:cs typeface="Avenir Next"/>
              </a:defRPr>
            </a:pPr>
            <a:r>
              <a:rPr sz="750" b="1">
                <a:solidFill>
                  <a:srgbClr val="7354A4"/>
                </a:solidFill>
                <a:latin typeface="Avenir Next"/>
                <a:ea typeface="Avenir Next"/>
                <a:cs typeface="Avenir Next"/>
              </a:rPr>
              <a:t>04</a:t>
            </a:r>
          </a:p>
        </p:txBody>
      </p:sp>
      <p:sp>
        <p:nvSpPr>
          <p:cNvPr id="23" name="">
            <a:extLst xmlns:a="http://schemas.openxmlformats.org/drawingml/2006/main">
              <a:ext uri="{FF2B5EF4-FFF2-40B4-BE49-F238E27FC236}">
                <a16:creationId xmlns:a16="http://schemas.microsoft.com/office/drawing/2014/main" id="{16681F80-587D-4386-B1CA-4BD6BB0BB014}"/>
              </a:ext>
            </a:extLst>
          </p:cNvPr>
          <p:cNvSpPr>
            <a:spLocks xmlns:a="http://schemas.openxmlformats.org/drawingml/2006/main" noGrp="1"/>
          </p:cNvSpPr>
          <p:nvPr/>
        </p:nvSpPr>
        <p:spPr>
          <a:xfrm xmlns:a="http://schemas.openxmlformats.org/drawingml/2006/main">
            <a:off x="6343650" y="4276725"/>
            <a:ext cx="47053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275" b="1">
                <a:solidFill>
                  <a:srgbClr val="261A2C"/>
                </a:solidFill>
                <a:latin typeface="Avenir Next"/>
                <a:ea typeface="Avenir Next"/>
                <a:cs typeface="Avenir Next"/>
              </a:defRPr>
            </a:defPPr>
          </a:lstStyle>
          <a:p xmlns:a="http://schemas.openxmlformats.org/drawingml/2006/main">
            <a:pPr algn="l">
              <a:defRPr sz="1275" b="1">
                <a:solidFill>
                  <a:srgbClr val="261A2C"/>
                </a:solidFill>
                <a:latin typeface="Avenir Next"/>
                <a:ea typeface="Avenir Next"/>
                <a:cs typeface="Avenir Next"/>
              </a:defRPr>
            </a:pPr>
            <a:r>
              <a:rPr sz="1275" b="1">
                <a:solidFill>
                  <a:srgbClr val="261A2C"/>
                </a:solidFill>
                <a:latin typeface="Avenir Next"/>
                <a:ea typeface="Avenir Next"/>
                <a:cs typeface="Avenir Next"/>
              </a:rPr>
              <a:t>Availability for an early-March prep call</a:t>
            </a:r>
          </a:p>
        </p:txBody>
      </p:sp>
      <p:sp>
        <p:nvSpPr>
          <p:cNvPr id="24" name="contact-rule">
            <a:extLst xmlns:a="http://schemas.openxmlformats.org/drawingml/2006/main">
              <a:ext uri="{FF2B5EF4-FFF2-40B4-BE49-F238E27FC236}">
                <a16:creationId xmlns:a16="http://schemas.microsoft.com/office/drawing/2014/main" id="{8D123337-23E0-4240-9D8E-B4AF2785F73F}"/>
              </a:ext>
            </a:extLst>
          </p:cNvPr>
          <p:cNvSpPr>
            <a:spLocks xmlns:a="http://schemas.openxmlformats.org/drawingml/2006/main" noGrp="1"/>
          </p:cNvSpPr>
          <p:nvPr/>
        </p:nvSpPr>
        <p:spPr>
          <a:xfrm xmlns:a="http://schemas.openxmlformats.org/drawingml/2006/main">
            <a:off x="5810250" y="5048250"/>
            <a:ext cx="5410200" cy="9525"/>
          </a:xfrm>
          <a:prstGeom xmlns:a="http://schemas.openxmlformats.org/drawingml/2006/main" prst="rect">
            <a:avLst/>
          </a:prstGeom>
          <a:solidFill xmlns:a="http://schemas.openxmlformats.org/drawingml/2006/main">
            <a:srgbClr val="E7E0EC"/>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C1BC6719-4462-4EF0-9192-E583112C275F}"/>
              </a:ext>
            </a:extLst>
          </p:cNvPr>
          <p:cNvSpPr>
            <a:spLocks xmlns:a="http://schemas.openxmlformats.org/drawingml/2006/main" noGrp="1"/>
          </p:cNvSpPr>
          <p:nvPr/>
        </p:nvSpPr>
        <p:spPr>
          <a:xfrm xmlns:a="http://schemas.openxmlformats.org/drawingml/2006/main">
            <a:off x="5810250" y="525780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1">
                <a:solidFill>
                  <a:srgbClr val="7354A4"/>
                </a:solidFill>
                <a:latin typeface="Avenir Next"/>
                <a:ea typeface="Avenir Next"/>
                <a:cs typeface="Avenir Next"/>
              </a:defRPr>
            </a:defPPr>
          </a:lstStyle>
          <a:p xmlns:a="http://schemas.openxmlformats.org/drawingml/2006/main">
            <a:pPr algn="l">
              <a:defRPr sz="825" b="1">
                <a:solidFill>
                  <a:srgbClr val="7354A4"/>
                </a:solidFill>
                <a:latin typeface="Avenir Next"/>
                <a:ea typeface="Avenir Next"/>
                <a:cs typeface="Avenir Next"/>
              </a:defRPr>
            </a:pPr>
            <a:r>
              <a:rPr sz="825" b="1">
                <a:solidFill>
                  <a:srgbClr val="7354A4"/>
                </a:solidFill>
                <a:latin typeface="Avenir Next"/>
                <a:ea typeface="Avenir Next"/>
                <a:cs typeface="Avenir Next"/>
              </a:rPr>
              <a:t>EMAIL + PHONE / WHATSAPP CONTACT DETAILS TO BE ADDED BEFORE SENDING</a:t>
            </a:r>
          </a:p>
        </p:txBody>
      </p:sp>
      <p:sp>
        <p:nvSpPr>
          <p:cNvPr id="26" name="footer-rule-9">
            <a:extLst xmlns:a="http://schemas.openxmlformats.org/drawingml/2006/main">
              <a:ext uri="{FF2B5EF4-FFF2-40B4-BE49-F238E27FC236}">
                <a16:creationId xmlns:a16="http://schemas.microsoft.com/office/drawing/2014/main" id="{5C1E8ACF-23C6-4356-9201-CFD774319732}"/>
              </a:ext>
            </a:extLst>
          </p:cNvPr>
          <p:cNvSpPr>
            <a:spLocks xmlns:a="http://schemas.openxmlformats.org/drawingml/2006/main" noGrp="1"/>
          </p:cNvSpPr>
          <p:nvPr/>
        </p:nvSpPr>
        <p:spPr>
          <a:xfrm xmlns:a="http://schemas.openxmlformats.org/drawingml/2006/main">
            <a:off x="609600" y="6419850"/>
            <a:ext cx="10972800" cy="9525"/>
          </a:xfrm>
          <a:prstGeom xmlns:a="http://schemas.openxmlformats.org/drawingml/2006/main" prst="rect">
            <a:avLst/>
          </a:prstGeom>
          <a:solidFill xmlns:a="http://schemas.openxmlformats.org/drawingml/2006/main">
            <a:srgbClr val="FFFFFF">
              <a:alpha val="25000"/>
            </a:srgbClr>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888A576A-15CC-405C-9452-6574198D1E8F}"/>
              </a:ext>
            </a:extLst>
          </p:cNvPr>
          <p:cNvSpPr>
            <a:spLocks xmlns:a="http://schemas.openxmlformats.org/drawingml/2006/main" noGrp="1"/>
          </p:cNvSpPr>
          <p:nvPr/>
        </p:nvSpPr>
        <p:spPr>
          <a:xfrm xmlns:a="http://schemas.openxmlformats.org/drawingml/2006/main">
            <a:off x="609600" y="6553200"/>
            <a:ext cx="590550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825" b="1">
                <a:solidFill>
                  <a:srgbClr val="FFFFFF">
                    <a:alpha val="68000"/>
                  </a:srgbClr>
                </a:solidFill>
                <a:latin typeface="Avenir Next"/>
                <a:ea typeface="Avenir Next"/>
                <a:cs typeface="Avenir Next"/>
              </a:defRPr>
            </a:defPPr>
          </a:lstStyle>
          <a:p xmlns:a="http://schemas.openxmlformats.org/drawingml/2006/main">
            <a:pPr algn="l">
              <a:defRPr sz="825" b="1">
                <a:solidFill>
                  <a:srgbClr val="FFFFFF">
                    <a:alpha val="68000"/>
                  </a:srgbClr>
                </a:solidFill>
                <a:latin typeface="Avenir Next"/>
                <a:ea typeface="Avenir Next"/>
                <a:cs typeface="Avenir Next"/>
              </a:defRPr>
            </a:pPr>
            <a:r>
              <a:rPr sz="825" b="1">
                <a:solidFill>
                  <a:srgbClr val="FFFFFF">
                    <a:alpha val="68000"/>
                  </a:srgbClr>
                </a:solidFill>
                <a:latin typeface="Avenir Next"/>
                <a:ea typeface="Avenir Next"/>
                <a:cs typeface="Avenir Next"/>
              </a:rPr>
              <a:t>BEYOND CODE 2027  /  SPEAKER INVITATION</a:t>
            </a:r>
          </a:p>
        </p:txBody>
      </p:sp>
      <p:sp>
        <p:nvSpPr>
          <p:cNvPr id="28" name="">
            <a:extLst xmlns:a="http://schemas.openxmlformats.org/drawingml/2006/main">
              <a:ext uri="{FF2B5EF4-FFF2-40B4-BE49-F238E27FC236}">
                <a16:creationId xmlns:a16="http://schemas.microsoft.com/office/drawing/2014/main" id="{3D7F3B51-3047-4009-970A-EDFAF8AAC364}"/>
              </a:ext>
            </a:extLst>
          </p:cNvPr>
          <p:cNvSpPr>
            <a:spLocks xmlns:a="http://schemas.openxmlformats.org/drawingml/2006/main" noGrp="1"/>
          </p:cNvSpPr>
          <p:nvPr/>
        </p:nvSpPr>
        <p:spPr>
          <a:xfrm xmlns:a="http://schemas.openxmlformats.org/drawingml/2006/main">
            <a:off x="10572750" y="6543675"/>
            <a:ext cx="10096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r">
              <a:defRPr sz="900" b="1">
                <a:solidFill>
                  <a:srgbClr val="FFFFFF">
                    <a:alpha val="68000"/>
                  </a:srgbClr>
                </a:solidFill>
                <a:latin typeface="Avenir Next"/>
                <a:ea typeface="Avenir Next"/>
                <a:cs typeface="Avenir Next"/>
              </a:defRPr>
            </a:defPPr>
          </a:lstStyle>
          <a:p xmlns:a="http://schemas.openxmlformats.org/drawingml/2006/main">
            <a:pPr algn="r">
              <a:defRPr sz="900" b="1">
                <a:solidFill>
                  <a:srgbClr val="FFFFFF">
                    <a:alpha val="68000"/>
                  </a:srgbClr>
                </a:solidFill>
                <a:latin typeface="Avenir Next"/>
                <a:ea typeface="Avenir Next"/>
                <a:cs typeface="Avenir Next"/>
              </a:defRPr>
            </a:pPr>
            <a:r>
              <a:rPr sz="900" b="1">
                <a:solidFill>
                  <a:srgbClr val="FFFFFF">
                    <a:alpha val="68000"/>
                  </a:srgbClr>
                </a:solidFill>
                <a:latin typeface="Avenir Next"/>
                <a:ea typeface="Avenir Next"/>
                <a:cs typeface="Avenir Next"/>
              </a:rPr>
              <a:t>09  /  09</a:t>
            </a:r>
          </a:p>
        </p:txBody>
      </p:sp>
    </p:spTree>
    <p:extLst>
      <p:ext uri="{BB962C8B-B14F-4D97-AF65-F5344CB8AC3E}">
        <p14:creationId xmlns:p14="http://schemas.microsoft.com/office/powerpoint/2010/main" val="19761750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2026-10-16T19:49:21.1560000Z</dcterms:created>
  <dcterms:modified xsi:type="dcterms:W3CDTF">2026-10-16T19:49:21.1560000Z</dcterms:modified>
</coreProperties>
</file>